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176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3454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Video visual 1 of 3. See VIDEO.md for narration and shot timing.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Video visual 2 of 3. See VIDEO.md for narration and shot timing.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Video visual 3 of 3. See VIDEO.md for narration and shot timing.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h.io/stack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hyperlink" Target="https://github.com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h.io/stack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hyperlink" Target="https://github.com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h.io/stack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hyperlink" Target="https://github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2501" y="381000"/>
            <a:ext cx="83425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2501" y="622250"/>
            <a:ext cx="8031379" cy="83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86"/>
              </a:lnSpc>
              <a:spcAft>
                <a:spcPts val="800"/>
              </a:spcAft>
              <a:buNone/>
            </a:pPr>
            <a:r>
              <a:rPr lang="en-US" sz="31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large feature creates an awkward choice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482501" y="1558082"/>
            <a:ext cx="834257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400"/>
              </a:spcAft>
              <a:buNone/>
            </a:pPr>
            <a:r>
              <a:rPr lang="en-US" sz="1700" dirty="0">
                <a:solidFill>
                  <a:srgbClr val="B1B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for review speed, or development speed?</a:t>
            </a:r>
            <a:endParaRPr lang="en-US" sz="1700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3A1C85F-517F-BA52-26BF-726175D26E73}"/>
              </a:ext>
            </a:extLst>
          </p:cNvPr>
          <p:cNvGrpSpPr/>
          <p:nvPr/>
        </p:nvGrpSpPr>
        <p:grpSpPr>
          <a:xfrm>
            <a:off x="482501" y="1992957"/>
            <a:ext cx="3925788" cy="2603450"/>
            <a:chOff x="482501" y="1992957"/>
            <a:chExt cx="3925788" cy="2603450"/>
          </a:xfrm>
        </p:grpSpPr>
        <p:sp>
          <p:nvSpPr>
            <p:cNvPr id="5" name="Text 3"/>
            <p:cNvSpPr/>
            <p:nvPr/>
          </p:nvSpPr>
          <p:spPr>
            <a:xfrm>
              <a:off x="482501" y="1992957"/>
              <a:ext cx="3925788" cy="2603450"/>
            </a:xfrm>
            <a:prstGeom prst="roundRect">
              <a:avLst>
                <a:gd name="adj" fmla="val 6342"/>
              </a:avLst>
            </a:prstGeom>
            <a:solidFill>
              <a:srgbClr val="161B22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482501" y="2031057"/>
              <a:ext cx="3925788" cy="0"/>
            </a:xfrm>
            <a:prstGeom prst="line">
              <a:avLst/>
            </a:prstGeom>
            <a:noFill/>
            <a:ln w="76200">
              <a:solidFill>
                <a:srgbClr val="F8514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Shape 5"/>
            <p:cNvSpPr/>
            <p:nvPr/>
          </p:nvSpPr>
          <p:spPr>
            <a:xfrm>
              <a:off x="4398764" y="1992957"/>
              <a:ext cx="0" cy="2603450"/>
            </a:xfrm>
            <a:prstGeom prst="line">
              <a:avLst/>
            </a:prstGeom>
            <a:noFill/>
            <a:ln w="19050">
              <a:solidFill>
                <a:srgbClr val="30363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Shape 6"/>
            <p:cNvSpPr/>
            <p:nvPr/>
          </p:nvSpPr>
          <p:spPr>
            <a:xfrm>
              <a:off x="482501" y="4586883"/>
              <a:ext cx="3925788" cy="0"/>
            </a:xfrm>
            <a:prstGeom prst="line">
              <a:avLst/>
            </a:prstGeom>
            <a:noFill/>
            <a:ln w="19050">
              <a:solidFill>
                <a:srgbClr val="30363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492026" y="1992957"/>
              <a:ext cx="0" cy="2603450"/>
            </a:xfrm>
            <a:prstGeom prst="line">
              <a:avLst/>
            </a:prstGeom>
            <a:noFill/>
            <a:ln w="19050">
              <a:solidFill>
                <a:srgbClr val="30363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 8"/>
            <p:cNvSpPr/>
            <p:nvPr/>
          </p:nvSpPr>
          <p:spPr>
            <a:xfrm>
              <a:off x="755452" y="2323058"/>
              <a:ext cx="3447484" cy="222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750"/>
                </a:lnSpc>
                <a:buNone/>
              </a:pPr>
              <a:r>
                <a:rPr lang="en-US" sz="1400" b="1" dirty="0">
                  <a:solidFill>
                    <a:srgbClr val="FF7B7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OPTION 1</a:t>
              </a:r>
              <a:endParaRPr lang="en-US" sz="14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755452" y="2545259"/>
              <a:ext cx="3447484" cy="3238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800"/>
                </a:spcAft>
                <a:buNone/>
              </a:pPr>
              <a:r>
                <a:rPr lang="en-US" sz="2200" b="1" dirty="0">
                  <a:solidFill>
                    <a:srgbClr val="F0F6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One giant PR</a:t>
              </a:r>
              <a:endParaRPr lang="en-US" sz="22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755452" y="2970609"/>
              <a:ext cx="3447484" cy="66660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750"/>
                </a:lnSpc>
                <a:buNone/>
              </a:pPr>
              <a:r>
                <a:rPr lang="en-US" sz="1400" dirty="0">
                  <a:solidFill>
                    <a:srgbClr val="C9D1D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Everything arrives at once. Reviewers must untangle the model, validation, and tests together.</a:t>
              </a:r>
              <a:endParaRPr lang="en-US" sz="14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755452" y="4006007"/>
              <a:ext cx="614958" cy="317450"/>
            </a:xfrm>
            <a:prstGeom prst="roundRect">
              <a:avLst>
                <a:gd name="adj" fmla="val 16003"/>
              </a:avLst>
            </a:prstGeom>
            <a:solidFill>
              <a:srgbClr val="F8514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1446609" y="4006007"/>
              <a:ext cx="615107" cy="317450"/>
            </a:xfrm>
            <a:prstGeom prst="roundRect">
              <a:avLst>
                <a:gd name="adj" fmla="val 16003"/>
              </a:avLst>
            </a:prstGeom>
            <a:solidFill>
              <a:srgbClr val="F8514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2137916" y="4006007"/>
              <a:ext cx="614958" cy="317450"/>
            </a:xfrm>
            <a:prstGeom prst="roundRect">
              <a:avLst>
                <a:gd name="adj" fmla="val 16003"/>
              </a:avLst>
            </a:prstGeom>
            <a:solidFill>
              <a:srgbClr val="F8514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2829074" y="4006007"/>
              <a:ext cx="615107" cy="317450"/>
            </a:xfrm>
            <a:prstGeom prst="roundRect">
              <a:avLst>
                <a:gd name="adj" fmla="val 16003"/>
              </a:avLst>
            </a:prstGeom>
            <a:solidFill>
              <a:srgbClr val="F8514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3520380" y="4006007"/>
              <a:ext cx="614958" cy="317450"/>
            </a:xfrm>
            <a:prstGeom prst="roundRect">
              <a:avLst>
                <a:gd name="adj" fmla="val 16003"/>
              </a:avLst>
            </a:prstGeom>
            <a:solidFill>
              <a:srgbClr val="F8514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8B28B7F-58A8-6F71-98C7-4A22E2DD04F7}"/>
              </a:ext>
            </a:extLst>
          </p:cNvPr>
          <p:cNvGrpSpPr/>
          <p:nvPr/>
        </p:nvGrpSpPr>
        <p:grpSpPr>
          <a:xfrm>
            <a:off x="4636889" y="1992957"/>
            <a:ext cx="3925788" cy="2603450"/>
            <a:chOff x="4636889" y="1992957"/>
            <a:chExt cx="3925788" cy="2603450"/>
          </a:xfrm>
        </p:grpSpPr>
        <p:sp>
          <p:nvSpPr>
            <p:cNvPr id="18" name="Text 16"/>
            <p:cNvSpPr/>
            <p:nvPr/>
          </p:nvSpPr>
          <p:spPr>
            <a:xfrm>
              <a:off x="4636889" y="1992957"/>
              <a:ext cx="3925788" cy="2603450"/>
            </a:xfrm>
            <a:prstGeom prst="roundRect">
              <a:avLst>
                <a:gd name="adj" fmla="val 6342"/>
              </a:avLst>
            </a:prstGeom>
            <a:solidFill>
              <a:srgbClr val="161B22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4636889" y="2031057"/>
              <a:ext cx="3925788" cy="0"/>
            </a:xfrm>
            <a:prstGeom prst="line">
              <a:avLst/>
            </a:prstGeom>
            <a:noFill/>
            <a:ln w="76200">
              <a:solidFill>
                <a:srgbClr val="D2992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Shape 18"/>
            <p:cNvSpPr/>
            <p:nvPr/>
          </p:nvSpPr>
          <p:spPr>
            <a:xfrm>
              <a:off x="8553152" y="1992957"/>
              <a:ext cx="0" cy="2603450"/>
            </a:xfrm>
            <a:prstGeom prst="line">
              <a:avLst/>
            </a:prstGeom>
            <a:noFill/>
            <a:ln w="19050">
              <a:solidFill>
                <a:srgbClr val="30363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Shape 19"/>
            <p:cNvSpPr/>
            <p:nvPr/>
          </p:nvSpPr>
          <p:spPr>
            <a:xfrm>
              <a:off x="4636889" y="4586883"/>
              <a:ext cx="3925788" cy="0"/>
            </a:xfrm>
            <a:prstGeom prst="line">
              <a:avLst/>
            </a:prstGeom>
            <a:noFill/>
            <a:ln w="19050">
              <a:solidFill>
                <a:srgbClr val="30363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Shape 20"/>
            <p:cNvSpPr/>
            <p:nvPr/>
          </p:nvSpPr>
          <p:spPr>
            <a:xfrm>
              <a:off x="4646414" y="1992957"/>
              <a:ext cx="0" cy="2603450"/>
            </a:xfrm>
            <a:prstGeom prst="line">
              <a:avLst/>
            </a:prstGeom>
            <a:noFill/>
            <a:ln w="19050">
              <a:solidFill>
                <a:srgbClr val="30363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21"/>
            <p:cNvSpPr/>
            <p:nvPr/>
          </p:nvSpPr>
          <p:spPr>
            <a:xfrm>
              <a:off x="4909840" y="2323058"/>
              <a:ext cx="3447484" cy="222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750"/>
                </a:lnSpc>
                <a:buNone/>
              </a:pPr>
              <a:r>
                <a:rPr lang="en-US" sz="1400" b="1" dirty="0">
                  <a:solidFill>
                    <a:srgbClr val="E3B34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OPTION 2</a:t>
              </a:r>
              <a:endParaRPr lang="en-US" sz="14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4909840" y="2545259"/>
              <a:ext cx="3447484" cy="3238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800"/>
                </a:spcAft>
                <a:buNone/>
              </a:pPr>
              <a:r>
                <a:rPr lang="en-US" sz="2200" b="1" dirty="0">
                  <a:solidFill>
                    <a:srgbClr val="F0F6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Small, serial PRs</a:t>
              </a:r>
              <a:endParaRPr lang="en-US" sz="22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4909840" y="2970609"/>
              <a:ext cx="3447484" cy="44440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750"/>
                </a:lnSpc>
                <a:buNone/>
              </a:pPr>
              <a:r>
                <a:rPr lang="en-US" sz="1400" dirty="0">
                  <a:solidFill>
                    <a:srgbClr val="C9D1D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The diffs are focused, but dependent work waits for every previous PR to merge.</a:t>
              </a:r>
              <a:endParaRPr lang="en-US" sz="14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4909840" y="4006007"/>
              <a:ext cx="614958" cy="317450"/>
            </a:xfrm>
            <a:prstGeom prst="roundRect">
              <a:avLst>
                <a:gd name="adj" fmla="val 16003"/>
              </a:avLst>
            </a:prstGeom>
            <a:solidFill>
              <a:srgbClr val="D29922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5600998" y="4006007"/>
              <a:ext cx="615107" cy="317450"/>
            </a:xfrm>
            <a:prstGeom prst="roundRect">
              <a:avLst>
                <a:gd name="adj" fmla="val 16003"/>
              </a:avLst>
            </a:prstGeom>
            <a:solidFill>
              <a:srgbClr val="30363D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6292304" y="4006007"/>
              <a:ext cx="614958" cy="317450"/>
            </a:xfrm>
            <a:prstGeom prst="roundRect">
              <a:avLst>
                <a:gd name="adj" fmla="val 16003"/>
              </a:avLst>
            </a:prstGeom>
            <a:solidFill>
              <a:srgbClr val="30363D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6983462" y="4006007"/>
              <a:ext cx="615107" cy="317450"/>
            </a:xfrm>
            <a:prstGeom prst="roundRect">
              <a:avLst>
                <a:gd name="adj" fmla="val 16003"/>
              </a:avLst>
            </a:prstGeom>
            <a:solidFill>
              <a:srgbClr val="30363D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7674769" y="4006007"/>
              <a:ext cx="614958" cy="317450"/>
            </a:xfrm>
            <a:prstGeom prst="roundRect">
              <a:avLst>
                <a:gd name="adj" fmla="val 16003"/>
              </a:avLst>
            </a:prstGeom>
            <a:solidFill>
              <a:srgbClr val="30363D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</p:grpSp>
      <p:sp>
        <p:nvSpPr>
          <p:cNvPr id="32" name="Shape 30"/>
          <p:cNvSpPr/>
          <p:nvPr/>
        </p:nvSpPr>
        <p:spPr>
          <a:xfrm>
            <a:off x="7479792" y="146304"/>
            <a:ext cx="1078992" cy="283464"/>
          </a:xfrm>
          <a:prstGeom prst="roundRect">
            <a:avLst>
              <a:gd name="adj" fmla="val 19355"/>
            </a:avLst>
          </a:prstGeom>
          <a:solidFill>
            <a:srgbClr val="1A5D2A"/>
          </a:solidFill>
          <a:ln w="127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>
            <a:hlinkClick r:id="rId3"/>
          </p:cNvPr>
          <p:cNvSpPr/>
          <p:nvPr/>
        </p:nvSpPr>
        <p:spPr>
          <a:xfrm>
            <a:off x="7479792" y="146304"/>
            <a:ext cx="10789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gh.io/stacks</a:t>
            </a:r>
            <a:endParaRPr lang="en-US" sz="1050" dirty="0"/>
          </a:p>
        </p:txBody>
      </p:sp>
      <p:pic>
        <p:nvPicPr>
          <p:cNvPr id="34" name="Image 0" descr="/root/projects/work/gh-stack-demo/slides/github-invertocat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8512" y="137160"/>
            <a:ext cx="301752" cy="3017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2501" y="355550"/>
            <a:ext cx="83425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HIGH-LEVEL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2501" y="584150"/>
            <a:ext cx="8342578" cy="766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16"/>
              </a:lnSpc>
              <a:buNone/>
            </a:pPr>
            <a:r>
              <a:rPr lang="en-US" sz="29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one large pull request into reviewable layers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82501" y="2200721"/>
            <a:ext cx="2095054" cy="2286000"/>
          </a:xfrm>
          <a:prstGeom prst="roundRect">
            <a:avLst>
              <a:gd name="adj" fmla="val 7880"/>
            </a:avLst>
          </a:prstGeom>
          <a:solidFill>
            <a:srgbClr val="2D1717"/>
          </a:solidFill>
          <a:ln w="19050">
            <a:solidFill>
              <a:srgbClr val="F8514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0151" y="2557314"/>
            <a:ext cx="1631749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FF7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0151" y="2817465"/>
            <a:ext cx="163174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large pull request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0151" y="3534966"/>
            <a:ext cx="1631749" cy="595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250" dirty="0">
                <a:solidFill>
                  <a:srgbClr val="FFC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+ validation + tests arrive as one mixed review.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825344" y="3129409"/>
            <a:ext cx="62331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dirty="0">
                <a:solidFill>
                  <a:srgbClr val="56D3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4511578A-7A7F-BE54-86A7-F324E6E38D72}"/>
              </a:ext>
            </a:extLst>
          </p:cNvPr>
          <p:cNvGrpSpPr/>
          <p:nvPr/>
        </p:nvGrpSpPr>
        <p:grpSpPr>
          <a:xfrm>
            <a:off x="3763566" y="2181523"/>
            <a:ext cx="2550914" cy="609600"/>
            <a:chOff x="3763566" y="2181523"/>
            <a:chExt cx="2550914" cy="609600"/>
          </a:xfrm>
        </p:grpSpPr>
        <p:sp>
          <p:nvSpPr>
            <p:cNvPr id="10" name="Text 8"/>
            <p:cNvSpPr/>
            <p:nvPr/>
          </p:nvSpPr>
          <p:spPr>
            <a:xfrm>
              <a:off x="3763566" y="2181523"/>
              <a:ext cx="2550914" cy="609600"/>
            </a:xfrm>
            <a:prstGeom prst="roundRect">
              <a:avLst>
                <a:gd name="adj" fmla="val 16667"/>
              </a:avLst>
            </a:prstGeom>
            <a:solidFill>
              <a:srgbClr val="161B22"/>
            </a:solidFill>
            <a:ln/>
            <a:effectLst>
              <a:outerShdw blurRad="88900" dist="38100" dir="5400000" algn="bl" rotWithShape="0">
                <a:srgbClr val="000000">
                  <a:alpha val="30000"/>
                </a:srgbClr>
              </a:outerShdw>
            </a:effectLst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763566" y="2191048"/>
              <a:ext cx="2550914" cy="0"/>
            </a:xfrm>
            <a:prstGeom prst="line">
              <a:avLst/>
            </a:prstGeom>
            <a:noFill/>
            <a:ln w="19050">
              <a:solidFill>
                <a:srgbClr val="30363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Shape 10"/>
            <p:cNvSpPr/>
            <p:nvPr/>
          </p:nvSpPr>
          <p:spPr>
            <a:xfrm>
              <a:off x="6304955" y="2181523"/>
              <a:ext cx="0" cy="609600"/>
            </a:xfrm>
            <a:prstGeom prst="line">
              <a:avLst/>
            </a:prstGeom>
            <a:noFill/>
            <a:ln w="19050">
              <a:solidFill>
                <a:srgbClr val="30363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Shape 11"/>
            <p:cNvSpPr/>
            <p:nvPr/>
          </p:nvSpPr>
          <p:spPr>
            <a:xfrm>
              <a:off x="3763566" y="2781598"/>
              <a:ext cx="2550914" cy="0"/>
            </a:xfrm>
            <a:prstGeom prst="line">
              <a:avLst/>
            </a:prstGeom>
            <a:noFill/>
            <a:ln w="19050">
              <a:solidFill>
                <a:srgbClr val="30363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Shape 12"/>
            <p:cNvSpPr/>
            <p:nvPr/>
          </p:nvSpPr>
          <p:spPr>
            <a:xfrm>
              <a:off x="3801666" y="2181523"/>
              <a:ext cx="0" cy="609600"/>
            </a:xfrm>
            <a:prstGeom prst="line">
              <a:avLst/>
            </a:prstGeom>
            <a:noFill/>
            <a:ln w="76200">
              <a:solidFill>
                <a:srgbClr val="3FB95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13"/>
            <p:cNvSpPr/>
            <p:nvPr/>
          </p:nvSpPr>
          <p:spPr>
            <a:xfrm>
              <a:off x="4004816" y="2381548"/>
              <a:ext cx="403041" cy="2095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0F6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 3</a:t>
              </a:r>
              <a:endParaRPr lang="en-US" sz="14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5500539" y="2440559"/>
              <a:ext cx="543283" cy="1296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7EE78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APIs</a:t>
              </a:r>
              <a:endParaRPr lang="en-US" sz="1050" dirty="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DE1B6C8-A065-8D8B-99D9-BD181CE3324F}"/>
              </a:ext>
            </a:extLst>
          </p:cNvPr>
          <p:cNvGrpSpPr/>
          <p:nvPr/>
        </p:nvGrpSpPr>
        <p:grpSpPr>
          <a:xfrm>
            <a:off x="3763566" y="2867323"/>
            <a:ext cx="2550914" cy="609600"/>
            <a:chOff x="3763566" y="2867323"/>
            <a:chExt cx="2550914" cy="609600"/>
          </a:xfrm>
        </p:grpSpPr>
        <p:sp>
          <p:nvSpPr>
            <p:cNvPr id="17" name="Text 15"/>
            <p:cNvSpPr/>
            <p:nvPr/>
          </p:nvSpPr>
          <p:spPr>
            <a:xfrm>
              <a:off x="3763566" y="2867323"/>
              <a:ext cx="2550914" cy="609600"/>
            </a:xfrm>
            <a:prstGeom prst="roundRect">
              <a:avLst>
                <a:gd name="adj" fmla="val 16667"/>
              </a:avLst>
            </a:prstGeom>
            <a:solidFill>
              <a:srgbClr val="161B22"/>
            </a:solidFill>
            <a:ln/>
            <a:effectLst>
              <a:outerShdw blurRad="88900" dist="38100" dir="5400000" algn="bl" rotWithShape="0">
                <a:srgbClr val="000000">
                  <a:alpha val="30000"/>
                </a:srgbClr>
              </a:outerShdw>
            </a:effectLst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3763566" y="2876848"/>
              <a:ext cx="2550914" cy="0"/>
            </a:xfrm>
            <a:prstGeom prst="line">
              <a:avLst/>
            </a:prstGeom>
            <a:noFill/>
            <a:ln w="19050">
              <a:solidFill>
                <a:srgbClr val="30363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Shape 17"/>
            <p:cNvSpPr/>
            <p:nvPr/>
          </p:nvSpPr>
          <p:spPr>
            <a:xfrm>
              <a:off x="6304955" y="2867323"/>
              <a:ext cx="0" cy="609600"/>
            </a:xfrm>
            <a:prstGeom prst="line">
              <a:avLst/>
            </a:prstGeom>
            <a:noFill/>
            <a:ln w="19050">
              <a:solidFill>
                <a:srgbClr val="30363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Shape 18"/>
            <p:cNvSpPr/>
            <p:nvPr/>
          </p:nvSpPr>
          <p:spPr>
            <a:xfrm>
              <a:off x="3763566" y="3467398"/>
              <a:ext cx="2550914" cy="0"/>
            </a:xfrm>
            <a:prstGeom prst="line">
              <a:avLst/>
            </a:prstGeom>
            <a:noFill/>
            <a:ln w="19050">
              <a:solidFill>
                <a:srgbClr val="30363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Shape 19"/>
            <p:cNvSpPr/>
            <p:nvPr/>
          </p:nvSpPr>
          <p:spPr>
            <a:xfrm>
              <a:off x="3801666" y="2867323"/>
              <a:ext cx="0" cy="609600"/>
            </a:xfrm>
            <a:prstGeom prst="line">
              <a:avLst/>
            </a:prstGeom>
            <a:noFill/>
            <a:ln w="76200">
              <a:solidFill>
                <a:srgbClr val="3FB95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20"/>
            <p:cNvSpPr/>
            <p:nvPr/>
          </p:nvSpPr>
          <p:spPr>
            <a:xfrm>
              <a:off x="4004816" y="3067348"/>
              <a:ext cx="403041" cy="2095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0F6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 2</a:t>
              </a:r>
              <a:endParaRPr lang="en-US" sz="14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5500539" y="3095923"/>
              <a:ext cx="642437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7EE78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Model</a:t>
              </a:r>
              <a:endParaRPr lang="en-US" sz="1050" dirty="0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05F821D-18FE-4EFB-EBE2-AFD86236330E}"/>
              </a:ext>
            </a:extLst>
          </p:cNvPr>
          <p:cNvGrpSpPr/>
          <p:nvPr/>
        </p:nvGrpSpPr>
        <p:grpSpPr>
          <a:xfrm>
            <a:off x="3763566" y="3553123"/>
            <a:ext cx="2550914" cy="609600"/>
            <a:chOff x="3763566" y="3553123"/>
            <a:chExt cx="2550914" cy="609600"/>
          </a:xfrm>
        </p:grpSpPr>
        <p:sp>
          <p:nvSpPr>
            <p:cNvPr id="24" name="Text 22"/>
            <p:cNvSpPr/>
            <p:nvPr/>
          </p:nvSpPr>
          <p:spPr>
            <a:xfrm>
              <a:off x="3763566" y="3553123"/>
              <a:ext cx="2550914" cy="609600"/>
            </a:xfrm>
            <a:prstGeom prst="roundRect">
              <a:avLst>
                <a:gd name="adj" fmla="val 16667"/>
              </a:avLst>
            </a:prstGeom>
            <a:solidFill>
              <a:srgbClr val="161B22"/>
            </a:solidFill>
            <a:ln/>
            <a:effectLst>
              <a:outerShdw blurRad="88900" dist="38100" dir="5400000" algn="bl" rotWithShape="0">
                <a:srgbClr val="000000">
                  <a:alpha val="30000"/>
                </a:srgbClr>
              </a:outerShdw>
            </a:effectLst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3763566" y="3562648"/>
              <a:ext cx="2550914" cy="0"/>
            </a:xfrm>
            <a:prstGeom prst="line">
              <a:avLst/>
            </a:prstGeom>
            <a:noFill/>
            <a:ln w="19050">
              <a:solidFill>
                <a:srgbClr val="30363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Shape 24"/>
            <p:cNvSpPr/>
            <p:nvPr/>
          </p:nvSpPr>
          <p:spPr>
            <a:xfrm>
              <a:off x="6304955" y="3553123"/>
              <a:ext cx="0" cy="609600"/>
            </a:xfrm>
            <a:prstGeom prst="line">
              <a:avLst/>
            </a:prstGeom>
            <a:noFill/>
            <a:ln w="19050">
              <a:solidFill>
                <a:srgbClr val="30363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Shape 25"/>
            <p:cNvSpPr/>
            <p:nvPr/>
          </p:nvSpPr>
          <p:spPr>
            <a:xfrm>
              <a:off x="3763566" y="4153198"/>
              <a:ext cx="2550914" cy="0"/>
            </a:xfrm>
            <a:prstGeom prst="line">
              <a:avLst/>
            </a:prstGeom>
            <a:noFill/>
            <a:ln w="19050">
              <a:solidFill>
                <a:srgbClr val="30363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Shape 26"/>
            <p:cNvSpPr/>
            <p:nvPr/>
          </p:nvSpPr>
          <p:spPr>
            <a:xfrm>
              <a:off x="3801666" y="3553123"/>
              <a:ext cx="0" cy="609600"/>
            </a:xfrm>
            <a:prstGeom prst="line">
              <a:avLst/>
            </a:prstGeom>
            <a:noFill/>
            <a:ln w="76200">
              <a:solidFill>
                <a:srgbClr val="3FB95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 27"/>
            <p:cNvSpPr/>
            <p:nvPr/>
          </p:nvSpPr>
          <p:spPr>
            <a:xfrm>
              <a:off x="4004816" y="3753148"/>
              <a:ext cx="403041" cy="2095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0F6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 1</a:t>
              </a:r>
              <a:endParaRPr lang="en-US" sz="14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5500539" y="3778211"/>
              <a:ext cx="393022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7EE78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Tests</a:t>
              </a:r>
              <a:endParaRPr lang="en-US" sz="1050" dirty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6936F7E-53E6-C95B-56A0-ED0E4D98B596}"/>
              </a:ext>
            </a:extLst>
          </p:cNvPr>
          <p:cNvGrpSpPr/>
          <p:nvPr/>
        </p:nvGrpSpPr>
        <p:grpSpPr>
          <a:xfrm>
            <a:off x="3696444" y="4264223"/>
            <a:ext cx="2685306" cy="317450"/>
            <a:chOff x="3696444" y="4264223"/>
            <a:chExt cx="2685306" cy="317450"/>
          </a:xfrm>
        </p:grpSpPr>
        <p:sp>
          <p:nvSpPr>
            <p:cNvPr id="31" name="Text 29"/>
            <p:cNvSpPr/>
            <p:nvPr/>
          </p:nvSpPr>
          <p:spPr>
            <a:xfrm>
              <a:off x="3696444" y="4264223"/>
              <a:ext cx="2685306" cy="317450"/>
            </a:xfrm>
            <a:prstGeom prst="rect">
              <a:avLst/>
            </a:prstGeom>
            <a:solidFill>
              <a:srgbClr val="111D2E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3696444" y="4283273"/>
              <a:ext cx="2685306" cy="0"/>
            </a:xfrm>
            <a:prstGeom prst="line">
              <a:avLst/>
            </a:prstGeom>
            <a:noFill/>
            <a:ln w="38100">
              <a:solidFill>
                <a:srgbClr val="58A6F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 31"/>
            <p:cNvSpPr/>
            <p:nvPr/>
          </p:nvSpPr>
          <p:spPr>
            <a:xfrm>
              <a:off x="4876800" y="4370487"/>
              <a:ext cx="330934" cy="1428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79C0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MAIN</a:t>
              </a:r>
              <a:endParaRPr lang="en-US" sz="1000" dirty="0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629951B-478D-FE58-5112-9F554ECBC60E}"/>
              </a:ext>
            </a:extLst>
          </p:cNvPr>
          <p:cNvGrpSpPr/>
          <p:nvPr/>
        </p:nvGrpSpPr>
        <p:grpSpPr>
          <a:xfrm>
            <a:off x="6635651" y="1940719"/>
            <a:ext cx="2025848" cy="806648"/>
            <a:chOff x="6635651" y="1940719"/>
            <a:chExt cx="2025848" cy="806648"/>
          </a:xfrm>
        </p:grpSpPr>
        <p:sp>
          <p:nvSpPr>
            <p:cNvPr id="34" name="Text 32"/>
            <p:cNvSpPr/>
            <p:nvPr/>
          </p:nvSpPr>
          <p:spPr>
            <a:xfrm>
              <a:off x="6635651" y="1940719"/>
              <a:ext cx="2025848" cy="806648"/>
            </a:xfrm>
            <a:prstGeom prst="roundRect">
              <a:avLst>
                <a:gd name="adj" fmla="val 9446"/>
              </a:avLst>
            </a:prstGeom>
            <a:solidFill>
              <a:srgbClr val="122117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6659463" y="1940719"/>
              <a:ext cx="0" cy="806648"/>
            </a:xfrm>
            <a:prstGeom prst="line">
              <a:avLst/>
            </a:prstGeom>
            <a:noFill/>
            <a:ln w="47625">
              <a:solidFill>
                <a:srgbClr val="3FB95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 34"/>
            <p:cNvSpPr/>
            <p:nvPr/>
          </p:nvSpPr>
          <p:spPr>
            <a:xfrm>
              <a:off x="6822877" y="2067669"/>
              <a:ext cx="1733002" cy="2000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300"/>
                </a:spcAft>
                <a:buNone/>
              </a:pPr>
              <a:r>
                <a:rPr lang="en-US" sz="1300" b="1" dirty="0">
                  <a:solidFill>
                    <a:srgbClr val="56D36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Small reviews</a:t>
              </a:r>
              <a:endParaRPr lang="en-US" sz="13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6822877" y="2305794"/>
              <a:ext cx="1733002" cy="31462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239"/>
                </a:lnSpc>
                <a:buNone/>
              </a:pPr>
              <a:r>
                <a:rPr lang="en-US" sz="1050" dirty="0">
                  <a:solidFill>
                    <a:srgbClr val="C9D1D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Each layer exposes only its focused change.</a:t>
              </a:r>
              <a:endParaRPr lang="en-US" sz="1050" dirty="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7517EAF-813A-63F7-A6E2-F1C588B318C7}"/>
              </a:ext>
            </a:extLst>
          </p:cNvPr>
          <p:cNvGrpSpPr/>
          <p:nvPr/>
        </p:nvGrpSpPr>
        <p:grpSpPr>
          <a:xfrm>
            <a:off x="6635651" y="2861667"/>
            <a:ext cx="2025848" cy="963960"/>
            <a:chOff x="6635651" y="2861667"/>
            <a:chExt cx="2025848" cy="963960"/>
          </a:xfrm>
        </p:grpSpPr>
        <p:sp>
          <p:nvSpPr>
            <p:cNvPr id="38" name="Text 36"/>
            <p:cNvSpPr/>
            <p:nvPr/>
          </p:nvSpPr>
          <p:spPr>
            <a:xfrm>
              <a:off x="6635651" y="2861667"/>
              <a:ext cx="2025848" cy="963960"/>
            </a:xfrm>
            <a:prstGeom prst="roundRect">
              <a:avLst>
                <a:gd name="adj" fmla="val 7905"/>
              </a:avLst>
            </a:prstGeom>
            <a:solidFill>
              <a:srgbClr val="122117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6659463" y="2861667"/>
              <a:ext cx="0" cy="963960"/>
            </a:xfrm>
            <a:prstGeom prst="line">
              <a:avLst/>
            </a:prstGeom>
            <a:noFill/>
            <a:ln w="47625">
              <a:solidFill>
                <a:srgbClr val="3FB95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 38"/>
            <p:cNvSpPr/>
            <p:nvPr/>
          </p:nvSpPr>
          <p:spPr>
            <a:xfrm>
              <a:off x="6822877" y="2988618"/>
              <a:ext cx="1733002" cy="2000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300"/>
                </a:spcAft>
                <a:buNone/>
              </a:pPr>
              <a:r>
                <a:rPr lang="en-US" sz="1300" b="1" dirty="0">
                  <a:solidFill>
                    <a:srgbClr val="56D36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Continuous progress</a:t>
              </a:r>
              <a:endParaRPr lang="en-US" sz="130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6822877" y="3226743"/>
              <a:ext cx="1733002" cy="4719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239"/>
                </a:lnSpc>
                <a:buNone/>
              </a:pPr>
              <a:r>
                <a:rPr lang="en-US" sz="1050" dirty="0">
                  <a:solidFill>
                    <a:srgbClr val="C9D1D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Dependent work can continue before lower layers merge.</a:t>
              </a:r>
              <a:endParaRPr lang="en-US" sz="1050" dirty="0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F2A3C16-8B3C-02A0-AB90-8FD1D4662B36}"/>
              </a:ext>
            </a:extLst>
          </p:cNvPr>
          <p:cNvGrpSpPr/>
          <p:nvPr/>
        </p:nvGrpSpPr>
        <p:grpSpPr>
          <a:xfrm>
            <a:off x="6635651" y="3939927"/>
            <a:ext cx="2025848" cy="806648"/>
            <a:chOff x="6635651" y="3939927"/>
            <a:chExt cx="2025848" cy="806648"/>
          </a:xfrm>
        </p:grpSpPr>
        <p:sp>
          <p:nvSpPr>
            <p:cNvPr id="42" name="Text 40"/>
            <p:cNvSpPr/>
            <p:nvPr/>
          </p:nvSpPr>
          <p:spPr>
            <a:xfrm>
              <a:off x="6635651" y="3939927"/>
              <a:ext cx="2025848" cy="806648"/>
            </a:xfrm>
            <a:prstGeom prst="roundRect">
              <a:avLst>
                <a:gd name="adj" fmla="val 9446"/>
              </a:avLst>
            </a:prstGeom>
            <a:solidFill>
              <a:srgbClr val="122117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43" name="Shape 41"/>
            <p:cNvSpPr/>
            <p:nvPr/>
          </p:nvSpPr>
          <p:spPr>
            <a:xfrm>
              <a:off x="6659463" y="3939927"/>
              <a:ext cx="0" cy="806648"/>
            </a:xfrm>
            <a:prstGeom prst="line">
              <a:avLst/>
            </a:prstGeom>
            <a:noFill/>
            <a:ln w="47625">
              <a:solidFill>
                <a:srgbClr val="3FB95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 42"/>
            <p:cNvSpPr/>
            <p:nvPr/>
          </p:nvSpPr>
          <p:spPr>
            <a:xfrm>
              <a:off x="6822877" y="4066877"/>
              <a:ext cx="1733002" cy="2000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300"/>
                </a:spcAft>
                <a:buNone/>
              </a:pPr>
              <a:r>
                <a:rPr lang="en-US" sz="1300" b="1" dirty="0">
                  <a:solidFill>
                    <a:srgbClr val="56D36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Shared context</a:t>
              </a:r>
              <a:endParaRPr lang="en-US" sz="1300" dirty="0"/>
            </a:p>
          </p:txBody>
        </p:sp>
        <p:sp>
          <p:nvSpPr>
            <p:cNvPr id="45" name="Text 43"/>
            <p:cNvSpPr/>
            <p:nvPr/>
          </p:nvSpPr>
          <p:spPr>
            <a:xfrm>
              <a:off x="6822877" y="4305002"/>
              <a:ext cx="1733002" cy="31462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239"/>
                </a:lnSpc>
                <a:buNone/>
              </a:pPr>
              <a:r>
                <a:rPr lang="en-US" sz="1050" dirty="0">
                  <a:solidFill>
                    <a:srgbClr val="C9D1D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GitHub keeps the layers connected as one stack.</a:t>
              </a:r>
              <a:endParaRPr lang="en-US" sz="1050" dirty="0"/>
            </a:p>
          </p:txBody>
        </p:sp>
      </p:grpSp>
      <p:sp>
        <p:nvSpPr>
          <p:cNvPr id="46" name="Shape 44"/>
          <p:cNvSpPr/>
          <p:nvPr/>
        </p:nvSpPr>
        <p:spPr>
          <a:xfrm>
            <a:off x="7479792" y="146304"/>
            <a:ext cx="1078992" cy="283464"/>
          </a:xfrm>
          <a:prstGeom prst="roundRect">
            <a:avLst>
              <a:gd name="adj" fmla="val 19355"/>
            </a:avLst>
          </a:prstGeom>
          <a:solidFill>
            <a:srgbClr val="1A5D2A"/>
          </a:solidFill>
          <a:ln w="127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>
            <a:hlinkClick r:id="rId3"/>
          </p:cNvPr>
          <p:cNvSpPr/>
          <p:nvPr/>
        </p:nvSpPr>
        <p:spPr>
          <a:xfrm>
            <a:off x="7479792" y="146304"/>
            <a:ext cx="10789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gh.io/stacks</a:t>
            </a:r>
            <a:endParaRPr lang="en-US" sz="1050" dirty="0"/>
          </a:p>
        </p:txBody>
      </p:sp>
      <p:pic>
        <p:nvPicPr>
          <p:cNvPr id="48" name="Image 0" descr="/root/projects/work/gh-stack-demo/slides/github-invertocat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8512" y="137160"/>
            <a:ext cx="301752" cy="3017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2501" y="381000"/>
            <a:ext cx="83425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2501" y="622250"/>
            <a:ext cx="8342578" cy="41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55"/>
              </a:lnSpc>
              <a:buNone/>
            </a:pPr>
            <a:r>
              <a:rPr lang="en-US" sz="31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branches to one visible stack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482501" y="1124396"/>
            <a:ext cx="834257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2200"/>
              </a:spcAft>
              <a:buNone/>
            </a:pPr>
            <a:r>
              <a:rPr lang="en-US" sz="1600" dirty="0">
                <a:solidFill>
                  <a:srgbClr val="B1B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 handles branch order, pull-request bases, rebases, and merging.</a:t>
            </a:r>
            <a:endParaRPr lang="en-US" sz="1600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5993342-5A84-6EB4-3DD9-8258D925D921}"/>
              </a:ext>
            </a:extLst>
          </p:cNvPr>
          <p:cNvGrpSpPr/>
          <p:nvPr/>
        </p:nvGrpSpPr>
        <p:grpSpPr>
          <a:xfrm>
            <a:off x="482501" y="1641872"/>
            <a:ext cx="2404616" cy="2479477"/>
            <a:chOff x="482501" y="1641872"/>
            <a:chExt cx="2404616" cy="2479477"/>
          </a:xfrm>
        </p:grpSpPr>
        <p:sp>
          <p:nvSpPr>
            <p:cNvPr id="5" name="Text 3"/>
            <p:cNvSpPr/>
            <p:nvPr/>
          </p:nvSpPr>
          <p:spPr>
            <a:xfrm>
              <a:off x="482501" y="1641872"/>
              <a:ext cx="2404616" cy="2479477"/>
            </a:xfrm>
            <a:prstGeom prst="roundRect">
              <a:avLst>
                <a:gd name="adj" fmla="val 6338"/>
              </a:avLst>
            </a:prstGeom>
            <a:solidFill>
              <a:srgbClr val="161B22"/>
            </a:solidFill>
            <a:ln w="19050">
              <a:solidFill>
                <a:srgbClr val="30363D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692051" y="1851422"/>
              <a:ext cx="342900" cy="342900"/>
            </a:xfrm>
            <a:prstGeom prst="roundRect">
              <a:avLst>
                <a:gd name="adj" fmla="val 266667"/>
              </a:avLst>
            </a:prstGeom>
            <a:solidFill>
              <a:srgbClr val="1F6FEB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822871" y="1933873"/>
              <a:ext cx="82885" cy="1779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403"/>
                </a:lnSpc>
                <a:buNone/>
              </a:pPr>
              <a:r>
                <a:rPr lang="en-US" sz="1150" b="1" dirty="0">
                  <a:solidFill>
                    <a:srgbClr val="B1BAC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</a:t>
              </a:r>
              <a:endParaRPr lang="en-US" sz="115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692051" y="2333923"/>
              <a:ext cx="2025226" cy="2571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800"/>
                </a:spcAft>
                <a:buNone/>
              </a:pPr>
              <a:r>
                <a:rPr lang="en-US" sz="1700" b="1" dirty="0">
                  <a:solidFill>
                    <a:srgbClr val="F0F6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Create layers</a:t>
              </a:r>
              <a:endParaRPr lang="en-US" sz="17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692051" y="2692598"/>
              <a:ext cx="2025226" cy="53399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403"/>
                </a:lnSpc>
                <a:buNone/>
              </a:pPr>
              <a:r>
                <a:rPr lang="en-US" sz="1150" dirty="0">
                  <a:solidFill>
                    <a:srgbClr val="B1BAC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Start the stack, then add one branch per reviewable concern.</a:t>
              </a:r>
              <a:endParaRPr lang="en-US" sz="115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692051" y="3338810"/>
              <a:ext cx="1985516" cy="572988"/>
            </a:xfrm>
            <a:prstGeom prst="roundRect">
              <a:avLst>
                <a:gd name="adj" fmla="val 13299"/>
              </a:avLst>
            </a:prstGeom>
            <a:solidFill>
              <a:srgbClr val="010409"/>
            </a:solidFill>
            <a:ln w="9525">
              <a:solidFill>
                <a:srgbClr val="30363D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815876" y="3462635"/>
              <a:ext cx="1772623" cy="32533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281"/>
                </a:lnSpc>
                <a:buNone/>
              </a:pPr>
              <a:r>
                <a:rPr lang="en-US" sz="1050" dirty="0">
                  <a:solidFill>
                    <a:srgbClr val="79C0F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gh stack init</a:t>
              </a:r>
              <a:endParaRPr lang="en-US" sz="1050" dirty="0"/>
            </a:p>
            <a:p>
              <a:pPr marL="0" indent="0" algn="l">
                <a:lnSpc>
                  <a:spcPts val="1281"/>
                </a:lnSpc>
                <a:buNone/>
              </a:pPr>
              <a:r>
                <a:rPr lang="en-US" sz="1050" dirty="0">
                  <a:solidFill>
                    <a:srgbClr val="79C0F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gh stack add</a:t>
              </a:r>
              <a:endParaRPr lang="en-US" sz="1050" dirty="0"/>
            </a:p>
          </p:txBody>
        </p:sp>
      </p:grpSp>
      <p:sp>
        <p:nvSpPr>
          <p:cNvPr id="12" name="Text 10"/>
          <p:cNvSpPr/>
          <p:nvPr/>
        </p:nvSpPr>
        <p:spPr>
          <a:xfrm>
            <a:off x="2988766" y="2719685"/>
            <a:ext cx="28493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289C23A-3201-9E69-DBF2-1502D6F61EB7}"/>
              </a:ext>
            </a:extLst>
          </p:cNvPr>
          <p:cNvGrpSpPr/>
          <p:nvPr/>
        </p:nvGrpSpPr>
        <p:grpSpPr>
          <a:xfrm>
            <a:off x="3369618" y="1641872"/>
            <a:ext cx="2404765" cy="2479477"/>
            <a:chOff x="3369618" y="1641872"/>
            <a:chExt cx="2404765" cy="2479477"/>
          </a:xfrm>
        </p:grpSpPr>
        <p:sp>
          <p:nvSpPr>
            <p:cNvPr id="13" name="Text 11"/>
            <p:cNvSpPr/>
            <p:nvPr/>
          </p:nvSpPr>
          <p:spPr>
            <a:xfrm>
              <a:off x="3369618" y="1641872"/>
              <a:ext cx="2404765" cy="2479477"/>
            </a:xfrm>
            <a:prstGeom prst="roundRect">
              <a:avLst>
                <a:gd name="adj" fmla="val 6337"/>
              </a:avLst>
            </a:prstGeom>
            <a:solidFill>
              <a:srgbClr val="161B22"/>
            </a:solidFill>
            <a:ln w="19050">
              <a:solidFill>
                <a:srgbClr val="30363D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3579168" y="1851422"/>
              <a:ext cx="342900" cy="342900"/>
            </a:xfrm>
            <a:prstGeom prst="roundRect">
              <a:avLst>
                <a:gd name="adj" fmla="val 266667"/>
              </a:avLst>
            </a:prstGeom>
            <a:solidFill>
              <a:srgbClr val="1F6FEB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3709988" y="1933873"/>
              <a:ext cx="82885" cy="1779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403"/>
                </a:lnSpc>
                <a:buNone/>
              </a:pPr>
              <a:r>
                <a:rPr lang="en-US" sz="1150" b="1" dirty="0">
                  <a:solidFill>
                    <a:srgbClr val="B1BAC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</a:t>
              </a:r>
              <a:endParaRPr lang="en-US" sz="115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3579168" y="2333923"/>
              <a:ext cx="2025378" cy="2571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800"/>
                </a:spcAft>
                <a:buNone/>
              </a:pPr>
              <a:r>
                <a:rPr lang="en-US" sz="1700" b="1" dirty="0">
                  <a:solidFill>
                    <a:srgbClr val="F0F6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Submit once</a:t>
              </a:r>
              <a:endParaRPr lang="en-US" sz="17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3579168" y="2692598"/>
              <a:ext cx="2025378" cy="53399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403"/>
                </a:lnSpc>
                <a:buNone/>
              </a:pPr>
              <a:r>
                <a:rPr lang="en-US" sz="1150" dirty="0">
                  <a:solidFill>
                    <a:srgbClr val="B1BAC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Push branches, create correctly based PRs, and link the stack.</a:t>
              </a:r>
              <a:endParaRPr lang="en-US" sz="115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3579168" y="3501479"/>
              <a:ext cx="1985665" cy="410319"/>
            </a:xfrm>
            <a:prstGeom prst="roundRect">
              <a:avLst>
                <a:gd name="adj" fmla="val 18571"/>
              </a:avLst>
            </a:prstGeom>
            <a:solidFill>
              <a:srgbClr val="010409"/>
            </a:solidFill>
            <a:ln w="9525">
              <a:solidFill>
                <a:srgbClr val="30363D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3702993" y="3625304"/>
              <a:ext cx="1772775" cy="162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281"/>
                </a:lnSpc>
                <a:buNone/>
              </a:pPr>
              <a:r>
                <a:rPr lang="en-US" sz="1050" dirty="0">
                  <a:solidFill>
                    <a:srgbClr val="79C0F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gh stack submit</a:t>
              </a:r>
              <a:endParaRPr lang="en-US" sz="1050" dirty="0"/>
            </a:p>
          </p:txBody>
        </p:sp>
      </p:grpSp>
      <p:sp>
        <p:nvSpPr>
          <p:cNvPr id="20" name="Text 18"/>
          <p:cNvSpPr/>
          <p:nvPr/>
        </p:nvSpPr>
        <p:spPr>
          <a:xfrm>
            <a:off x="5876032" y="2719685"/>
            <a:ext cx="28493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BCB05C5-A67B-70DE-7AF1-E949096C62DF}"/>
              </a:ext>
            </a:extLst>
          </p:cNvPr>
          <p:cNvGrpSpPr/>
          <p:nvPr/>
        </p:nvGrpSpPr>
        <p:grpSpPr>
          <a:xfrm>
            <a:off x="6256883" y="1641872"/>
            <a:ext cx="2404616" cy="2479477"/>
            <a:chOff x="6256883" y="1641872"/>
            <a:chExt cx="2404616" cy="2479477"/>
          </a:xfrm>
        </p:grpSpPr>
        <p:sp>
          <p:nvSpPr>
            <p:cNvPr id="21" name="Text 19"/>
            <p:cNvSpPr/>
            <p:nvPr/>
          </p:nvSpPr>
          <p:spPr>
            <a:xfrm>
              <a:off x="6256883" y="1641872"/>
              <a:ext cx="2404616" cy="2479477"/>
            </a:xfrm>
            <a:prstGeom prst="roundRect">
              <a:avLst>
                <a:gd name="adj" fmla="val 6338"/>
              </a:avLst>
            </a:prstGeom>
            <a:solidFill>
              <a:srgbClr val="161B22"/>
            </a:solidFill>
            <a:ln w="19050">
              <a:solidFill>
                <a:srgbClr val="30363D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6466433" y="1851422"/>
              <a:ext cx="342900" cy="342900"/>
            </a:xfrm>
            <a:prstGeom prst="roundRect">
              <a:avLst>
                <a:gd name="adj" fmla="val 266667"/>
              </a:avLst>
            </a:prstGeom>
            <a:solidFill>
              <a:srgbClr val="1F6FEB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6597253" y="1933873"/>
              <a:ext cx="82885" cy="1779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403"/>
                </a:lnSpc>
                <a:buNone/>
              </a:pPr>
              <a:r>
                <a:rPr lang="en-US" sz="1150" b="1" dirty="0">
                  <a:solidFill>
                    <a:srgbClr val="B1BAC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</a:t>
              </a:r>
              <a:endParaRPr lang="en-US" sz="115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6466433" y="2333923"/>
              <a:ext cx="2025226" cy="2571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800"/>
                </a:spcAft>
                <a:buNone/>
              </a:pPr>
              <a:r>
                <a:rPr lang="en-US" sz="1700" b="1" dirty="0">
                  <a:solidFill>
                    <a:srgbClr val="F0F6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Review + land</a:t>
              </a:r>
              <a:endParaRPr lang="en-US" sz="17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6466433" y="2692598"/>
              <a:ext cx="2025226" cy="53399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403"/>
                </a:lnSpc>
                <a:buNone/>
              </a:pPr>
              <a:r>
                <a:rPr lang="en-US" sz="1150" dirty="0">
                  <a:solidFill>
                    <a:srgbClr val="B1BAC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Review focused diffs, update dependent layers, then land all or part of the stack.</a:t>
              </a:r>
              <a:endParaRPr lang="en-US" sz="115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6466433" y="3338810"/>
              <a:ext cx="1985516" cy="572988"/>
            </a:xfrm>
            <a:prstGeom prst="roundRect">
              <a:avLst>
                <a:gd name="adj" fmla="val 13299"/>
              </a:avLst>
            </a:prstGeom>
            <a:solidFill>
              <a:srgbClr val="010409"/>
            </a:solidFill>
            <a:ln w="9525">
              <a:solidFill>
                <a:srgbClr val="30363D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6590258" y="3462635"/>
              <a:ext cx="1772623" cy="32533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281"/>
                </a:lnSpc>
                <a:buNone/>
              </a:pPr>
              <a:r>
                <a:rPr lang="en-US" sz="1050" dirty="0">
                  <a:solidFill>
                    <a:srgbClr val="79C0F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gh stack rebase</a:t>
              </a:r>
              <a:endParaRPr lang="en-US" sz="1050" dirty="0"/>
            </a:p>
            <a:p>
              <a:pPr marL="0" indent="0" algn="l">
                <a:lnSpc>
                  <a:spcPts val="1281"/>
                </a:lnSpc>
                <a:buNone/>
              </a:pPr>
              <a:r>
                <a:rPr lang="en-US" sz="1050" dirty="0">
                  <a:solidFill>
                    <a:srgbClr val="79C0F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gh stack merge</a:t>
              </a:r>
              <a:endParaRPr lang="en-US" sz="1050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E75F615-0BA6-9698-0E7D-0013C0B4CCC8}"/>
              </a:ext>
            </a:extLst>
          </p:cNvPr>
          <p:cNvGrpSpPr/>
          <p:nvPr/>
        </p:nvGrpSpPr>
        <p:grpSpPr>
          <a:xfrm>
            <a:off x="482501" y="4299049"/>
            <a:ext cx="8178998" cy="463451"/>
            <a:chOff x="482501" y="4299049"/>
            <a:chExt cx="8178998" cy="463451"/>
          </a:xfrm>
        </p:grpSpPr>
        <p:sp>
          <p:nvSpPr>
            <p:cNvPr id="28" name="Text 26"/>
            <p:cNvSpPr/>
            <p:nvPr/>
          </p:nvSpPr>
          <p:spPr>
            <a:xfrm>
              <a:off x="482501" y="4299049"/>
              <a:ext cx="8178998" cy="463451"/>
            </a:xfrm>
            <a:prstGeom prst="rect">
              <a:avLst/>
            </a:prstGeom>
            <a:solidFill>
              <a:srgbClr val="122117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511076" y="4299049"/>
              <a:ext cx="0" cy="463451"/>
            </a:xfrm>
            <a:prstGeom prst="line">
              <a:avLst/>
            </a:prstGeom>
            <a:noFill/>
            <a:ln w="57150">
              <a:solidFill>
                <a:srgbClr val="3FB95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 28"/>
            <p:cNvSpPr/>
            <p:nvPr/>
          </p:nvSpPr>
          <p:spPr>
            <a:xfrm>
              <a:off x="717352" y="4426000"/>
              <a:ext cx="7921776" cy="2095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56D36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The result:</a:t>
              </a:r>
              <a:r>
                <a:rPr lang="en-US" sz="1400" dirty="0">
                  <a:solidFill>
                    <a:srgbClr val="D2F4D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smaller reviews without serial development.</a:t>
              </a:r>
              <a:endParaRPr lang="en-US" sz="1400" dirty="0"/>
            </a:p>
          </p:txBody>
        </p:sp>
      </p:grpSp>
      <p:sp>
        <p:nvSpPr>
          <p:cNvPr id="31" name="Shape 29"/>
          <p:cNvSpPr/>
          <p:nvPr/>
        </p:nvSpPr>
        <p:spPr>
          <a:xfrm>
            <a:off x="7479792" y="146304"/>
            <a:ext cx="1078992" cy="283464"/>
          </a:xfrm>
          <a:prstGeom prst="roundRect">
            <a:avLst>
              <a:gd name="adj" fmla="val 19355"/>
            </a:avLst>
          </a:prstGeom>
          <a:solidFill>
            <a:srgbClr val="1A5D2A"/>
          </a:solidFill>
          <a:ln w="127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>
            <a:hlinkClick r:id="rId3"/>
          </p:cNvPr>
          <p:cNvSpPr/>
          <p:nvPr/>
        </p:nvSpPr>
        <p:spPr>
          <a:xfrm>
            <a:off x="7479792" y="146304"/>
            <a:ext cx="10789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gh.io/stacks</a:t>
            </a:r>
            <a:endParaRPr lang="en-US" sz="1050" dirty="0"/>
          </a:p>
        </p:txBody>
      </p:sp>
      <p:pic>
        <p:nvPicPr>
          <p:cNvPr id="33" name="Image 0" descr="/root/projects/work/gh-stack-demo/slides/github-invertocat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8512" y="137160"/>
            <a:ext cx="301752" cy="3017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298</Words>
  <Application>Microsoft Macintosh PowerPoint</Application>
  <PresentationFormat>On-screen Show (16:9)</PresentationFormat>
  <Paragraphs>57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</vt:vector>
  </TitlesOfParts>
  <Company>Code with Dan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Stacked PRs: Smaller Reviews Without Serial Development</dc:title>
  <dc:subject>GitHub Stacked PRs</dc:subject>
  <dc:creator>Dan Wahlin</dc:creator>
  <cp:lastModifiedBy>Dan Wahlin</cp:lastModifiedBy>
  <cp:revision>7</cp:revision>
  <dcterms:created xsi:type="dcterms:W3CDTF">2026-07-30T16:46:04Z</dcterms:created>
  <dcterms:modified xsi:type="dcterms:W3CDTF">2026-07-30T18:31:24Z</dcterms:modified>
</cp:coreProperties>
</file>