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1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2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visual 3 of 3. See VIDEO.md for narration and shot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h.io/stacks" TargetMode="External"/><Relationship Id="rId3" Type="http://schemas.openxmlformats.org/officeDocument/2006/relationships/hyperlink" Target="https://github.com" TargetMode="External"/><Relationship Id="rId2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031379" cy="834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spcAft>
                <a:spcPts val="800"/>
              </a:spcAft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feature creates an awkward choice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558082"/>
            <a:ext cx="83425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 for review speed, or development speed?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82501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82501" y="2031057"/>
            <a:ext cx="3925788" cy="0"/>
          </a:xfrm>
          <a:prstGeom prst="line">
            <a:avLst/>
          </a:prstGeom>
          <a:noFill/>
          <a:ln w="76200">
            <a:solidFill>
              <a:srgbClr val="F851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876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2501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2026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5452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5452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PR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55452" y="2970609"/>
            <a:ext cx="3447484" cy="6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arrives at once. Reviewers must untangle the model, validation, and tests together.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5452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46609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7916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829074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2038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636889" y="1992957"/>
            <a:ext cx="3925788" cy="2603450"/>
          </a:xfrm>
          <a:prstGeom prst="roundRect">
            <a:avLst>
              <a:gd name="adj" fmla="val 634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36889" y="2031057"/>
            <a:ext cx="3925788" cy="0"/>
          </a:xfrm>
          <a:prstGeom prst="line">
            <a:avLst/>
          </a:prstGeom>
          <a:noFill/>
          <a:ln w="76200">
            <a:solidFill>
              <a:srgbClr val="D2992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53152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889" y="4586883"/>
            <a:ext cx="3925788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46414" y="1992957"/>
            <a:ext cx="0" cy="260345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9840" y="2323058"/>
            <a:ext cx="344748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E3B3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09840" y="2545259"/>
            <a:ext cx="3447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serial PRs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909840" y="2970609"/>
            <a:ext cx="3447484" cy="444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diffs are focused, but dependent work waits for every previous PR to merge.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09840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00998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92304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983462" y="4006007"/>
            <a:ext cx="615107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674769" y="4006007"/>
            <a:ext cx="614958" cy="317450"/>
          </a:xfrm>
          <a:prstGeom prst="roundRect">
            <a:avLst>
              <a:gd name="adj" fmla="val 16003"/>
            </a:avLst>
          </a:prstGeom>
          <a:solidFill>
            <a:srgbClr val="3036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00711" y="4786908"/>
            <a:ext cx="83425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Giant PR: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slow review • </a:t>
            </a:r>
            <a:pPr algn="ctr" indent="0" marL="0">
              <a:spcBef>
                <a:spcPts val="1500"/>
              </a:spcBef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PRs:</a:t>
            </a:r>
            <a:pPr algn="ctr" indent="0" marL="0">
              <a:spcBef>
                <a:spcPts val="1500"/>
              </a:spcBef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stop-and-wait development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083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3" name="Text 31">
            <a:hlinkClick r:id="rId1" tooltip=""/>
          </p:cNvPr>
          <p:cNvSpPr/>
          <p:nvPr/>
        </p:nvSpPr>
        <p:spPr>
          <a:xfrm>
            <a:off x="77083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4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792" y="4626864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5555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HIGH-LEVEL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584150"/>
            <a:ext cx="8342578" cy="76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16"/>
              </a:lnSpc>
              <a:buNone/>
            </a:pPr>
            <a:r>
              <a:rPr lang="en-US" sz="29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one large pull request into reviewable layers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82501" y="1426518"/>
            <a:ext cx="834257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2000"/>
              </a:spcAft>
              <a:buNone/>
            </a:pPr>
            <a:r>
              <a:rPr lang="en-US" sz="15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stays connected, but each pull request becomes smaller and easier to understand.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82501" y="2200721"/>
            <a:ext cx="2095054" cy="2286000"/>
          </a:xfrm>
          <a:prstGeom prst="roundRect">
            <a:avLst>
              <a:gd name="adj" fmla="val 7880"/>
            </a:avLst>
          </a:prstGeom>
          <a:solidFill>
            <a:srgbClr val="2D1717"/>
          </a:solidFill>
          <a:ln w="19050">
            <a:solidFill>
              <a:srgbClr val="F851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0151" y="2557314"/>
            <a:ext cx="1631749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FF7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0151" y="2817465"/>
            <a:ext cx="163174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large pull request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0151" y="3534966"/>
            <a:ext cx="1631749" cy="59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2"/>
              </a:lnSpc>
              <a:buNone/>
            </a:pPr>
            <a:r>
              <a:rPr lang="en-US" sz="1250" dirty="0">
                <a:solidFill>
                  <a:srgbClr val="FFC1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+ validation + tests arrive as one mixed review.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25344" y="3129409"/>
            <a:ext cx="6233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166443" y="2181523"/>
            <a:ext cx="1745307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166443" y="2191048"/>
            <a:ext cx="1745307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02226" y="2181523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66443" y="2781598"/>
            <a:ext cx="1745307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4543" y="2181523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694" y="2381548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89066" y="2410123"/>
            <a:ext cx="3453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64930" y="2867323"/>
            <a:ext cx="2148185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964930" y="2876848"/>
            <a:ext cx="2148185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03590" y="2867323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64930" y="3467398"/>
            <a:ext cx="2148185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3030" y="2867323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180" y="3067348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99174" y="3095923"/>
            <a:ext cx="6424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63566" y="3553123"/>
            <a:ext cx="2550914" cy="60960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/>
          <a:effectLst>
            <a:outerShdw sx="100000" sy="100000" kx="0" ky="0" algn="bl" rotWithShape="0" blurRad="88900" dist="38100" dir="54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763566" y="356264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4955" y="3553123"/>
            <a:ext cx="0" cy="60960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63566" y="4153198"/>
            <a:ext cx="2550914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01666" y="3553123"/>
            <a:ext cx="0" cy="609600"/>
          </a:xfrm>
          <a:prstGeom prst="line">
            <a:avLst/>
          </a:prstGeom>
          <a:noFill/>
          <a:ln w="762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4816" y="3753148"/>
            <a:ext cx="4030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45063" y="3781723"/>
            <a:ext cx="3930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EE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96444" y="4264223"/>
            <a:ext cx="2685306" cy="317450"/>
          </a:xfrm>
          <a:prstGeom prst="rect">
            <a:avLst/>
          </a:prstGeom>
          <a:solidFill>
            <a:srgbClr val="11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3696444" y="4283273"/>
            <a:ext cx="2685306" cy="0"/>
          </a:xfrm>
          <a:prstGeom prst="line">
            <a:avLst/>
          </a:prstGeom>
          <a:noFill/>
          <a:ln w="38100">
            <a:solidFill>
              <a:srgbClr val="58A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76800" y="4370487"/>
            <a:ext cx="3309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9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35651" y="1940719"/>
            <a:ext cx="2025848" cy="806648"/>
          </a:xfrm>
          <a:prstGeom prst="roundRect">
            <a:avLst>
              <a:gd name="adj" fmla="val 9446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59463" y="1940719"/>
            <a:ext cx="0" cy="806648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22877" y="2067669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reviews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22877" y="2305794"/>
            <a:ext cx="1733002" cy="314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exposes only its focused change.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635651" y="2861667"/>
            <a:ext cx="2025848" cy="963960"/>
          </a:xfrm>
          <a:prstGeom prst="roundRect">
            <a:avLst>
              <a:gd name="adj" fmla="val 7905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6659463" y="2861667"/>
            <a:ext cx="0" cy="963960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22877" y="2988618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progress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22877" y="3226743"/>
            <a:ext cx="1733002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Dependent work can continue before lower layers merge.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35651" y="3939927"/>
            <a:ext cx="2025848" cy="806648"/>
          </a:xfrm>
          <a:prstGeom prst="roundRect">
            <a:avLst>
              <a:gd name="adj" fmla="val 9446"/>
            </a:avLst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659463" y="3939927"/>
            <a:ext cx="0" cy="806648"/>
          </a:xfrm>
          <a:prstGeom prst="line">
            <a:avLst/>
          </a:prstGeom>
          <a:noFill/>
          <a:ln w="47625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22877" y="4066877"/>
            <a:ext cx="173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context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822877" y="4305002"/>
            <a:ext cx="1733002" cy="314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9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keeps the layers connected as one stack.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7083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7" name="Text 45">
            <a:hlinkClick r:id="rId1" tooltip=""/>
          </p:cNvPr>
          <p:cNvSpPr/>
          <p:nvPr/>
        </p:nvSpPr>
        <p:spPr>
          <a:xfrm>
            <a:off x="77083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48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792" y="4626864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2501" y="381000"/>
            <a:ext cx="8342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2501" y="622250"/>
            <a:ext cx="8342578" cy="41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55"/>
              </a:lnSpc>
              <a:buNone/>
            </a:pPr>
            <a:r>
              <a:rPr lang="en-US" sz="3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branches to one visible stack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482501" y="1124396"/>
            <a:ext cx="834257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2200"/>
              </a:spcAft>
              <a:buNone/>
            </a:pPr>
            <a:r>
              <a:rPr lang="en-US" sz="160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 handles branch order, pull-request bases, rebases, and merging.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82501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2051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2871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2051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layers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92051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stack, then add one branch per reviewable concern.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92051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5876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init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add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88766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69618" y="1641872"/>
            <a:ext cx="2404765" cy="2479477"/>
          </a:xfrm>
          <a:prstGeom prst="roundRect">
            <a:avLst>
              <a:gd name="adj" fmla="val 6337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9168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09988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79168" y="2333923"/>
            <a:ext cx="202537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once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579168" y="2692598"/>
            <a:ext cx="2025378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branches, create correctly based PRs, and link the stack.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79168" y="3501479"/>
            <a:ext cx="1985665" cy="410319"/>
          </a:xfrm>
          <a:prstGeom prst="roundRect">
            <a:avLst>
              <a:gd name="adj" fmla="val 18571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02993" y="3625304"/>
            <a:ext cx="1772775" cy="1626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submit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76032" y="2719685"/>
            <a:ext cx="2849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256883" y="1641872"/>
            <a:ext cx="2404616" cy="2479477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66433" y="185142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1F6F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97253" y="1933873"/>
            <a:ext cx="82885" cy="177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b="1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66433" y="2333923"/>
            <a:ext cx="20252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+ land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66433" y="2692598"/>
            <a:ext cx="2025226" cy="5339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3"/>
              </a:lnSpc>
              <a:buNone/>
            </a:pPr>
            <a:r>
              <a:rPr lang="en-US" sz="1150" dirty="0">
                <a:solidFill>
                  <a:srgbClr val="B1BA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focused diffs, update dependent layers, then land all or part of the stack.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66433" y="3338810"/>
            <a:ext cx="1985516" cy="572988"/>
          </a:xfrm>
          <a:prstGeom prst="roundRect">
            <a:avLst>
              <a:gd name="adj" fmla="val 13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90258" y="3462635"/>
            <a:ext cx="1772623" cy="325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rebase</a:t>
            </a:r>
            <a:endParaRPr lang="en-US" sz="1050" dirty="0"/>
          </a:p>
          <a:p>
            <a:pPr algn="l" indent="0" marL="0">
              <a:lnSpc>
                <a:spcPts val="1281"/>
              </a:lnSpc>
              <a:buNone/>
            </a:pPr>
            <a:r>
              <a:rPr lang="en-US" sz="10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stack merge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2501" y="4299049"/>
            <a:ext cx="8178998" cy="463451"/>
          </a:xfrm>
          <a:prstGeom prst="rect">
            <a:avLst/>
          </a:prstGeom>
          <a:solidFill>
            <a:srgbClr val="122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11076" y="4299049"/>
            <a:ext cx="0" cy="463451"/>
          </a:xfrm>
          <a:prstGeom prst="line">
            <a:avLst/>
          </a:prstGeom>
          <a:noFill/>
          <a:ln w="571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352" y="4426000"/>
            <a:ext cx="792177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6D3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</a:t>
            </a:r>
            <a:pPr algn="l" indent="0" marL="0">
              <a:buNone/>
            </a:pPr>
            <a:r>
              <a:rPr lang="en-US" sz="1400" dirty="0">
                <a:solidFill>
                  <a:srgbClr val="D2F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smaller reviews without serial development.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708392" y="146304"/>
            <a:ext cx="1078992" cy="283464"/>
          </a:xfrm>
          <a:prstGeom prst="roundRect">
            <a:avLst>
              <a:gd name="adj" fmla="val 19355"/>
            </a:avLst>
          </a:prstGeom>
          <a:solidFill>
            <a:srgbClr val="1A5D2A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32" name="Text 30">
            <a:hlinkClick r:id="rId1" tooltip=""/>
          </p:cNvPr>
          <p:cNvSpPr/>
          <p:nvPr/>
        </p:nvSpPr>
        <p:spPr>
          <a:xfrm>
            <a:off x="7708392" y="146304"/>
            <a:ext cx="10789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gh.io/stacks</a:t>
            </a:r>
            <a:endParaRPr lang="en-US" sz="1050" dirty="0"/>
          </a:p>
        </p:txBody>
      </p:sp>
      <p:pic>
        <p:nvPicPr>
          <p:cNvPr id="33" name="Image 0" descr="/root/projects/work/gh-stack-demo/slides/github-invertocat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792" y="4626864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 with 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Stacked PRs: Smaller Reviews Without Serial Development</dc:title>
  <dc:subject>GitHub Stacked PRs</dc:subject>
  <dc:creator>Dan Wahlin</dc:creator>
  <cp:lastModifiedBy>Dan Wahlin</cp:lastModifiedBy>
  <cp:revision>1</cp:revision>
  <dcterms:created xsi:type="dcterms:W3CDTF">2026-07-30T16:41:30Z</dcterms:created>
  <dcterms:modified xsi:type="dcterms:W3CDTF">2026-07-30T16:41:30Z</dcterms:modified>
</cp:coreProperties>
</file>