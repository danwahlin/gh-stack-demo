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45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visual 1 of 3. See VIDEO.md for narration and shot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visual 2 of 3. See VIDEO.md for narration and shot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visual 3 of 3. See VIDEO.md for narration and shot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2" Type="http://schemas.openxmlformats.org/officeDocument/2006/relationships/hyperlink" Target="https://gh.io/stack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h.io/stack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h.io/stack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h.io/stack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2" Type="http://schemas.openxmlformats.org/officeDocument/2006/relationships/hyperlink" Target="https://gh.io/stack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1396901"/>
            <a:ext cx="711101" cy="63401"/>
          </a:xfrm>
          <a:prstGeom prst="rect">
            <a:avLst/>
          </a:prstGeom>
          <a:solidFill>
            <a:srgbClr val="2EA04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2501" y="1850827"/>
            <a:ext cx="764275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8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GitHub Stacked PRs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82501" y="3121819"/>
            <a:ext cx="7383780" cy="5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10"/>
              </a:lnSpc>
              <a:spcBef>
                <a:spcPts val="1800"/>
              </a:spcBef>
              <a:buNone/>
            </a:pPr>
            <a:r>
              <a:rPr lang="en-US" sz="1700" dirty="0">
                <a:solidFill>
                  <a:srgbClr val="B1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large changes into smaller, dependent pull requests that stay connected and remain independently reviewable.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79792" y="146304"/>
            <a:ext cx="1078992" cy="283464"/>
          </a:xfrm>
          <a:prstGeom prst="roundRect">
            <a:avLst>
              <a:gd name="adj" fmla="val 19355"/>
            </a:avLst>
          </a:prstGeom>
          <a:solidFill>
            <a:srgbClr val="1A5D2A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hlinkClick r:id="rId2"/>
          </p:cNvPr>
          <p:cNvSpPr/>
          <p:nvPr/>
        </p:nvSpPr>
        <p:spPr>
          <a:xfrm>
            <a:off x="7479792" y="146304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gh.io/stacks</a:t>
            </a:r>
            <a:endParaRPr lang="en-US" sz="1050" dirty="0"/>
          </a:p>
        </p:txBody>
      </p:sp>
      <p:pic>
        <p:nvPicPr>
          <p:cNvPr id="9" name="Image 0" descr="/root/projects/work/gh-stack-demo/slides/github-invertocat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137160"/>
            <a:ext cx="301752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381000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01" y="622250"/>
            <a:ext cx="8031379" cy="83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6"/>
              </a:lnSpc>
              <a:spcAft>
                <a:spcPts val="800"/>
              </a:spcAft>
              <a:buNone/>
            </a:pPr>
            <a:r>
              <a:rPr lang="en-US" sz="3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feature creates an awkward choice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82501" y="1558082"/>
            <a:ext cx="83425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700" dirty="0">
                <a:solidFill>
                  <a:srgbClr val="B1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for review speed, or development speed?</a:t>
            </a:r>
            <a:endParaRPr lang="en-US" sz="17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A1C85F-517F-BA52-26BF-726175D26E73}"/>
              </a:ext>
            </a:extLst>
          </p:cNvPr>
          <p:cNvGrpSpPr/>
          <p:nvPr/>
        </p:nvGrpSpPr>
        <p:grpSpPr>
          <a:xfrm>
            <a:off x="482501" y="1992957"/>
            <a:ext cx="3925788" cy="2603450"/>
            <a:chOff x="482501" y="1992957"/>
            <a:chExt cx="3925788" cy="2603450"/>
          </a:xfrm>
        </p:grpSpPr>
        <p:sp>
          <p:nvSpPr>
            <p:cNvPr id="5" name="Text 3"/>
            <p:cNvSpPr/>
            <p:nvPr/>
          </p:nvSpPr>
          <p:spPr>
            <a:xfrm>
              <a:off x="482501" y="1992957"/>
              <a:ext cx="3925788" cy="2603450"/>
            </a:xfrm>
            <a:prstGeom prst="roundRect">
              <a:avLst>
                <a:gd name="adj" fmla="val 6342"/>
              </a:avLst>
            </a:prstGeom>
            <a:solidFill>
              <a:srgbClr val="161B22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82501" y="2031057"/>
              <a:ext cx="3925788" cy="0"/>
            </a:xfrm>
            <a:prstGeom prst="line">
              <a:avLst/>
            </a:prstGeom>
            <a:noFill/>
            <a:ln w="76200">
              <a:solidFill>
                <a:srgbClr val="F8514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4398764" y="1992957"/>
              <a:ext cx="0" cy="260345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482501" y="4586883"/>
              <a:ext cx="3925788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92026" y="1992957"/>
              <a:ext cx="0" cy="260345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755452" y="2323058"/>
              <a:ext cx="3447484" cy="222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b="1" dirty="0">
                  <a:solidFill>
                    <a:srgbClr val="FF7B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1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55452" y="2545259"/>
              <a:ext cx="3447484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22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One giant PR</a:t>
              </a:r>
              <a:endParaRPr lang="en-US" sz="2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55452" y="2970609"/>
              <a:ext cx="3447484" cy="6666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Everything arrives at once. Reviewers must untangle the model, validation, and tests together.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55452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446609" y="4006007"/>
              <a:ext cx="615107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137916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829074" y="4006007"/>
              <a:ext cx="615107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520380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F8514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8B28B7F-58A8-6F71-98C7-4A22E2DD04F7}"/>
              </a:ext>
            </a:extLst>
          </p:cNvPr>
          <p:cNvGrpSpPr/>
          <p:nvPr/>
        </p:nvGrpSpPr>
        <p:grpSpPr>
          <a:xfrm>
            <a:off x="4636889" y="1992957"/>
            <a:ext cx="3925788" cy="2603450"/>
            <a:chOff x="4636889" y="1992957"/>
            <a:chExt cx="3925788" cy="2603450"/>
          </a:xfrm>
        </p:grpSpPr>
        <p:sp>
          <p:nvSpPr>
            <p:cNvPr id="18" name="Text 16"/>
            <p:cNvSpPr/>
            <p:nvPr/>
          </p:nvSpPr>
          <p:spPr>
            <a:xfrm>
              <a:off x="4636889" y="1992957"/>
              <a:ext cx="3925788" cy="2603450"/>
            </a:xfrm>
            <a:prstGeom prst="roundRect">
              <a:avLst>
                <a:gd name="adj" fmla="val 6342"/>
              </a:avLst>
            </a:prstGeom>
            <a:solidFill>
              <a:srgbClr val="161B22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636889" y="2031057"/>
              <a:ext cx="3925788" cy="0"/>
            </a:xfrm>
            <a:prstGeom prst="line">
              <a:avLst/>
            </a:prstGeom>
            <a:noFill/>
            <a:ln w="76200">
              <a:solidFill>
                <a:srgbClr val="D2992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8553152" y="1992957"/>
              <a:ext cx="0" cy="260345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4636889" y="4586883"/>
              <a:ext cx="3925788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4646414" y="1992957"/>
              <a:ext cx="0" cy="260345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4909840" y="2323058"/>
              <a:ext cx="3447484" cy="222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b="1" dirty="0">
                  <a:solidFill>
                    <a:srgbClr val="E3B34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OPTION 2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909840" y="2545259"/>
              <a:ext cx="3447484" cy="323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22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Small, serial PRs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909840" y="2970609"/>
              <a:ext cx="3447484" cy="4444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40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diffs are focused, but dependent work waits for every previous PR to merge.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909840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D29922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600998" y="4006007"/>
              <a:ext cx="615107" cy="317450"/>
            </a:xfrm>
            <a:prstGeom prst="roundRect">
              <a:avLst>
                <a:gd name="adj" fmla="val 16003"/>
              </a:avLst>
            </a:prstGeom>
            <a:solidFill>
              <a:srgbClr val="30363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292304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30363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983462" y="4006007"/>
              <a:ext cx="615107" cy="317450"/>
            </a:xfrm>
            <a:prstGeom prst="roundRect">
              <a:avLst>
                <a:gd name="adj" fmla="val 16003"/>
              </a:avLst>
            </a:prstGeom>
            <a:solidFill>
              <a:srgbClr val="30363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674769" y="4006007"/>
              <a:ext cx="614958" cy="317450"/>
            </a:xfrm>
            <a:prstGeom prst="roundRect">
              <a:avLst>
                <a:gd name="adj" fmla="val 16003"/>
              </a:avLst>
            </a:prstGeom>
            <a:solidFill>
              <a:srgbClr val="30363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</p:grpSp>
      <p:sp>
        <p:nvSpPr>
          <p:cNvPr id="32" name="Shape 30"/>
          <p:cNvSpPr/>
          <p:nvPr/>
        </p:nvSpPr>
        <p:spPr>
          <a:xfrm>
            <a:off x="7479792" y="146304"/>
            <a:ext cx="1078992" cy="283464"/>
          </a:xfrm>
          <a:prstGeom prst="roundRect">
            <a:avLst>
              <a:gd name="adj" fmla="val 19355"/>
            </a:avLst>
          </a:prstGeom>
          <a:solidFill>
            <a:srgbClr val="1A5D2A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hlinkClick r:id="rId3"/>
          </p:cNvPr>
          <p:cNvSpPr/>
          <p:nvPr/>
        </p:nvSpPr>
        <p:spPr>
          <a:xfrm>
            <a:off x="7479792" y="146304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gh.io/stacks</a:t>
            </a:r>
            <a:endParaRPr lang="en-US" sz="1050" dirty="0"/>
          </a:p>
        </p:txBody>
      </p:sp>
      <p:pic>
        <p:nvPicPr>
          <p:cNvPr id="34" name="Image 0" descr="/root/projects/work/gh-stack-demo/slides/github-invertocat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137160"/>
            <a:ext cx="301752" cy="301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355550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HIGH-LEVEL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01" y="584150"/>
            <a:ext cx="8342578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one large pull request into reviewable layers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82501" y="2200721"/>
            <a:ext cx="2095054" cy="2286000"/>
          </a:xfrm>
          <a:prstGeom prst="roundRect">
            <a:avLst>
              <a:gd name="adj" fmla="val 7880"/>
            </a:avLst>
          </a:prstGeom>
          <a:solidFill>
            <a:srgbClr val="2D1717"/>
          </a:solidFill>
          <a:ln w="19050">
            <a:solidFill>
              <a:srgbClr val="F8514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0151" y="2557314"/>
            <a:ext cx="163174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7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0151" y="2817465"/>
            <a:ext cx="16317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large pull request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0151" y="3534966"/>
            <a:ext cx="1631749" cy="59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2"/>
              </a:lnSpc>
              <a:buNone/>
            </a:pPr>
            <a:r>
              <a:rPr lang="en-US" sz="1250" dirty="0">
                <a:solidFill>
                  <a:srgbClr val="FFC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validation + tests arrive as one mixed review.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25344" y="3129409"/>
            <a:ext cx="6233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6D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511578A-7A7F-BE54-86A7-F324E6E38D72}"/>
              </a:ext>
            </a:extLst>
          </p:cNvPr>
          <p:cNvGrpSpPr/>
          <p:nvPr/>
        </p:nvGrpSpPr>
        <p:grpSpPr>
          <a:xfrm>
            <a:off x="3763566" y="2181523"/>
            <a:ext cx="2550914" cy="609600"/>
            <a:chOff x="3763566" y="2181523"/>
            <a:chExt cx="2550914" cy="609600"/>
          </a:xfrm>
        </p:grpSpPr>
        <p:sp>
          <p:nvSpPr>
            <p:cNvPr id="10" name="Text 8"/>
            <p:cNvSpPr/>
            <p:nvPr/>
          </p:nvSpPr>
          <p:spPr>
            <a:xfrm>
              <a:off x="3763566" y="2181523"/>
              <a:ext cx="2550914" cy="609600"/>
            </a:xfrm>
            <a:prstGeom prst="roundRect">
              <a:avLst>
                <a:gd name="adj" fmla="val 16667"/>
              </a:avLst>
            </a:prstGeom>
            <a:solidFill>
              <a:srgbClr val="161B22"/>
            </a:solidFill>
            <a:ln/>
            <a:effectLst>
              <a:outerShdw blurRad="88900" dist="38100" dir="5400000" algn="bl" rotWithShape="0">
                <a:srgbClr val="000000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763566" y="219104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6304955" y="2181523"/>
              <a:ext cx="0" cy="60960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3763566" y="278159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3801666" y="2181523"/>
              <a:ext cx="0" cy="609600"/>
            </a:xfrm>
            <a:prstGeom prst="line">
              <a:avLst/>
            </a:prstGeom>
            <a:noFill/>
            <a:ln w="762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4004816" y="2381548"/>
              <a:ext cx="403041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 3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500539" y="2440559"/>
              <a:ext cx="543283" cy="129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7EE7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Tests</a:t>
              </a:r>
              <a:endParaRPr lang="en-US" sz="105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DE1B6C8-A065-8D8B-99D9-BD181CE3324F}"/>
              </a:ext>
            </a:extLst>
          </p:cNvPr>
          <p:cNvGrpSpPr/>
          <p:nvPr/>
        </p:nvGrpSpPr>
        <p:grpSpPr>
          <a:xfrm>
            <a:off x="3763566" y="2867323"/>
            <a:ext cx="2550914" cy="609600"/>
            <a:chOff x="3763566" y="2867323"/>
            <a:chExt cx="2550914" cy="609600"/>
          </a:xfrm>
        </p:grpSpPr>
        <p:sp>
          <p:nvSpPr>
            <p:cNvPr id="17" name="Text 15"/>
            <p:cNvSpPr/>
            <p:nvPr/>
          </p:nvSpPr>
          <p:spPr>
            <a:xfrm>
              <a:off x="3763566" y="2867323"/>
              <a:ext cx="2550914" cy="609600"/>
            </a:xfrm>
            <a:prstGeom prst="roundRect">
              <a:avLst>
                <a:gd name="adj" fmla="val 16667"/>
              </a:avLst>
            </a:prstGeom>
            <a:solidFill>
              <a:srgbClr val="161B22"/>
            </a:solidFill>
            <a:ln/>
            <a:effectLst>
              <a:outerShdw blurRad="88900" dist="38100" dir="5400000" algn="bl" rotWithShape="0">
                <a:srgbClr val="000000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763566" y="287684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6304955" y="2867323"/>
              <a:ext cx="0" cy="60960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3763566" y="346739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3801666" y="2867323"/>
              <a:ext cx="0" cy="609600"/>
            </a:xfrm>
            <a:prstGeom prst="line">
              <a:avLst/>
            </a:prstGeom>
            <a:noFill/>
            <a:ln w="762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4004816" y="3067348"/>
              <a:ext cx="403041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 2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500539" y="3095923"/>
              <a:ext cx="642437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7EE7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Validation</a:t>
              </a:r>
              <a:endParaRPr lang="en-US" sz="105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05F821D-18FE-4EFB-EBE2-AFD86236330E}"/>
              </a:ext>
            </a:extLst>
          </p:cNvPr>
          <p:cNvGrpSpPr/>
          <p:nvPr/>
        </p:nvGrpSpPr>
        <p:grpSpPr>
          <a:xfrm>
            <a:off x="3763566" y="3553123"/>
            <a:ext cx="2550914" cy="609600"/>
            <a:chOff x="3763566" y="3553123"/>
            <a:chExt cx="2550914" cy="609600"/>
          </a:xfrm>
        </p:grpSpPr>
        <p:sp>
          <p:nvSpPr>
            <p:cNvPr id="24" name="Text 22"/>
            <p:cNvSpPr/>
            <p:nvPr/>
          </p:nvSpPr>
          <p:spPr>
            <a:xfrm>
              <a:off x="3763566" y="3553123"/>
              <a:ext cx="2550914" cy="609600"/>
            </a:xfrm>
            <a:prstGeom prst="roundRect">
              <a:avLst>
                <a:gd name="adj" fmla="val 16667"/>
              </a:avLst>
            </a:prstGeom>
            <a:solidFill>
              <a:srgbClr val="161B22"/>
            </a:solidFill>
            <a:ln/>
            <a:effectLst>
              <a:outerShdw blurRad="88900" dist="38100" dir="5400000" algn="bl" rotWithShape="0">
                <a:srgbClr val="000000">
                  <a:alpha val="3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763566" y="356264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6304955" y="3553123"/>
              <a:ext cx="0" cy="60960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3763566" y="4153198"/>
              <a:ext cx="2550914" cy="0"/>
            </a:xfrm>
            <a:prstGeom prst="line">
              <a:avLst/>
            </a:prstGeom>
            <a:noFill/>
            <a:ln w="19050">
              <a:solidFill>
                <a:srgbClr val="3036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3801666" y="3553123"/>
              <a:ext cx="0" cy="609600"/>
            </a:xfrm>
            <a:prstGeom prst="line">
              <a:avLst/>
            </a:prstGeom>
            <a:noFill/>
            <a:ln w="7620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4004816" y="3753148"/>
              <a:ext cx="403041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 1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500539" y="3778211"/>
              <a:ext cx="393022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7EE7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</a:t>
              </a:r>
              <a:endParaRPr lang="en-US" sz="105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6936F7E-53E6-C95B-56A0-ED0E4D98B596}"/>
              </a:ext>
            </a:extLst>
          </p:cNvPr>
          <p:cNvGrpSpPr/>
          <p:nvPr/>
        </p:nvGrpSpPr>
        <p:grpSpPr>
          <a:xfrm>
            <a:off x="3696444" y="4264223"/>
            <a:ext cx="2685306" cy="317450"/>
            <a:chOff x="3696444" y="4264223"/>
            <a:chExt cx="2685306" cy="317450"/>
          </a:xfrm>
        </p:grpSpPr>
        <p:sp>
          <p:nvSpPr>
            <p:cNvPr id="31" name="Text 29"/>
            <p:cNvSpPr/>
            <p:nvPr/>
          </p:nvSpPr>
          <p:spPr>
            <a:xfrm>
              <a:off x="3696444" y="4264223"/>
              <a:ext cx="2685306" cy="317450"/>
            </a:xfrm>
            <a:prstGeom prst="rect">
              <a:avLst/>
            </a:prstGeom>
            <a:solidFill>
              <a:srgbClr val="111D2E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696444" y="4283273"/>
              <a:ext cx="2685306" cy="0"/>
            </a:xfrm>
            <a:prstGeom prst="line">
              <a:avLst/>
            </a:prstGeom>
            <a:noFill/>
            <a:ln w="38100">
              <a:solidFill>
                <a:srgbClr val="58A6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4876800" y="4370487"/>
              <a:ext cx="330934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79C0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MAIN</a:t>
              </a:r>
              <a:endParaRPr lang="en-US" sz="10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629951B-478D-FE58-5112-9F554ECBC60E}"/>
              </a:ext>
            </a:extLst>
          </p:cNvPr>
          <p:cNvGrpSpPr/>
          <p:nvPr/>
        </p:nvGrpSpPr>
        <p:grpSpPr>
          <a:xfrm>
            <a:off x="6635651" y="1940719"/>
            <a:ext cx="2025848" cy="806648"/>
            <a:chOff x="6635651" y="1940719"/>
            <a:chExt cx="2025848" cy="806648"/>
          </a:xfrm>
        </p:grpSpPr>
        <p:sp>
          <p:nvSpPr>
            <p:cNvPr id="34" name="Text 32"/>
            <p:cNvSpPr/>
            <p:nvPr/>
          </p:nvSpPr>
          <p:spPr>
            <a:xfrm>
              <a:off x="6635651" y="1940719"/>
              <a:ext cx="2025848" cy="806648"/>
            </a:xfrm>
            <a:prstGeom prst="roundRect">
              <a:avLst>
                <a:gd name="adj" fmla="val 9446"/>
              </a:avLst>
            </a:prstGeom>
            <a:solidFill>
              <a:srgbClr val="122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6659463" y="1940719"/>
              <a:ext cx="0" cy="806648"/>
            </a:xfrm>
            <a:prstGeom prst="line">
              <a:avLst/>
            </a:prstGeom>
            <a:noFill/>
            <a:ln w="47625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6822877" y="2067669"/>
              <a:ext cx="1733002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300" b="1" dirty="0">
                  <a:solidFill>
                    <a:srgbClr val="56D36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Small reviews</a:t>
              </a:r>
              <a:endParaRPr lang="en-US" sz="13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822877" y="2305794"/>
              <a:ext cx="1733002" cy="314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9"/>
                </a:lnSpc>
                <a:buNone/>
              </a:pPr>
              <a:r>
                <a:rPr lang="en-US" sz="105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Each layer exposes only its focused change.</a:t>
              </a:r>
              <a:endParaRPr lang="en-US" sz="105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7517EAF-813A-63F7-A6E2-F1C588B318C7}"/>
              </a:ext>
            </a:extLst>
          </p:cNvPr>
          <p:cNvGrpSpPr/>
          <p:nvPr/>
        </p:nvGrpSpPr>
        <p:grpSpPr>
          <a:xfrm>
            <a:off x="6635651" y="2861667"/>
            <a:ext cx="2025848" cy="963960"/>
            <a:chOff x="6635651" y="2861667"/>
            <a:chExt cx="2025848" cy="963960"/>
          </a:xfrm>
        </p:grpSpPr>
        <p:sp>
          <p:nvSpPr>
            <p:cNvPr id="38" name="Text 36"/>
            <p:cNvSpPr/>
            <p:nvPr/>
          </p:nvSpPr>
          <p:spPr>
            <a:xfrm>
              <a:off x="6635651" y="2861667"/>
              <a:ext cx="2025848" cy="963960"/>
            </a:xfrm>
            <a:prstGeom prst="roundRect">
              <a:avLst>
                <a:gd name="adj" fmla="val 7905"/>
              </a:avLst>
            </a:prstGeom>
            <a:solidFill>
              <a:srgbClr val="122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6659463" y="2861667"/>
              <a:ext cx="0" cy="963960"/>
            </a:xfrm>
            <a:prstGeom prst="line">
              <a:avLst/>
            </a:prstGeom>
            <a:noFill/>
            <a:ln w="47625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6822877" y="2988618"/>
              <a:ext cx="1733002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300" b="1" dirty="0">
                  <a:solidFill>
                    <a:srgbClr val="56D36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Continuous progress</a:t>
              </a:r>
              <a:endParaRPr lang="en-US" sz="13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822877" y="3226743"/>
              <a:ext cx="1733002" cy="471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9"/>
                </a:lnSpc>
                <a:buNone/>
              </a:pPr>
              <a:r>
                <a:rPr lang="en-US" sz="105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Dependent work can continue before lower layers merge.</a:t>
              </a:r>
              <a:endParaRPr lang="en-US" sz="105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F2A3C16-8B3C-02A0-AB90-8FD1D4662B36}"/>
              </a:ext>
            </a:extLst>
          </p:cNvPr>
          <p:cNvGrpSpPr/>
          <p:nvPr/>
        </p:nvGrpSpPr>
        <p:grpSpPr>
          <a:xfrm>
            <a:off x="6635651" y="3939927"/>
            <a:ext cx="2025848" cy="806648"/>
            <a:chOff x="6635651" y="3939927"/>
            <a:chExt cx="2025848" cy="806648"/>
          </a:xfrm>
        </p:grpSpPr>
        <p:sp>
          <p:nvSpPr>
            <p:cNvPr id="42" name="Text 40"/>
            <p:cNvSpPr/>
            <p:nvPr/>
          </p:nvSpPr>
          <p:spPr>
            <a:xfrm>
              <a:off x="6635651" y="3939927"/>
              <a:ext cx="2025848" cy="806648"/>
            </a:xfrm>
            <a:prstGeom prst="roundRect">
              <a:avLst>
                <a:gd name="adj" fmla="val 9446"/>
              </a:avLst>
            </a:prstGeom>
            <a:solidFill>
              <a:srgbClr val="122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659463" y="3939927"/>
              <a:ext cx="0" cy="806648"/>
            </a:xfrm>
            <a:prstGeom prst="line">
              <a:avLst/>
            </a:prstGeom>
            <a:noFill/>
            <a:ln w="47625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6822877" y="4066877"/>
              <a:ext cx="1733002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300" b="1" dirty="0">
                  <a:solidFill>
                    <a:srgbClr val="56D36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Shared context</a:t>
              </a:r>
              <a:endParaRPr lang="en-US" sz="13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822877" y="4305002"/>
              <a:ext cx="1733002" cy="314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39"/>
                </a:lnSpc>
                <a:buNone/>
              </a:pPr>
              <a:r>
                <a:rPr lang="en-US" sz="1050" dirty="0">
                  <a:solidFill>
                    <a:srgbClr val="C9D1D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GitHub keeps the layers connected as one stack.</a:t>
              </a:r>
              <a:endParaRPr lang="en-US" sz="1050" dirty="0"/>
            </a:p>
          </p:txBody>
        </p:sp>
      </p:grpSp>
      <p:sp>
        <p:nvSpPr>
          <p:cNvPr id="46" name="Shape 44"/>
          <p:cNvSpPr/>
          <p:nvPr/>
        </p:nvSpPr>
        <p:spPr>
          <a:xfrm>
            <a:off x="7479792" y="146304"/>
            <a:ext cx="1078992" cy="283464"/>
          </a:xfrm>
          <a:prstGeom prst="roundRect">
            <a:avLst>
              <a:gd name="adj" fmla="val 19355"/>
            </a:avLst>
          </a:prstGeom>
          <a:solidFill>
            <a:srgbClr val="1A5D2A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hlinkClick r:id="rId3"/>
          </p:cNvPr>
          <p:cNvSpPr/>
          <p:nvPr/>
        </p:nvSpPr>
        <p:spPr>
          <a:xfrm>
            <a:off x="7479792" y="146304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gh.io/stacks</a:t>
            </a:r>
            <a:endParaRPr lang="en-US" sz="1050" dirty="0"/>
          </a:p>
        </p:txBody>
      </p:sp>
      <p:pic>
        <p:nvPicPr>
          <p:cNvPr id="48" name="Image 0" descr="/root/projects/work/gh-stack-demo/slides/github-invertocat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137160"/>
            <a:ext cx="301752" cy="301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381000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01" y="622250"/>
            <a:ext cx="8342578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branches to one visible stack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82501" y="1124396"/>
            <a:ext cx="8342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2200"/>
              </a:spcAft>
              <a:buNone/>
            </a:pPr>
            <a:r>
              <a:rPr lang="en-US" sz="1600" dirty="0">
                <a:solidFill>
                  <a:srgbClr val="B1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 handles branch order, pull-request bases, rebases, and merging.</a:t>
            </a:r>
            <a:endParaRPr lang="en-US" sz="16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993342-5A84-6EB4-3DD9-8258D925D921}"/>
              </a:ext>
            </a:extLst>
          </p:cNvPr>
          <p:cNvGrpSpPr/>
          <p:nvPr/>
        </p:nvGrpSpPr>
        <p:grpSpPr>
          <a:xfrm>
            <a:off x="482501" y="1641872"/>
            <a:ext cx="2404616" cy="2479477"/>
            <a:chOff x="482501" y="1641872"/>
            <a:chExt cx="2404616" cy="2479477"/>
          </a:xfrm>
        </p:grpSpPr>
        <p:sp>
          <p:nvSpPr>
            <p:cNvPr id="5" name="Text 3"/>
            <p:cNvSpPr/>
            <p:nvPr/>
          </p:nvSpPr>
          <p:spPr>
            <a:xfrm>
              <a:off x="482501" y="1641872"/>
              <a:ext cx="2404616" cy="2479477"/>
            </a:xfrm>
            <a:prstGeom prst="roundRect">
              <a:avLst>
                <a:gd name="adj" fmla="val 6338"/>
              </a:avLst>
            </a:prstGeom>
            <a:solidFill>
              <a:srgbClr val="161B22"/>
            </a:solidFill>
            <a:ln w="19050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92051" y="1851422"/>
              <a:ext cx="342900" cy="342900"/>
            </a:xfrm>
            <a:prstGeom prst="roundRect">
              <a:avLst>
                <a:gd name="adj" fmla="val 266667"/>
              </a:avLst>
            </a:prstGeom>
            <a:solidFill>
              <a:srgbClr val="1F6FE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22871" y="1933873"/>
              <a:ext cx="82885" cy="177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b="1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92051" y="2333923"/>
              <a:ext cx="2025226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17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Create layers</a:t>
              </a:r>
              <a:endParaRPr lang="en-US" sz="17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92051" y="2692598"/>
              <a:ext cx="2025226" cy="533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Start the stack, then add one branch per reviewable concern.</a:t>
              </a:r>
              <a:endParaRPr lang="en-US" sz="11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92051" y="3338810"/>
              <a:ext cx="1985516" cy="572988"/>
            </a:xfrm>
            <a:prstGeom prst="roundRect">
              <a:avLst>
                <a:gd name="adj" fmla="val 13299"/>
              </a:avLst>
            </a:prstGeom>
            <a:solidFill>
              <a:srgbClr val="010409"/>
            </a:solidFill>
            <a:ln w="9525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15876" y="3462635"/>
              <a:ext cx="1772623" cy="3253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init</a:t>
              </a:r>
              <a:endParaRPr lang="en-US" sz="1050" dirty="0"/>
            </a:p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add</a:t>
              </a:r>
              <a:endParaRPr lang="en-US" sz="105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2988766" y="2719685"/>
            <a:ext cx="2849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289C23A-3201-9E69-DBF2-1502D6F61EB7}"/>
              </a:ext>
            </a:extLst>
          </p:cNvPr>
          <p:cNvGrpSpPr/>
          <p:nvPr/>
        </p:nvGrpSpPr>
        <p:grpSpPr>
          <a:xfrm>
            <a:off x="3369618" y="1641872"/>
            <a:ext cx="2404765" cy="2479477"/>
            <a:chOff x="3369618" y="1641872"/>
            <a:chExt cx="2404765" cy="2479477"/>
          </a:xfrm>
        </p:grpSpPr>
        <p:sp>
          <p:nvSpPr>
            <p:cNvPr id="13" name="Text 11"/>
            <p:cNvSpPr/>
            <p:nvPr/>
          </p:nvSpPr>
          <p:spPr>
            <a:xfrm>
              <a:off x="3369618" y="1641872"/>
              <a:ext cx="2404765" cy="2479477"/>
            </a:xfrm>
            <a:prstGeom prst="roundRect">
              <a:avLst>
                <a:gd name="adj" fmla="val 6337"/>
              </a:avLst>
            </a:prstGeom>
            <a:solidFill>
              <a:srgbClr val="161B22"/>
            </a:solidFill>
            <a:ln w="19050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579168" y="1851422"/>
              <a:ext cx="342900" cy="342900"/>
            </a:xfrm>
            <a:prstGeom prst="roundRect">
              <a:avLst>
                <a:gd name="adj" fmla="val 266667"/>
              </a:avLst>
            </a:prstGeom>
            <a:solidFill>
              <a:srgbClr val="1F6FE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709988" y="1933873"/>
              <a:ext cx="82885" cy="177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b="1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579168" y="2333923"/>
              <a:ext cx="2025378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17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Submit once</a:t>
              </a:r>
              <a:endParaRPr lang="en-US" sz="17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579168" y="2692598"/>
              <a:ext cx="2025378" cy="533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Push branches, create correctly based PRs, and link the stack.</a:t>
              </a:r>
              <a:endParaRPr lang="en-US" sz="11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579168" y="3501479"/>
              <a:ext cx="1985665" cy="410319"/>
            </a:xfrm>
            <a:prstGeom prst="roundRect">
              <a:avLst>
                <a:gd name="adj" fmla="val 18571"/>
              </a:avLst>
            </a:prstGeom>
            <a:solidFill>
              <a:srgbClr val="010409"/>
            </a:solidFill>
            <a:ln w="9525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702993" y="3625304"/>
              <a:ext cx="1772775" cy="162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submit</a:t>
              </a:r>
              <a:endParaRPr lang="en-US" sz="105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5876032" y="2719685"/>
            <a:ext cx="2849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BCB05C5-A67B-70DE-7AF1-E949096C62DF}"/>
              </a:ext>
            </a:extLst>
          </p:cNvPr>
          <p:cNvGrpSpPr/>
          <p:nvPr/>
        </p:nvGrpSpPr>
        <p:grpSpPr>
          <a:xfrm>
            <a:off x="6256883" y="1641872"/>
            <a:ext cx="2404616" cy="2479477"/>
            <a:chOff x="6256883" y="1641872"/>
            <a:chExt cx="2404616" cy="2479477"/>
          </a:xfrm>
        </p:grpSpPr>
        <p:sp>
          <p:nvSpPr>
            <p:cNvPr id="21" name="Text 19"/>
            <p:cNvSpPr/>
            <p:nvPr/>
          </p:nvSpPr>
          <p:spPr>
            <a:xfrm>
              <a:off x="6256883" y="1641872"/>
              <a:ext cx="2404616" cy="2479477"/>
            </a:xfrm>
            <a:prstGeom prst="roundRect">
              <a:avLst>
                <a:gd name="adj" fmla="val 6338"/>
              </a:avLst>
            </a:prstGeom>
            <a:solidFill>
              <a:srgbClr val="161B22"/>
            </a:solidFill>
            <a:ln w="19050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466433" y="1851422"/>
              <a:ext cx="342900" cy="342900"/>
            </a:xfrm>
            <a:prstGeom prst="roundRect">
              <a:avLst>
                <a:gd name="adj" fmla="val 266667"/>
              </a:avLst>
            </a:prstGeom>
            <a:solidFill>
              <a:srgbClr val="1F6FE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597253" y="1933873"/>
              <a:ext cx="82885" cy="177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b="1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1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466433" y="2333923"/>
              <a:ext cx="2025226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800"/>
                </a:spcAft>
                <a:buNone/>
              </a:pPr>
              <a:r>
                <a:rPr lang="en-US" sz="1700" b="1" dirty="0">
                  <a:solidFill>
                    <a:srgbClr val="F0F6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Review + land</a:t>
              </a:r>
              <a:endParaRPr lang="en-US" sz="17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466433" y="2692598"/>
              <a:ext cx="2025226" cy="5339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3"/>
                </a:lnSpc>
                <a:buNone/>
              </a:pPr>
              <a:r>
                <a:rPr lang="en-US" sz="1150" dirty="0">
                  <a:solidFill>
                    <a:srgbClr val="B1BA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Review focused diffs, update dependent layers, then land all or part of the stack.</a:t>
              </a:r>
              <a:endParaRPr lang="en-US" sz="11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466433" y="3338810"/>
              <a:ext cx="1985516" cy="572988"/>
            </a:xfrm>
            <a:prstGeom prst="roundRect">
              <a:avLst>
                <a:gd name="adj" fmla="val 13299"/>
              </a:avLst>
            </a:prstGeom>
            <a:solidFill>
              <a:srgbClr val="010409"/>
            </a:solidFill>
            <a:ln w="9525">
              <a:solidFill>
                <a:srgbClr val="30363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590258" y="3462635"/>
              <a:ext cx="1772623" cy="3253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sync</a:t>
              </a:r>
              <a:endParaRPr lang="en-US" sz="1050" dirty="0"/>
            </a:p>
            <a:p>
              <a:pPr marL="0" indent="0" algn="l">
                <a:lnSpc>
                  <a:spcPts val="1281"/>
                </a:lnSpc>
                <a:buNone/>
              </a:pPr>
              <a:r>
                <a:rPr lang="en-US" sz="1050" dirty="0">
                  <a:solidFill>
                    <a:srgbClr val="79C0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gh stack merge</a:t>
              </a:r>
              <a:endParaRPr lang="en-US" sz="10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75F615-0BA6-9698-0E7D-0013C0B4CCC8}"/>
              </a:ext>
            </a:extLst>
          </p:cNvPr>
          <p:cNvGrpSpPr/>
          <p:nvPr/>
        </p:nvGrpSpPr>
        <p:grpSpPr>
          <a:xfrm>
            <a:off x="482501" y="4299049"/>
            <a:ext cx="8178998" cy="463451"/>
            <a:chOff x="482501" y="4299049"/>
            <a:chExt cx="8178998" cy="463451"/>
          </a:xfrm>
        </p:grpSpPr>
        <p:sp>
          <p:nvSpPr>
            <p:cNvPr id="28" name="Text 26"/>
            <p:cNvSpPr/>
            <p:nvPr/>
          </p:nvSpPr>
          <p:spPr>
            <a:xfrm>
              <a:off x="482501" y="4299049"/>
              <a:ext cx="8178998" cy="463451"/>
            </a:xfrm>
            <a:prstGeom prst="rect">
              <a:avLst/>
            </a:prstGeom>
            <a:solidFill>
              <a:srgbClr val="122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11076" y="4299049"/>
              <a:ext cx="0" cy="463451"/>
            </a:xfrm>
            <a:prstGeom prst="line">
              <a:avLst/>
            </a:prstGeom>
            <a:noFill/>
            <a:ln w="57150">
              <a:solidFill>
                <a:srgbClr val="3FB9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717352" y="4426000"/>
              <a:ext cx="7921776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56D36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result:</a:t>
              </a:r>
              <a:r>
                <a:rPr lang="en-US" sz="1400" dirty="0">
                  <a:solidFill>
                    <a:srgbClr val="D2F4D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smaller reviews without serial development.</a:t>
              </a:r>
              <a:endParaRPr lang="en-US" sz="14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7479792" y="146304"/>
            <a:ext cx="1078992" cy="283464"/>
          </a:xfrm>
          <a:prstGeom prst="roundRect">
            <a:avLst>
              <a:gd name="adj" fmla="val 19355"/>
            </a:avLst>
          </a:prstGeom>
          <a:solidFill>
            <a:srgbClr val="1A5D2A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hlinkClick r:id="rId3"/>
          </p:cNvPr>
          <p:cNvSpPr/>
          <p:nvPr/>
        </p:nvSpPr>
        <p:spPr>
          <a:xfrm>
            <a:off x="7479792" y="146304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gh.io/stacks</a:t>
            </a:r>
            <a:endParaRPr lang="en-US" sz="1050" dirty="0"/>
          </a:p>
        </p:txBody>
      </p:sp>
      <p:pic>
        <p:nvPicPr>
          <p:cNvPr id="33" name="Image 0" descr="/root/projects/work/gh-stack-demo/slides/github-invertocat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137160"/>
            <a:ext cx="301752" cy="301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01" y="355550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STACK, START TO FINISH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2501" y="584150"/>
            <a:ext cx="834257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three stacked pull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82501" y="1033611"/>
            <a:ext cx="83425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sz="1400" dirty="0">
                <a:solidFill>
                  <a:srgbClr val="B1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this inside a clean repository with an authenticated GitHub CLI and a configured remote.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551" y="1433661"/>
            <a:ext cx="8996898" cy="3074938"/>
          </a:xfrm>
          <a:prstGeom prst="roundRect">
            <a:avLst>
              <a:gd name="adj" fmla="val 4130"/>
            </a:avLst>
          </a:prstGeom>
          <a:solidFill>
            <a:srgbClr val="010409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4506" y="1452711"/>
            <a:ext cx="8954988" cy="3555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1551" y="1803499"/>
            <a:ext cx="814089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292" y="158129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7B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2342" y="158129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D299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7392" y="158129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75144" y="1532432"/>
            <a:ext cx="1605618" cy="186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gh-stack-demo — bash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9268" y="1947863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once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268" y="2131516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extension install github/gh-stack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268" y="2315170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Layer 1: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268" y="2498824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stack init feature/task-model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268" y="2682478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 src/tasks.js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268" y="2866132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src/tasks.js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268" y="3049786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"feat: add task model"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268" y="3233440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Layer 2: 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268" y="3417094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stack add feature/task-validation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268" y="3600748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 src/tasks.js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268" y="3784402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src/tasks.js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268" y="3968055"/>
            <a:ext cx="4452493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"feat: validate task titles"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66196" y="1947863"/>
            <a:ext cx="11757" cy="240208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81717" y="1947863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Layer 3: tests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81717" y="2131516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stack add test/task-model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81717" y="2315170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 test/tasks.test.js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81717" y="2498824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test/tasks.test.js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17" y="2682478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"test: cover task creation and validation"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81717" y="2866132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Inspect, then create all three PRs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81717" y="3049786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stack view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81717" y="3233440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stack submit --auto --open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717" y="3417094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submit pushes, opens PRs, and links the stack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81717" y="3600748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Later: update and land the stack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81717" y="3784402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stack sync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81717" y="3968055"/>
            <a:ext cx="445230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8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stack merge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2501" y="4635550"/>
            <a:ext cx="4166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6D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</a:t>
            </a:r>
            <a:r>
              <a:rPr lang="en-US" sz="1050" dirty="0">
                <a:solidFill>
                  <a:srgbClr val="D2F4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 each focused change before adding the next layer.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79792" y="146304"/>
            <a:ext cx="1078992" cy="283464"/>
          </a:xfrm>
          <a:prstGeom prst="roundRect">
            <a:avLst>
              <a:gd name="adj" fmla="val 19355"/>
            </a:avLst>
          </a:prstGeom>
          <a:solidFill>
            <a:srgbClr val="1A5D2A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hlinkClick r:id="rId2"/>
          </p:cNvPr>
          <p:cNvSpPr/>
          <p:nvPr/>
        </p:nvSpPr>
        <p:spPr>
          <a:xfrm>
            <a:off x="7479792" y="146304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gh.io/stacks</a:t>
            </a:r>
            <a:endParaRPr lang="en-US" sz="1050" dirty="0"/>
          </a:p>
        </p:txBody>
      </p:sp>
      <p:pic>
        <p:nvPicPr>
          <p:cNvPr id="41" name="Image 0" descr="/root/projects/work/gh-stack-demo/slides/github-invertocat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137160"/>
            <a:ext cx="301752" cy="30175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49F82F5-1A90-4E9E-7917-95A0558D5451}"/>
              </a:ext>
            </a:extLst>
          </p:cNvPr>
          <p:cNvSpPr txBox="1"/>
          <p:nvPr/>
        </p:nvSpPr>
        <p:spPr>
          <a:xfrm>
            <a:off x="4116324" y="4590707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dirty="0">
                <a:solidFill>
                  <a:schemeClr val="bg1"/>
                </a:solidFill>
              </a:rPr>
              <a:t>https://</a:t>
            </a:r>
            <a:r>
              <a:rPr lang="en-US" sz="1100" dirty="0" err="1">
                <a:solidFill>
                  <a:schemeClr val="bg1"/>
                </a:solidFill>
              </a:rPr>
              <a:t>github.com</a:t>
            </a:r>
            <a:r>
              <a:rPr lang="en-US" sz="1100" dirty="0">
                <a:solidFill>
                  <a:schemeClr val="bg1"/>
                </a:solidFill>
              </a:rPr>
              <a:t>/</a:t>
            </a:r>
            <a:r>
              <a:rPr lang="en-US" sz="1100" dirty="0" err="1">
                <a:solidFill>
                  <a:schemeClr val="bg1"/>
                </a:solidFill>
              </a:rPr>
              <a:t>DanWahlin</a:t>
            </a:r>
            <a:r>
              <a:rPr lang="en-US" sz="1100" dirty="0">
                <a:solidFill>
                  <a:schemeClr val="bg1"/>
                </a:solidFill>
              </a:rPr>
              <a:t>/</a:t>
            </a:r>
            <a:r>
              <a:rPr lang="en-US" sz="1100" dirty="0" err="1">
                <a:solidFill>
                  <a:schemeClr val="bg1"/>
                </a:solidFill>
              </a:rPr>
              <a:t>gh</a:t>
            </a:r>
            <a:r>
              <a:rPr lang="en-US" sz="1100" dirty="0">
                <a:solidFill>
                  <a:schemeClr val="bg1"/>
                </a:solidFill>
              </a:rPr>
              <a:t>-stack-demo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564</Words>
  <Application>Microsoft Macintosh PowerPoint</Application>
  <PresentationFormat>On-screen Show (16:9)</PresentationFormat>
  <Paragraphs>91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Code with 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Stacked PRs: Smaller Reviews Without Serial Development</dc:title>
  <dc:subject>GitHub Stacked PRs</dc:subject>
  <dc:creator>Dan Wahlin</dc:creator>
  <cp:lastModifiedBy>Dan Wahlin</cp:lastModifiedBy>
  <cp:revision>11</cp:revision>
  <dcterms:created xsi:type="dcterms:W3CDTF">2026-07-30T16:46:04Z</dcterms:created>
  <dcterms:modified xsi:type="dcterms:W3CDTF">2026-07-30T19:36:00Z</dcterms:modified>
</cp:coreProperties>
</file>