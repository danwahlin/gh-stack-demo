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  <p:sldId id="260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Relationship Id="rId11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454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1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2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3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h.io/stacks" TargetMode="External"/><Relationship Id="rId3" Type="http://schemas.openxmlformats.org/officeDocument/2006/relationships/hyperlink" Target="https://github.com" TargetMode="External"/><Relationship Id="rId2" Type="http://schemas.openxmlformats.org/officeDocument/2006/relationships/image" Target="../media/image1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1396901"/>
            <a:ext cx="711101" cy="63401"/>
          </a:xfrm>
          <a:prstGeom prst="rect">
            <a:avLst/>
          </a:prstGeom>
          <a:solidFill>
            <a:srgbClr val="2EA04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82501" y="1850827"/>
            <a:ext cx="7642759" cy="104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4"/>
              </a:lnSpc>
              <a:buNone/>
            </a:pPr>
            <a:r>
              <a:rPr lang="en-US" sz="3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 with GitHub Stacked PRs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82501" y="3121819"/>
            <a:ext cx="7383780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10"/>
              </a:lnSpc>
              <a:spcBef>
                <a:spcPts val="1800"/>
              </a:spcBef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large changes into smaller, dependent pull requests that stay connected and remain independently reviewable.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9" name="Image 0" descr="/root/projects/work/gh-stack-demo/slides/github-invertoca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3A1C85F-517F-BA52-26BF-726175D26E73}"/>
              </a:ext>
            </a:extLst>
          </p:cNvPr>
          <p:cNvGrpSpPr/>
          <p:nvPr/>
        </p:nvGrpSpPr>
        <p:grpSpPr>
          <a:xfrm>
            <a:off x="482501" y="1992957"/>
            <a:ext cx="3925788" cy="2603450"/>
            <a:chOff x="482501" y="1992957"/>
            <a:chExt cx="3925788" cy="2603450"/>
          </a:xfrm>
        </p:grpSpPr>
        <p:sp>
          <p:nvSpPr>
            <p:cNvPr id="5" name="Text 3"/>
            <p:cNvSpPr/>
            <p:nvPr/>
          </p:nvSpPr>
          <p:spPr>
            <a:xfrm>
              <a:off x="482501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82501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F85149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39876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482501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92026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755452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FF7B7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1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55452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One giant PR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55452" y="2970609"/>
              <a:ext cx="3447484" cy="6666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Everything arrives at once. Reviewers must untangle the model, validation, and tests together.</a:t>
              </a:r>
              <a:endParaRPr lang="en-US" sz="1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55452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446609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37916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829074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38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8B28B7F-58A8-6F71-98C7-4A22E2DD04F7}"/>
              </a:ext>
            </a:extLst>
          </p:cNvPr>
          <p:cNvGrpSpPr/>
          <p:nvPr/>
        </p:nvGrpSpPr>
        <p:grpSpPr>
          <a:xfrm>
            <a:off x="4636889" y="1992957"/>
            <a:ext cx="3925788" cy="2603450"/>
            <a:chOff x="4636889" y="1992957"/>
            <a:chExt cx="3925788" cy="2603450"/>
          </a:xfrm>
        </p:grpSpPr>
        <p:sp>
          <p:nvSpPr>
            <p:cNvPr id="18" name="Text 16"/>
            <p:cNvSpPr/>
            <p:nvPr/>
          </p:nvSpPr>
          <p:spPr>
            <a:xfrm>
              <a:off x="4636889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36889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D2992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8553152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4636889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464641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909840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E3B34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2</a:t>
              </a:r>
              <a:endParaRPr lang="en-US" sz="14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909840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Small, serial PRs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909840" y="2970609"/>
              <a:ext cx="3447484" cy="4444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diffs are focused, but dependent work waits for every previous PR to merge.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490984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D299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00998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292304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983462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674769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sp>
        <p:nvSpPr>
          <p:cNvPr id="32" name="Shape 30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4" name="Image 0" descr="/root/projects/work/gh-stack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76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16"/>
              </a:lnSpc>
              <a:buNone/>
            </a:pPr>
            <a:r>
              <a:rPr lang="en-US" sz="29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pull request into reviewable layers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82501" y="2200721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557314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817465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pull request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534966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tests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3129409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511578A-7A7F-BE54-86A7-F324E6E38D72}"/>
              </a:ext>
            </a:extLst>
          </p:cNvPr>
          <p:cNvGrpSpPr/>
          <p:nvPr/>
        </p:nvGrpSpPr>
        <p:grpSpPr>
          <a:xfrm>
            <a:off x="3763566" y="2181523"/>
            <a:ext cx="2550914" cy="609600"/>
            <a:chOff x="3763566" y="2181523"/>
            <a:chExt cx="2550914" cy="609600"/>
          </a:xfrm>
        </p:grpSpPr>
        <p:sp>
          <p:nvSpPr>
            <p:cNvPr id="10" name="Text 8"/>
            <p:cNvSpPr/>
            <p:nvPr/>
          </p:nvSpPr>
          <p:spPr>
            <a:xfrm>
              <a:off x="3763566" y="21815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63566" y="21910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4955" y="21815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763566" y="27815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801666" y="21815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004816" y="23815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3</a:t>
              </a:r>
              <a:endParaRPr lang="en-US" sz="14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500539" y="2440559"/>
              <a:ext cx="543283" cy="129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APIs</a:t>
              </a:r>
              <a:endParaRPr lang="en-US" sz="105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DE1B6C8-A065-8D8B-99D9-BD181CE3324F}"/>
              </a:ext>
            </a:extLst>
          </p:cNvPr>
          <p:cNvGrpSpPr/>
          <p:nvPr/>
        </p:nvGrpSpPr>
        <p:grpSpPr>
          <a:xfrm>
            <a:off x="3763566" y="2867323"/>
            <a:ext cx="2550914" cy="609600"/>
            <a:chOff x="3763566" y="2867323"/>
            <a:chExt cx="2550914" cy="609600"/>
          </a:xfrm>
        </p:grpSpPr>
        <p:sp>
          <p:nvSpPr>
            <p:cNvPr id="17" name="Text 15"/>
            <p:cNvSpPr/>
            <p:nvPr/>
          </p:nvSpPr>
          <p:spPr>
            <a:xfrm>
              <a:off x="3763566" y="28673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63566" y="28768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6304955" y="28673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3763566" y="34673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3801666" y="28673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4004816" y="30673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2</a:t>
              </a:r>
              <a:endParaRPr lang="en-US" sz="14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500539" y="3095923"/>
              <a:ext cx="642437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Model</a:t>
              </a:r>
              <a:endParaRPr lang="en-US" sz="105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05F821D-18FE-4EFB-EBE2-AFD86236330E}"/>
              </a:ext>
            </a:extLst>
          </p:cNvPr>
          <p:cNvGrpSpPr/>
          <p:nvPr/>
        </p:nvGrpSpPr>
        <p:grpSpPr>
          <a:xfrm>
            <a:off x="3763566" y="3553123"/>
            <a:ext cx="2550914" cy="609600"/>
            <a:chOff x="3763566" y="3553123"/>
            <a:chExt cx="2550914" cy="609600"/>
          </a:xfrm>
        </p:grpSpPr>
        <p:sp>
          <p:nvSpPr>
            <p:cNvPr id="24" name="Text 22"/>
            <p:cNvSpPr/>
            <p:nvPr/>
          </p:nvSpPr>
          <p:spPr>
            <a:xfrm>
              <a:off x="3763566" y="35531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63566" y="35626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6304955" y="35531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3763566" y="41531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801666" y="35531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4004816" y="37531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1</a:t>
              </a:r>
              <a:endParaRPr lang="en-US" sz="14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500539" y="3778211"/>
              <a:ext cx="393022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Tests</a:t>
              </a:r>
              <a:endParaRPr lang="en-US" sz="105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6936F7E-53E6-C95B-56A0-ED0E4D98B596}"/>
              </a:ext>
            </a:extLst>
          </p:cNvPr>
          <p:cNvGrpSpPr/>
          <p:nvPr/>
        </p:nvGrpSpPr>
        <p:grpSpPr>
          <a:xfrm>
            <a:off x="3696444" y="4264223"/>
            <a:ext cx="2685306" cy="317450"/>
            <a:chOff x="3696444" y="4264223"/>
            <a:chExt cx="2685306" cy="317450"/>
          </a:xfrm>
        </p:grpSpPr>
        <p:sp>
          <p:nvSpPr>
            <p:cNvPr id="31" name="Text 29"/>
            <p:cNvSpPr/>
            <p:nvPr/>
          </p:nvSpPr>
          <p:spPr>
            <a:xfrm>
              <a:off x="3696444" y="4264223"/>
              <a:ext cx="2685306" cy="317450"/>
            </a:xfrm>
            <a:prstGeom prst="rect">
              <a:avLst/>
            </a:prstGeom>
            <a:solidFill>
              <a:srgbClr val="111D2E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696444" y="4283273"/>
              <a:ext cx="2685306" cy="0"/>
            </a:xfrm>
            <a:prstGeom prst="line">
              <a:avLst/>
            </a:prstGeom>
            <a:noFill/>
            <a:ln w="38100">
              <a:solidFill>
                <a:srgbClr val="58A6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4876800" y="4370487"/>
              <a:ext cx="330934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MAIN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629951B-478D-FE58-5112-9F554ECBC60E}"/>
              </a:ext>
            </a:extLst>
          </p:cNvPr>
          <p:cNvGrpSpPr/>
          <p:nvPr/>
        </p:nvGrpSpPr>
        <p:grpSpPr>
          <a:xfrm>
            <a:off x="6635651" y="1940719"/>
            <a:ext cx="2025848" cy="806648"/>
            <a:chOff x="6635651" y="1940719"/>
            <a:chExt cx="2025848" cy="806648"/>
          </a:xfrm>
        </p:grpSpPr>
        <p:sp>
          <p:nvSpPr>
            <p:cNvPr id="34" name="Text 32"/>
            <p:cNvSpPr/>
            <p:nvPr/>
          </p:nvSpPr>
          <p:spPr>
            <a:xfrm>
              <a:off x="6635651" y="1940719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6659463" y="1940719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822877" y="2067669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 reviews</a:t>
              </a:r>
              <a:endParaRPr lang="en-US" sz="13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822877" y="2305794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Each layer exposes only its focused change.</a:t>
              </a:r>
              <a:endParaRPr lang="en-US" sz="105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7517EAF-813A-63F7-A6E2-F1C588B318C7}"/>
              </a:ext>
            </a:extLst>
          </p:cNvPr>
          <p:cNvGrpSpPr/>
          <p:nvPr/>
        </p:nvGrpSpPr>
        <p:grpSpPr>
          <a:xfrm>
            <a:off x="6635651" y="2861667"/>
            <a:ext cx="2025848" cy="963960"/>
            <a:chOff x="6635651" y="2861667"/>
            <a:chExt cx="2025848" cy="963960"/>
          </a:xfrm>
        </p:grpSpPr>
        <p:sp>
          <p:nvSpPr>
            <p:cNvPr id="38" name="Text 36"/>
            <p:cNvSpPr/>
            <p:nvPr/>
          </p:nvSpPr>
          <p:spPr>
            <a:xfrm>
              <a:off x="6635651" y="2861667"/>
              <a:ext cx="2025848" cy="963960"/>
            </a:xfrm>
            <a:prstGeom prst="roundRect">
              <a:avLst>
                <a:gd name="adj" fmla="val 7905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59463" y="2861667"/>
              <a:ext cx="0" cy="963960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6822877" y="2988618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Continuous progress</a:t>
              </a:r>
              <a:endParaRPr lang="en-US" sz="13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822877" y="3226743"/>
              <a:ext cx="1733002" cy="471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Dependent work can continue before lower layers merge.</a:t>
              </a:r>
              <a:endParaRPr lang="en-US" sz="105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F2A3C16-8B3C-02A0-AB90-8FD1D4662B36}"/>
              </a:ext>
            </a:extLst>
          </p:cNvPr>
          <p:cNvGrpSpPr/>
          <p:nvPr/>
        </p:nvGrpSpPr>
        <p:grpSpPr>
          <a:xfrm>
            <a:off x="6635651" y="3939927"/>
            <a:ext cx="2025848" cy="806648"/>
            <a:chOff x="6635651" y="3939927"/>
            <a:chExt cx="2025848" cy="806648"/>
          </a:xfrm>
        </p:grpSpPr>
        <p:sp>
          <p:nvSpPr>
            <p:cNvPr id="42" name="Text 40"/>
            <p:cNvSpPr/>
            <p:nvPr/>
          </p:nvSpPr>
          <p:spPr>
            <a:xfrm>
              <a:off x="6635651" y="3939927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659463" y="3939927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6822877" y="4066877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Shared context</a:t>
              </a:r>
              <a:endParaRPr lang="en-US" sz="13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6822877" y="4305002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GitHub keeps the layers connected as one stack.</a:t>
              </a:r>
              <a:endParaRPr lang="en-US" sz="1050" dirty="0"/>
            </a:p>
          </p:txBody>
        </p:sp>
      </p:grpSp>
      <p:sp>
        <p:nvSpPr>
          <p:cNvPr id="46" name="Shape 44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48" name="Image 0" descr="/root/projects/work/gh-stack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993342-5A84-6EB4-3DD9-8258D925D921}"/>
              </a:ext>
            </a:extLst>
          </p:cNvPr>
          <p:cNvGrpSpPr/>
          <p:nvPr/>
        </p:nvGrpSpPr>
        <p:grpSpPr>
          <a:xfrm>
            <a:off x="482501" y="1641872"/>
            <a:ext cx="2404616" cy="2479477"/>
            <a:chOff x="482501" y="1641872"/>
            <a:chExt cx="2404616" cy="2479477"/>
          </a:xfrm>
        </p:grpSpPr>
        <p:sp>
          <p:nvSpPr>
            <p:cNvPr id="5" name="Text 3"/>
            <p:cNvSpPr/>
            <p:nvPr/>
          </p:nvSpPr>
          <p:spPr>
            <a:xfrm>
              <a:off x="482501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2051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822871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2051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Create layers</a:t>
              </a:r>
              <a:endParaRPr lang="en-US" sz="17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92051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Start the stack, then add one branch per reviewable concern.</a:t>
              </a:r>
              <a:endParaRPr lang="en-US" sz="11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92051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15876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init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add</a:t>
              </a:r>
              <a:endParaRPr lang="en-US" sz="105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289C23A-3201-9E69-DBF2-1502D6F61EB7}"/>
              </a:ext>
            </a:extLst>
          </p:cNvPr>
          <p:cNvGrpSpPr/>
          <p:nvPr/>
        </p:nvGrpSpPr>
        <p:grpSpPr>
          <a:xfrm>
            <a:off x="3369618" y="1641872"/>
            <a:ext cx="2404765" cy="2479477"/>
            <a:chOff x="3369618" y="1641872"/>
            <a:chExt cx="2404765" cy="2479477"/>
          </a:xfrm>
        </p:grpSpPr>
        <p:sp>
          <p:nvSpPr>
            <p:cNvPr id="13" name="Text 11"/>
            <p:cNvSpPr/>
            <p:nvPr/>
          </p:nvSpPr>
          <p:spPr>
            <a:xfrm>
              <a:off x="3369618" y="1641872"/>
              <a:ext cx="2404765" cy="2479477"/>
            </a:xfrm>
            <a:prstGeom prst="roundRect">
              <a:avLst>
                <a:gd name="adj" fmla="val 6337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579168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709988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579168" y="2333923"/>
              <a:ext cx="2025378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Submit once</a:t>
              </a:r>
              <a:endParaRPr lang="en-US" sz="17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79168" y="2692598"/>
              <a:ext cx="2025378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Push branches, create correctly based PRs, and link the stack.</a:t>
              </a:r>
              <a:endParaRPr lang="en-US" sz="11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579168" y="3501479"/>
              <a:ext cx="1985665" cy="410319"/>
            </a:xfrm>
            <a:prstGeom prst="roundRect">
              <a:avLst>
                <a:gd name="adj" fmla="val 18571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702993" y="3625304"/>
              <a:ext cx="1772775" cy="1626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submit</a:t>
              </a:r>
              <a:endParaRPr lang="en-US" sz="1050" dirty="0"/>
            </a:p>
          </p:txBody>
        </p:sp>
      </p:grp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BCB05C5-A67B-70DE-7AF1-E949096C62DF}"/>
              </a:ext>
            </a:extLst>
          </p:cNvPr>
          <p:cNvGrpSpPr/>
          <p:nvPr/>
        </p:nvGrpSpPr>
        <p:grpSpPr>
          <a:xfrm>
            <a:off x="6256883" y="1641872"/>
            <a:ext cx="2404616" cy="2479477"/>
            <a:chOff x="6256883" y="1641872"/>
            <a:chExt cx="2404616" cy="2479477"/>
          </a:xfrm>
        </p:grpSpPr>
        <p:sp>
          <p:nvSpPr>
            <p:cNvPr id="21" name="Text 19"/>
            <p:cNvSpPr/>
            <p:nvPr/>
          </p:nvSpPr>
          <p:spPr>
            <a:xfrm>
              <a:off x="6256883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466433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597253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</a:t>
              </a:r>
              <a:endParaRPr lang="en-US" sz="11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466433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+ land</a:t>
              </a:r>
              <a:endParaRPr lang="en-US" sz="17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466433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focused diffs, update dependent layers, then land all or part of the stack.</a:t>
              </a:r>
              <a:endParaRPr lang="en-US" sz="11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466433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590258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sync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merge</a:t>
              </a:r>
              <a:endParaRPr lang="en-US" sz="105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75F615-0BA6-9698-0E7D-0013C0B4CCC8}"/>
              </a:ext>
            </a:extLst>
          </p:cNvPr>
          <p:cNvGrpSpPr/>
          <p:nvPr/>
        </p:nvGrpSpPr>
        <p:grpSpPr>
          <a:xfrm>
            <a:off x="482501" y="4299049"/>
            <a:ext cx="8178998" cy="463451"/>
            <a:chOff x="482501" y="4299049"/>
            <a:chExt cx="8178998" cy="463451"/>
          </a:xfrm>
        </p:grpSpPr>
        <p:sp>
          <p:nvSpPr>
            <p:cNvPr id="28" name="Text 26"/>
            <p:cNvSpPr/>
            <p:nvPr/>
          </p:nvSpPr>
          <p:spPr>
            <a:xfrm>
              <a:off x="482501" y="4299049"/>
              <a:ext cx="8178998" cy="463451"/>
            </a:xfrm>
            <a:prstGeom prst="rect">
              <a:avLst/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11076" y="4299049"/>
              <a:ext cx="0" cy="463451"/>
            </a:xfrm>
            <a:prstGeom prst="line">
              <a:avLst/>
            </a:prstGeom>
            <a:noFill/>
            <a:ln w="5715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717352" y="4426000"/>
              <a:ext cx="7921776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result:</a:t>
              </a:r>
              <a:r>
                <a:rPr lang="en-US" sz="1400" dirty="0">
                  <a:solidFill>
                    <a:srgbClr val="D2F4D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smaller reviews without serial development.</a:t>
              </a:r>
              <a:endParaRPr lang="en-US" sz="1400" dirty="0"/>
            </a:p>
          </p:txBody>
        </p:sp>
      </p:grpSp>
      <p:sp>
        <p:nvSpPr>
          <p:cNvPr id="31" name="Shape 29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3" name="Image 0" descr="/root/projects/work/gh-stack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STACK, START TO FINISH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three stacked pull requests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82501" y="1033611"/>
            <a:ext cx="8342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1500"/>
              </a:spcAft>
              <a:buNone/>
            </a:pPr>
            <a:r>
              <a:rPr lang="en-US" sz="14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this inside a clean repository with an authenticated GitHub CLI and a configured remote.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82501" y="1433661"/>
            <a:ext cx="8178998" cy="3074938"/>
          </a:xfrm>
          <a:prstGeom prst="roundRect">
            <a:avLst>
              <a:gd name="adj" fmla="val 4130"/>
            </a:avLst>
          </a:prstGeom>
          <a:solidFill>
            <a:srgbClr val="010409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1551" y="1452711"/>
            <a:ext cx="8140898" cy="355550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1551" y="1803499"/>
            <a:ext cx="8140898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115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FF7B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0620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7125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238923" y="1554212"/>
            <a:ext cx="11069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task-api — bash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04701" y="1947863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once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704701" y="2131516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extension install github/gh-stack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704701" y="2315170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1: model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704701" y="2498824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init feature/task-model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704701" y="2682478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src/model.js</a:t>
            </a:r>
            <a:endParaRPr lang="en-US" sz="960" dirty="0"/>
          </a:p>
        </p:txBody>
      </p:sp>
      <p:sp>
        <p:nvSpPr>
          <p:cNvPr id="17" name="Text 15"/>
          <p:cNvSpPr/>
          <p:nvPr/>
        </p:nvSpPr>
        <p:spPr>
          <a:xfrm>
            <a:off x="704701" y="2866132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src/model.js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704701" y="3049786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task model"</a:t>
            </a:r>
            <a:endParaRPr lang="en-US" sz="960" dirty="0"/>
          </a:p>
        </p:txBody>
      </p:sp>
      <p:sp>
        <p:nvSpPr>
          <p:cNvPr id="19" name="Text 17"/>
          <p:cNvSpPr/>
          <p:nvPr/>
        </p:nvSpPr>
        <p:spPr>
          <a:xfrm>
            <a:off x="704701" y="3233440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2: API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704701" y="3417094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feature/task-api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04701" y="3600748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src/api.js</a:t>
            </a:r>
            <a:endParaRPr lang="en-US" sz="960" dirty="0"/>
          </a:p>
        </p:txBody>
      </p:sp>
      <p:sp>
        <p:nvSpPr>
          <p:cNvPr id="22" name="Text 20"/>
          <p:cNvSpPr/>
          <p:nvPr/>
        </p:nvSpPr>
        <p:spPr>
          <a:xfrm>
            <a:off x="704701" y="3784402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src/api.js</a:t>
            </a:r>
            <a:endParaRPr lang="en-US" sz="960" dirty="0"/>
          </a:p>
        </p:txBody>
      </p:sp>
      <p:sp>
        <p:nvSpPr>
          <p:cNvPr id="23" name="Text 21"/>
          <p:cNvSpPr/>
          <p:nvPr/>
        </p:nvSpPr>
        <p:spPr>
          <a:xfrm>
            <a:off x="704701" y="3968055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task API"</a:t>
            </a:r>
            <a:endParaRPr lang="en-US" sz="960" dirty="0"/>
          </a:p>
        </p:txBody>
      </p:sp>
      <p:sp>
        <p:nvSpPr>
          <p:cNvPr id="24" name="Text 22"/>
          <p:cNvSpPr/>
          <p:nvPr/>
        </p:nvSpPr>
        <p:spPr>
          <a:xfrm>
            <a:off x="4566196" y="1947863"/>
            <a:ext cx="11757" cy="240208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831854" y="1947863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3: tests</a:t>
            </a:r>
            <a:endParaRPr lang="en-US" sz="960" dirty="0"/>
          </a:p>
        </p:txBody>
      </p:sp>
      <p:sp>
        <p:nvSpPr>
          <p:cNvPr id="26" name="Text 24"/>
          <p:cNvSpPr/>
          <p:nvPr/>
        </p:nvSpPr>
        <p:spPr>
          <a:xfrm>
            <a:off x="4831854" y="2131516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test/task-api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4831854" y="2315170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test/api.test.js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4831854" y="2498824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test/api.test.js</a:t>
            </a:r>
            <a:endParaRPr lang="en-US" sz="960" dirty="0"/>
          </a:p>
        </p:txBody>
      </p:sp>
      <p:sp>
        <p:nvSpPr>
          <p:cNvPr id="29" name="Text 27"/>
          <p:cNvSpPr/>
          <p:nvPr/>
        </p:nvSpPr>
        <p:spPr>
          <a:xfrm>
            <a:off x="4831854" y="2682478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"test: cover task API"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4831854" y="2866132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Inspect, then create all three PRs</a:t>
            </a:r>
            <a:endParaRPr lang="en-US" sz="960" dirty="0"/>
          </a:p>
        </p:txBody>
      </p:sp>
      <p:sp>
        <p:nvSpPr>
          <p:cNvPr id="31" name="Text 29"/>
          <p:cNvSpPr/>
          <p:nvPr/>
        </p:nvSpPr>
        <p:spPr>
          <a:xfrm>
            <a:off x="4831854" y="3049786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view</a:t>
            </a:r>
            <a:endParaRPr lang="en-US" sz="960" dirty="0"/>
          </a:p>
        </p:txBody>
      </p:sp>
      <p:sp>
        <p:nvSpPr>
          <p:cNvPr id="32" name="Text 30"/>
          <p:cNvSpPr/>
          <p:nvPr/>
        </p:nvSpPr>
        <p:spPr>
          <a:xfrm>
            <a:off x="4831854" y="3233440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submit</a:t>
            </a:r>
            <a:endParaRPr lang="en-US" sz="960" dirty="0"/>
          </a:p>
        </p:txBody>
      </p:sp>
      <p:sp>
        <p:nvSpPr>
          <p:cNvPr id="33" name="Text 31"/>
          <p:cNvSpPr/>
          <p:nvPr/>
        </p:nvSpPr>
        <p:spPr>
          <a:xfrm>
            <a:off x="4831854" y="3417094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submit pushes, opens PRs, and links the stack</a:t>
            </a:r>
            <a:endParaRPr lang="en-US" sz="960" dirty="0"/>
          </a:p>
        </p:txBody>
      </p:sp>
      <p:sp>
        <p:nvSpPr>
          <p:cNvPr id="34" name="Text 32"/>
          <p:cNvSpPr/>
          <p:nvPr/>
        </p:nvSpPr>
        <p:spPr>
          <a:xfrm>
            <a:off x="4831854" y="3600748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Later: update and land the stack</a:t>
            </a:r>
            <a:endParaRPr lang="en-US" sz="960" dirty="0"/>
          </a:p>
        </p:txBody>
      </p:sp>
      <p:sp>
        <p:nvSpPr>
          <p:cNvPr id="35" name="Text 33"/>
          <p:cNvSpPr/>
          <p:nvPr/>
        </p:nvSpPr>
        <p:spPr>
          <a:xfrm>
            <a:off x="4831854" y="3784402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sync</a:t>
            </a:r>
            <a:endParaRPr lang="en-US" sz="960" dirty="0"/>
          </a:p>
        </p:txBody>
      </p:sp>
      <p:sp>
        <p:nvSpPr>
          <p:cNvPr id="36" name="Text 34"/>
          <p:cNvSpPr/>
          <p:nvPr/>
        </p:nvSpPr>
        <p:spPr>
          <a:xfrm>
            <a:off x="4831854" y="3968055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96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merge</a:t>
            </a:r>
            <a:endParaRPr lang="en-US" sz="960" dirty="0"/>
          </a:p>
        </p:txBody>
      </p:sp>
      <p:sp>
        <p:nvSpPr>
          <p:cNvPr id="37" name="Text 35"/>
          <p:cNvSpPr/>
          <p:nvPr/>
        </p:nvSpPr>
        <p:spPr>
          <a:xfrm>
            <a:off x="482501" y="4635550"/>
            <a:ext cx="4166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idea:</a:t>
            </a:r>
            <a:pPr algn="l" indent="0" marL="0">
              <a:buNone/>
            </a:pPr>
            <a:r>
              <a:rPr lang="en-US" sz="105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commit each focused change before adding the next layer.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636889" y="4635550"/>
            <a:ext cx="41051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submit lets you review titles, descriptions, and draft state.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0" name="Text 38">
            <a:hlinkClick r:id="rId1" tooltip="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41" name="Image 0" descr="/root/projects/work/gh-stack-demo/slides/github-invertocat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326</Words>
  <Application>Microsoft Macintosh PowerPoint</Application>
  <PresentationFormat>On-screen Show (16:9)</PresentationFormat>
  <Paragraphs>60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Create Three Stacked Pull Requests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8</cp:revision>
  <dcterms:created xsi:type="dcterms:W3CDTF">2026-07-30T16:46:04Z</dcterms:created>
  <dcterms:modified xsi:type="dcterms:W3CDTF">2026-07-30T18:38:20Z</dcterms:modified>
</cp:coreProperties>
</file>