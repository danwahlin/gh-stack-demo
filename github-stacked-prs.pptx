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1 of 3. See VIDEO.md for narration and shot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2 of 3. See VIDEO.md for narration and shot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3 of 3. See VIDEO.md for narration and shot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h.io/stacks" TargetMode="External"/><Relationship Id="rId3" Type="http://schemas.openxmlformats.org/officeDocument/2006/relationships/hyperlink" Target="https://github.com" TargetMode="External"/><Relationship Id="rId2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h.io/stacks" TargetMode="External"/><Relationship Id="rId3" Type="http://schemas.openxmlformats.org/officeDocument/2006/relationships/hyperlink" Target="https://github.com" TargetMode="External"/><Relationship Id="rId2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h.io/stacks" TargetMode="External"/><Relationship Id="rId3" Type="http://schemas.openxmlformats.org/officeDocument/2006/relationships/hyperlink" Target="https://github.com" TargetMode="External"/><Relationship Id="rId2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031379" cy="83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spcAft>
                <a:spcPts val="800"/>
              </a:spcAft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feature creates an awkward choice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558082"/>
            <a:ext cx="83425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for review speed, or development speed?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82501" y="1992957"/>
            <a:ext cx="3925788" cy="2603450"/>
          </a:xfrm>
          <a:prstGeom prst="roundRect">
            <a:avLst>
              <a:gd name="adj" fmla="val 634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82501" y="2031057"/>
            <a:ext cx="3925788" cy="0"/>
          </a:xfrm>
          <a:prstGeom prst="line">
            <a:avLst/>
          </a:prstGeom>
          <a:noFill/>
          <a:ln w="76200">
            <a:solidFill>
              <a:srgbClr val="F851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98764" y="1992957"/>
            <a:ext cx="0" cy="260345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2501" y="4586883"/>
            <a:ext cx="3925788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2026" y="1992957"/>
            <a:ext cx="0" cy="260345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5452" y="2323058"/>
            <a:ext cx="3447484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55452" y="2545259"/>
            <a:ext cx="344748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giant PR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55452" y="2970609"/>
            <a:ext cx="3447484" cy="66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arrives at once. Reviewers must untangle the model, validation, and tests together.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55452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446609" y="4006007"/>
            <a:ext cx="615107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137916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829074" y="4006007"/>
            <a:ext cx="615107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520380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636889" y="1992957"/>
            <a:ext cx="3925788" cy="2603450"/>
          </a:xfrm>
          <a:prstGeom prst="roundRect">
            <a:avLst>
              <a:gd name="adj" fmla="val 634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636889" y="2031057"/>
            <a:ext cx="3925788" cy="0"/>
          </a:xfrm>
          <a:prstGeom prst="line">
            <a:avLst/>
          </a:prstGeom>
          <a:noFill/>
          <a:ln w="76200">
            <a:solidFill>
              <a:srgbClr val="D2992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53152" y="1992957"/>
            <a:ext cx="0" cy="260345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36889" y="4586883"/>
            <a:ext cx="3925788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46414" y="1992957"/>
            <a:ext cx="0" cy="260345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09840" y="2323058"/>
            <a:ext cx="3447484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E3B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2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09840" y="2545259"/>
            <a:ext cx="344748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Small, serial PRs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909840" y="2970609"/>
            <a:ext cx="3447484" cy="444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diffs are focused, but dependent work waits for every previous PR to merge.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09840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D299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600998" y="4006007"/>
            <a:ext cx="615107" cy="317450"/>
          </a:xfrm>
          <a:prstGeom prst="roundRect">
            <a:avLst>
              <a:gd name="adj" fmla="val 16003"/>
            </a:avLst>
          </a:prstGeom>
          <a:solidFill>
            <a:srgbClr val="3036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292304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3036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983462" y="4006007"/>
            <a:ext cx="615107" cy="317450"/>
          </a:xfrm>
          <a:prstGeom prst="roundRect">
            <a:avLst>
              <a:gd name="adj" fmla="val 16003"/>
            </a:avLst>
          </a:prstGeom>
          <a:solidFill>
            <a:srgbClr val="3036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674769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3036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00711" y="4786908"/>
            <a:ext cx="83425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500"/>
              </a:spcBef>
              <a:buNone/>
            </a:pPr>
            <a:r>
              <a:rPr lang="en-US" sz="1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Giant PR:</a:t>
            </a:r>
            <a:pPr algn="ctr" indent="0" marL="0">
              <a:spcBef>
                <a:spcPts val="1500"/>
              </a:spcBef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slow review • </a:t>
            </a:r>
            <a:pPr algn="ctr" indent="0" marL="0">
              <a:spcBef>
                <a:spcPts val="1500"/>
              </a:spcBef>
              <a:buNone/>
            </a:pPr>
            <a:r>
              <a:rPr lang="en-US" sz="1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PRs:</a:t>
            </a:r>
            <a:pPr algn="ctr" indent="0" marL="0">
              <a:spcBef>
                <a:spcPts val="1500"/>
              </a:spcBef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stop-and-wait development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33" name="Text 31">
            <a:hlinkClick r:id="rId1" tooltip="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34" name="Image 0" descr="/root/projects/work/gh-stack-demo/slides/github-invertocat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HIGH-LEVEL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76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16"/>
              </a:lnSpc>
              <a:buNone/>
            </a:pPr>
            <a:r>
              <a:rPr lang="en-US" sz="29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one large pull request into reviewable layers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82501" y="1426518"/>
            <a:ext cx="834257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2000"/>
              </a:spcAft>
              <a:buNone/>
            </a:pPr>
            <a:r>
              <a:rPr lang="en-US" sz="15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stays connected, but each pull request becomes smaller and easier to understand.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82501" y="2200721"/>
            <a:ext cx="2095054" cy="2286000"/>
          </a:xfrm>
          <a:prstGeom prst="roundRect">
            <a:avLst>
              <a:gd name="adj" fmla="val 7880"/>
            </a:avLst>
          </a:prstGeom>
          <a:solidFill>
            <a:srgbClr val="2D1717"/>
          </a:solidFill>
          <a:ln w="19050">
            <a:solidFill>
              <a:srgbClr val="F851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0151" y="2557314"/>
            <a:ext cx="1631749" cy="15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0151" y="2817465"/>
            <a:ext cx="163174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large pull request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0151" y="3534966"/>
            <a:ext cx="1631749" cy="59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250" dirty="0">
                <a:solidFill>
                  <a:srgbClr val="FFC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validation + tests arrive as one mixed review.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25344" y="3129409"/>
            <a:ext cx="6233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763566" y="2181523"/>
            <a:ext cx="2550914" cy="60960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/>
          <a:effectLst>
            <a:outerShdw sx="100000" sy="100000" kx="0" ky="0" algn="bl" rotWithShape="0" blurRad="88900" dist="3810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763566" y="2191048"/>
            <a:ext cx="2550914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4955" y="2181523"/>
            <a:ext cx="0" cy="60960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63566" y="2781598"/>
            <a:ext cx="2550914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01666" y="2181523"/>
            <a:ext cx="0" cy="609600"/>
          </a:xfrm>
          <a:prstGeom prst="line">
            <a:avLst/>
          </a:prstGeom>
          <a:noFill/>
          <a:ln w="762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04816" y="2381548"/>
            <a:ext cx="4030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791795" y="2410123"/>
            <a:ext cx="34535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EE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63566" y="2867323"/>
            <a:ext cx="2550914" cy="60960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/>
          <a:effectLst>
            <a:outerShdw sx="100000" sy="100000" kx="0" ky="0" algn="bl" rotWithShape="0" blurRad="88900" dist="3810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3763566" y="2876848"/>
            <a:ext cx="2550914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4955" y="2867323"/>
            <a:ext cx="0" cy="60960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63566" y="3467398"/>
            <a:ext cx="2550914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01666" y="2867323"/>
            <a:ext cx="0" cy="609600"/>
          </a:xfrm>
          <a:prstGeom prst="line">
            <a:avLst/>
          </a:prstGeom>
          <a:noFill/>
          <a:ln w="762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04816" y="3067348"/>
            <a:ext cx="4030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500539" y="3095923"/>
            <a:ext cx="6424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EE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763566" y="3553123"/>
            <a:ext cx="2550914" cy="60960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/>
          <a:effectLst>
            <a:outerShdw sx="100000" sy="100000" kx="0" ky="0" algn="bl" rotWithShape="0" blurRad="88900" dist="3810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3763566" y="3562648"/>
            <a:ext cx="2550914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4955" y="3553123"/>
            <a:ext cx="0" cy="60960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63566" y="4153198"/>
            <a:ext cx="2550914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01666" y="3553123"/>
            <a:ext cx="0" cy="609600"/>
          </a:xfrm>
          <a:prstGeom prst="line">
            <a:avLst/>
          </a:prstGeom>
          <a:noFill/>
          <a:ln w="7620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04816" y="3753148"/>
            <a:ext cx="4030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745063" y="3781723"/>
            <a:ext cx="3930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EE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696444" y="4264223"/>
            <a:ext cx="2685306" cy="317450"/>
          </a:xfrm>
          <a:prstGeom prst="rect">
            <a:avLst/>
          </a:prstGeom>
          <a:solidFill>
            <a:srgbClr val="11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3696444" y="4283273"/>
            <a:ext cx="2685306" cy="0"/>
          </a:xfrm>
          <a:prstGeom prst="line">
            <a:avLst/>
          </a:prstGeom>
          <a:noFill/>
          <a:ln w="38100">
            <a:solidFill>
              <a:srgbClr val="58A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76800" y="4370487"/>
            <a:ext cx="3309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9C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35651" y="1940719"/>
            <a:ext cx="2025848" cy="806648"/>
          </a:xfrm>
          <a:prstGeom prst="roundRect">
            <a:avLst>
              <a:gd name="adj" fmla="val 9446"/>
            </a:avLst>
          </a:prstGeom>
          <a:solidFill>
            <a:srgbClr val="122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6659463" y="1940719"/>
            <a:ext cx="0" cy="806648"/>
          </a:xfrm>
          <a:prstGeom prst="line">
            <a:avLst/>
          </a:prstGeom>
          <a:noFill/>
          <a:ln w="47625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22877" y="2067669"/>
            <a:ext cx="17330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reviews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22877" y="2305794"/>
            <a:ext cx="1733002" cy="314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9"/>
              </a:lnSpc>
              <a:buNone/>
            </a:pPr>
            <a:r>
              <a:rPr lang="en-US" sz="10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layer exposes only its focused change.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635651" y="2861667"/>
            <a:ext cx="2025848" cy="963960"/>
          </a:xfrm>
          <a:prstGeom prst="roundRect">
            <a:avLst>
              <a:gd name="adj" fmla="val 7905"/>
            </a:avLst>
          </a:prstGeom>
          <a:solidFill>
            <a:srgbClr val="122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6659463" y="2861667"/>
            <a:ext cx="0" cy="963960"/>
          </a:xfrm>
          <a:prstGeom prst="line">
            <a:avLst/>
          </a:prstGeom>
          <a:noFill/>
          <a:ln w="47625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22877" y="2988618"/>
            <a:ext cx="17330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progress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822877" y="3226743"/>
            <a:ext cx="1733002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9"/>
              </a:lnSpc>
              <a:buNone/>
            </a:pPr>
            <a:r>
              <a:rPr lang="en-US" sz="10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Dependent work can continue before lower layers merge.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635651" y="3939927"/>
            <a:ext cx="2025848" cy="806648"/>
          </a:xfrm>
          <a:prstGeom prst="roundRect">
            <a:avLst>
              <a:gd name="adj" fmla="val 9446"/>
            </a:avLst>
          </a:prstGeom>
          <a:solidFill>
            <a:srgbClr val="122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6659463" y="3939927"/>
            <a:ext cx="0" cy="806648"/>
          </a:xfrm>
          <a:prstGeom prst="line">
            <a:avLst/>
          </a:prstGeom>
          <a:noFill/>
          <a:ln w="47625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22877" y="4066877"/>
            <a:ext cx="17330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context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822877" y="4305002"/>
            <a:ext cx="1733002" cy="314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9"/>
              </a:lnSpc>
              <a:buNone/>
            </a:pPr>
            <a:r>
              <a:rPr lang="en-US" sz="10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keeps the layers connected as one stack.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47" name="Text 45">
            <a:hlinkClick r:id="rId1" tooltip="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48" name="Image 0" descr="/root/projects/work/gh-stack-demo/slides/github-invertocat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342578" cy="41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55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branches to one visible stack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124396"/>
            <a:ext cx="83425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2200"/>
              </a:spcAft>
              <a:buNone/>
            </a:pPr>
            <a:r>
              <a:rPr lang="en-US" sz="16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 handles branch order, pull-request bases, rebases, and merging.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82501" y="1641872"/>
            <a:ext cx="2404616" cy="2479477"/>
          </a:xfrm>
          <a:prstGeom prst="roundRect">
            <a:avLst>
              <a:gd name="adj" fmla="val 6338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92051" y="185142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1F6F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2871" y="1933873"/>
            <a:ext cx="82885" cy="177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b="1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92051" y="2333923"/>
            <a:ext cx="20252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layers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92051" y="2692598"/>
            <a:ext cx="2025226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stack, then add one branch per reviewable concern.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92051" y="3338810"/>
            <a:ext cx="1985516" cy="572988"/>
          </a:xfrm>
          <a:prstGeom prst="roundRect">
            <a:avLst>
              <a:gd name="adj" fmla="val 13299"/>
            </a:avLst>
          </a:prstGeom>
          <a:solidFill>
            <a:srgbClr val="010409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15876" y="3462635"/>
            <a:ext cx="1772623" cy="325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init</a:t>
            </a:r>
            <a:endParaRPr lang="en-US" sz="1050" dirty="0"/>
          </a:p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add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88766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369618" y="1641872"/>
            <a:ext cx="2404765" cy="2479477"/>
          </a:xfrm>
          <a:prstGeom prst="roundRect">
            <a:avLst>
              <a:gd name="adj" fmla="val 6337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9168" y="185142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1F6F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09988" y="1933873"/>
            <a:ext cx="82885" cy="177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b="1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79168" y="2333923"/>
            <a:ext cx="20253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once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579168" y="2692598"/>
            <a:ext cx="2025378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branches, create correctly based PRs, and link the stack.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79168" y="3501479"/>
            <a:ext cx="1985665" cy="410319"/>
          </a:xfrm>
          <a:prstGeom prst="roundRect">
            <a:avLst>
              <a:gd name="adj" fmla="val 18571"/>
            </a:avLst>
          </a:prstGeom>
          <a:solidFill>
            <a:srgbClr val="010409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02993" y="3625304"/>
            <a:ext cx="1772775" cy="162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submit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876032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256883" y="1641872"/>
            <a:ext cx="2404616" cy="2479477"/>
          </a:xfrm>
          <a:prstGeom prst="roundRect">
            <a:avLst>
              <a:gd name="adj" fmla="val 6338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466433" y="185142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1F6F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97253" y="1933873"/>
            <a:ext cx="82885" cy="177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b="1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66433" y="2333923"/>
            <a:ext cx="20252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+ land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466433" y="2692598"/>
            <a:ext cx="2025226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focused diffs, update dependent layers, then land all or part of the stack.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66433" y="3338810"/>
            <a:ext cx="1985516" cy="572988"/>
          </a:xfrm>
          <a:prstGeom prst="roundRect">
            <a:avLst>
              <a:gd name="adj" fmla="val 13299"/>
            </a:avLst>
          </a:prstGeom>
          <a:solidFill>
            <a:srgbClr val="010409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590258" y="3462635"/>
            <a:ext cx="1772623" cy="325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rebase</a:t>
            </a:r>
            <a:endParaRPr lang="en-US" sz="1050" dirty="0"/>
          </a:p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merge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82501" y="4299049"/>
            <a:ext cx="8178998" cy="463451"/>
          </a:xfrm>
          <a:prstGeom prst="rect">
            <a:avLst/>
          </a:prstGeom>
          <a:solidFill>
            <a:srgbClr val="122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511076" y="4299049"/>
            <a:ext cx="0" cy="463451"/>
          </a:xfrm>
          <a:prstGeom prst="line">
            <a:avLst/>
          </a:prstGeom>
          <a:noFill/>
          <a:ln w="5715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352" y="4426000"/>
            <a:ext cx="792177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result:</a:t>
            </a:r>
            <a:pPr algn="l" indent="0" marL="0">
              <a:buNone/>
            </a:pPr>
            <a:r>
              <a:rPr lang="en-US" sz="1400" dirty="0">
                <a:solidFill>
                  <a:srgbClr val="D2F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smaller reviews without serial development.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32" name="Text 30">
            <a:hlinkClick r:id="rId1" tooltip="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33" name="Image 0" descr="/root/projects/work/gh-stack-demo/slides/github-invertocat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Code with 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Stacked PRs: Smaller Reviews Without Serial Development</dc:title>
  <dc:subject>GitHub Stacked PRs</dc:subject>
  <dc:creator>Dan Wahlin</dc:creator>
  <cp:lastModifiedBy>Dan Wahlin</cp:lastModifiedBy>
  <cp:revision>1</cp:revision>
  <dcterms:created xsi:type="dcterms:W3CDTF">2026-07-30T16:46:04Z</dcterms:created>
  <dcterms:modified xsi:type="dcterms:W3CDTF">2026-07-30T16:46:04Z</dcterms:modified>
</cp:coreProperties>
</file>