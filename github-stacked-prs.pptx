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9" r:id="rId2"/>
    <p:sldId id="256" r:id="rId3"/>
    <p:sldId id="257" r:id="rId4"/>
    <p:sldId id="262" r:id="rId5"/>
    <p:sldId id="258" r:id="rId6"/>
    <p:sldId id="261" r:id="rId7"/>
    <p:sldId id="260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A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844"/>
  </p:normalViewPr>
  <p:slideViewPr>
    <p:cSldViewPr snapToGrid="0" snapToObjects="1">
      <p:cViewPr varScale="1">
        <p:scale>
          <a:sx n="134" d="100"/>
          <a:sy n="134" d="100"/>
        </p:scale>
        <p:origin x="1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430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25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DanWahlin/learn-github-stacked-prs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/DanWahlin/learn-github-stacked-p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10" name="Repository Link">
            <a:hlinkClick r:id="rId5"/>
          </p:cNvPr>
          <p:cNvSpPr txBox="1"/>
          <p:nvPr/>
        </p:nvSpPr>
        <p:spPr>
          <a:xfrm>
            <a:off x="484787" y="3911799"/>
            <a:ext cx="7379208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github.com/DanWahlin/learn-github-stacked-prs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BEFORE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30352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dirty="0">
                <a:solidFill>
                  <a:srgbClr val="F0F6FC"/>
                </a:solidFill>
                <a:latin typeface="Arial"/>
              </a:rPr>
              <a:t>Install and verify 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8B949E"/>
                </a:solidFill>
                <a:latin typeface="Arial"/>
              </a:rPr>
              <a:t>GitHub shows the stack; the </a:t>
            </a:r>
            <a:r>
              <a:rPr sz="1600" b="0" dirty="0" err="1">
                <a:solidFill>
                  <a:srgbClr val="8B949E"/>
                </a:solidFill>
                <a:latin typeface="Arial"/>
              </a:rPr>
              <a:t>gh</a:t>
            </a:r>
            <a:r>
              <a:rPr sz="1600" b="0" dirty="0">
                <a:solidFill>
                  <a:srgbClr val="8B949E"/>
                </a:solidFill>
                <a:latin typeface="Arial"/>
              </a:rPr>
              <a:t> stack extension manages it from the terminal.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0D7D89-330F-2CAC-1836-FA2EE16A50B2}"/>
              </a:ext>
            </a:extLst>
          </p:cNvPr>
          <p:cNvGrpSpPr/>
          <p:nvPr/>
        </p:nvGrpSpPr>
        <p:grpSpPr>
          <a:xfrm>
            <a:off x="484632" y="1444752"/>
            <a:ext cx="2532888" cy="2176272"/>
            <a:chOff x="484632" y="1444752"/>
            <a:chExt cx="2532888" cy="2176272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49224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dirty="0">
                  <a:solidFill>
                    <a:srgbClr val="F0F6FC"/>
                  </a:solidFill>
                  <a:latin typeface="Arial"/>
                </a:rPr>
                <a:t>Prerequisites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8368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REQUIRED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94944" y="2267712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4944" y="2560320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GitHub CLI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94944" y="2852928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Node.js </a:t>
              </a:r>
              <a:r>
                <a:rPr lang="en-US" sz="960" b="0" dirty="0">
                  <a:solidFill>
                    <a:srgbClr val="8B949E"/>
                  </a:solidFill>
                  <a:latin typeface="Arial"/>
                </a:rPr>
                <a:t>LTS</a:t>
              </a:r>
              <a:endParaRPr sz="960" b="0" dirty="0">
                <a:solidFill>
                  <a:srgbClr val="8B949E"/>
                </a:solidFill>
                <a:latin typeface="Arial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4944" y="3145536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8B949E"/>
                  </a:solidFill>
                  <a:latin typeface="Arial"/>
                </a:rPr>
                <a:t>•  Git identity + GitHub push access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294C115-0509-182E-C630-3A8A9DC1812D}"/>
              </a:ext>
            </a:extLst>
          </p:cNvPr>
          <p:cNvGrpSpPr/>
          <p:nvPr/>
        </p:nvGrpSpPr>
        <p:grpSpPr>
          <a:xfrm>
            <a:off x="3218688" y="1444752"/>
            <a:ext cx="2532888" cy="2176272"/>
            <a:chOff x="3218688" y="1444752"/>
            <a:chExt cx="2532888" cy="2176272"/>
          </a:xfrm>
        </p:grpSpPr>
        <p:sp>
          <p:nvSpPr>
            <p:cNvPr id="10" name="Rounded Rectangle 9"/>
            <p:cNvSpPr/>
            <p:nvPr/>
          </p:nvSpPr>
          <p:spPr>
            <a:xfrm>
              <a:off x="3218688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3383280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794760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Authenticate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92424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SIGN IN ONCE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383280" y="2240280"/>
              <a:ext cx="2194560" cy="713232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100584" rIns="128016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login</a:t>
              </a:r>
              <a:br>
                <a:rPr lang="en-US" sz="1000" b="0" dirty="0">
                  <a:solidFill>
                    <a:schemeClr val="bg1"/>
                  </a:solidFill>
                  <a:latin typeface="Courier New"/>
                </a:rPr>
              </a:br>
              <a:endParaRPr sz="10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status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10712" y="3136392"/>
              <a:ext cx="2121408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Confirm the active account and the repository host.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4BCD2E1-6C46-0BFE-5A4A-D275E2B10767}"/>
              </a:ext>
            </a:extLst>
          </p:cNvPr>
          <p:cNvGrpSpPr/>
          <p:nvPr/>
        </p:nvGrpSpPr>
        <p:grpSpPr>
          <a:xfrm>
            <a:off x="5952744" y="1444752"/>
            <a:ext cx="2532888" cy="2176272"/>
            <a:chOff x="5952744" y="1444752"/>
            <a:chExt cx="2532888" cy="2176272"/>
          </a:xfrm>
        </p:grpSpPr>
        <p:sp>
          <p:nvSpPr>
            <p:cNvPr id="13" name="Rounded Rectangle 12"/>
            <p:cNvSpPr/>
            <p:nvPr/>
          </p:nvSpPr>
          <p:spPr>
            <a:xfrm>
              <a:off x="5952744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6117336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28816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Install + verify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126480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INSTALL ONCE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117336" y="2221992"/>
              <a:ext cx="2194560" cy="877824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146304" rIns="118872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extension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install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\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-stack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endParaRPr sz="9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stack --version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4768" y="3209544"/>
              <a:ext cx="211226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Verify the command before starting.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48996CE-F3C4-7737-20B6-AA09F92C849C}"/>
              </a:ext>
            </a:extLst>
          </p:cNvPr>
          <p:cNvGrpSpPr/>
          <p:nvPr/>
        </p:nvGrpSpPr>
        <p:grpSpPr>
          <a:xfrm>
            <a:off x="484632" y="3840480"/>
            <a:ext cx="8001000" cy="950976"/>
            <a:chOff x="484632" y="3840480"/>
            <a:chExt cx="8001000" cy="950976"/>
          </a:xfrm>
        </p:grpSpPr>
        <p:sp>
          <p:nvSpPr>
            <p:cNvPr id="27" name="Rounded Rectangle 26"/>
            <p:cNvSpPr/>
            <p:nvPr/>
          </p:nvSpPr>
          <p:spPr>
            <a:xfrm>
              <a:off x="484632" y="3840480"/>
              <a:ext cx="8001000" cy="95097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7512" y="3995928"/>
              <a:ext cx="1298448" cy="17373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1">
                  <a:solidFill>
                    <a:srgbClr val="79C0FF"/>
                  </a:solidFill>
                  <a:latin typeface="Arial"/>
                </a:rPr>
                <a:t>USING AN AGENT?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67512" y="4261104"/>
              <a:ext cx="1417320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F0F6FC"/>
                  </a:solidFill>
                  <a:latin typeface="Arial"/>
                </a:rPr>
                <a:t>Install the gh-stack skill too.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176272" y="4041648"/>
              <a:ext cx="3703320" cy="548640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82296" rIns="118872" bIns="73152" rtlCol="0" anchor="ctr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 skill install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-stack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</a:t>
              </a:r>
              <a:r>
                <a:rPr lang="en-US" sz="1050" b="0" dirty="0">
                  <a:solidFill>
                    <a:schemeClr val="bg1"/>
                  </a:solidFill>
                  <a:latin typeface="Courier New"/>
                </a:rPr>
                <a:t>k</a:t>
              </a:r>
              <a:endParaRPr sz="1050" b="0" dirty="0">
                <a:solidFill>
                  <a:schemeClr val="bg1"/>
                </a:solidFill>
                <a:latin typeface="Courier New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071616" y="4096512"/>
              <a:ext cx="2194560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>
                  <a:solidFill>
                    <a:srgbClr val="F0F6FC"/>
                  </a:solidFill>
                  <a:latin typeface="Arial"/>
                </a:rPr>
                <a:t>The skill adds command knowledge. It does not replace the extension.</a:t>
              </a:r>
            </a:p>
          </p:txBody>
        </p:sp>
      </p:grpSp>
      <p:pic>
        <p:nvPicPr>
          <p:cNvPr id="32" name="Image 0" descr="GitHub logo">
            <a:hlinkClick r:id="rId4"/>
            <a:extLst>
              <a:ext uri="{FF2B5EF4-FFF2-40B4-BE49-F238E27FC236}">
                <a16:creationId xmlns:a16="http://schemas.microsoft.com/office/drawing/2014/main" id="{6A6F26D5-53C0-9133-28C6-518363E5A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HUMAN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056084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AGENTIC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25780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dirty="0">
                <a:solidFill>
                  <a:srgbClr val="F0F6FC"/>
                </a:solidFill>
                <a:latin typeface="Arial"/>
              </a:rPr>
              <a:t>From prompt to published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33653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8B949E"/>
                </a:solidFill>
                <a:latin typeface="Arial"/>
              </a:rPr>
              <a:t>Follow four </a:t>
            </a:r>
            <a:r>
              <a:rPr lang="en-US" sz="1600" b="0" dirty="0">
                <a:solidFill>
                  <a:srgbClr val="8B949E"/>
                </a:solidFill>
                <a:latin typeface="Arial"/>
              </a:rPr>
              <a:t>steps and</a:t>
            </a:r>
            <a:r>
              <a:rPr sz="1600" b="0" dirty="0">
                <a:solidFill>
                  <a:srgbClr val="8B949E"/>
                </a:solidFill>
                <a:latin typeface="Arial"/>
              </a:rPr>
              <a:t> stop for human approval before coding or publishing.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586CE5-A58D-19E4-0325-F653D6B61F68}"/>
              </a:ext>
            </a:extLst>
          </p:cNvPr>
          <p:cNvGrpSpPr/>
          <p:nvPr/>
        </p:nvGrpSpPr>
        <p:grpSpPr>
          <a:xfrm>
            <a:off x="484632" y="1716786"/>
            <a:ext cx="1975104" cy="2841498"/>
            <a:chOff x="484632" y="1716786"/>
            <a:chExt cx="1975104" cy="2841498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30936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33271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Start with context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080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Launch from the repository root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080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AGENTS.md is loaded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0080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the gh-stack skill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225546"/>
              <a:ext cx="1682496" cy="566928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0584" tIns="73152" rIns="100584" rtlCol="0" anchor="t">
              <a:noAutofit/>
            </a:bodyPr>
            <a:lstStyle/>
            <a:p>
              <a:pPr algn="l">
                <a:lnSpc>
                  <a:spcPct val="9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chemeClr val="bg1"/>
                  </a:solidFill>
                  <a:latin typeface="Courier New"/>
                </a:rPr>
                <a:t>copilot skill list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40080" y="4011930"/>
              <a:ext cx="1682496" cy="274320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800" b="1" dirty="0">
                  <a:solidFill>
                    <a:srgbClr val="79C0FF"/>
                  </a:solidFill>
                  <a:latin typeface="Arial"/>
                </a:rPr>
                <a:t>Ask: 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"Summarize </a:t>
              </a:r>
              <a:r>
                <a:rPr sz="800" b="1" dirty="0" err="1">
                  <a:solidFill>
                    <a:srgbClr val="F0F6FC"/>
                  </a:solidFill>
                  <a:latin typeface="Arial"/>
                </a:rPr>
                <a:t>AGENTS.md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."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61C669-1EB7-1596-2D22-4DC3B6538706}"/>
              </a:ext>
            </a:extLst>
          </p:cNvPr>
          <p:cNvGrpSpPr/>
          <p:nvPr/>
        </p:nvGrpSpPr>
        <p:grpSpPr>
          <a:xfrm>
            <a:off x="2551176" y="1716786"/>
            <a:ext cx="1975104" cy="2841498"/>
            <a:chOff x="2551176" y="1716786"/>
            <a:chExt cx="1975104" cy="2841498"/>
          </a:xfrm>
        </p:grpSpPr>
        <p:sp>
          <p:nvSpPr>
            <p:cNvPr id="10" name="Rounded Rectangle 9"/>
            <p:cNvSpPr/>
            <p:nvPr/>
          </p:nvSpPr>
          <p:spPr>
            <a:xfrm>
              <a:off x="2551176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2697480" y="1756029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099816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Plan only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706624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 dirty="0">
                  <a:solidFill>
                    <a:srgbClr val="8B949E"/>
                  </a:solidFill>
                  <a:latin typeface="Arial"/>
                </a:rPr>
                <a:t>•  Ask for trunk + branch order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706624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Define responsibility + tests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706624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Do not modify files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688336" y="4011930"/>
              <a:ext cx="1682496" cy="384048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73152" rtlCol="0" anchor="t">
              <a:noAutofit/>
            </a:bodyPr>
            <a:lstStyle/>
            <a:p>
              <a:pPr algn="ctr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F0F6FC"/>
                  </a:solidFill>
                  <a:latin typeface="Arial"/>
                </a:rPr>
                <a:t>"Plan the stack. Wait for approval before coding."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D2B9A6B-C0EA-FA7B-0067-84C2FD57A738}"/>
              </a:ext>
            </a:extLst>
          </p:cNvPr>
          <p:cNvGrpSpPr/>
          <p:nvPr/>
        </p:nvGrpSpPr>
        <p:grpSpPr>
          <a:xfrm>
            <a:off x="4617720" y="1716786"/>
            <a:ext cx="1975104" cy="2841498"/>
            <a:chOff x="4617720" y="1716786"/>
            <a:chExt cx="1975104" cy="2841498"/>
          </a:xfrm>
        </p:grpSpPr>
        <p:sp>
          <p:nvSpPr>
            <p:cNvPr id="13" name="Rounded Rectangle 12"/>
            <p:cNvSpPr/>
            <p:nvPr/>
          </p:nvSpPr>
          <p:spPr>
            <a:xfrm>
              <a:off x="4617720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764024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66359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Build each layer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73168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Create the approved branch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73168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Implement behavior + tests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773168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Run tests + inspect parent diff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Commit locally, then stop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764024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Repeat bottom-to-top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25FA173-CCDF-9044-67E0-2AFF220A080C}"/>
              </a:ext>
            </a:extLst>
          </p:cNvPr>
          <p:cNvGrpSpPr/>
          <p:nvPr/>
        </p:nvGrpSpPr>
        <p:grpSpPr>
          <a:xfrm>
            <a:off x="6684264" y="1716786"/>
            <a:ext cx="1975104" cy="2841498"/>
            <a:chOff x="6684264" y="1716786"/>
            <a:chExt cx="1975104" cy="2841498"/>
          </a:xfrm>
        </p:grpSpPr>
        <p:sp>
          <p:nvSpPr>
            <p:cNvPr id="16" name="Rounded Rectangle 15"/>
            <p:cNvSpPr/>
            <p:nvPr/>
          </p:nvSpPr>
          <p:spPr>
            <a:xfrm>
              <a:off x="6684264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6830568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32903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Verify + publish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39712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stack state + ancestry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839712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per-layer diffs + tests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839712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Get approval for remote actions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839712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Submit, then inspect live PRs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830568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Verify the live GitHub state</a:t>
              </a:r>
            </a:p>
          </p:txBody>
        </p:sp>
      </p:grpSp>
      <p:pic>
        <p:nvPicPr>
          <p:cNvPr id="38" name="Image 0" descr="GitHub logo">
            <a:hlinkClick r:id="rId3"/>
            <a:extLst>
              <a:ext uri="{FF2B5EF4-FFF2-40B4-BE49-F238E27FC236}">
                <a16:creationId xmlns:a16="http://schemas.microsoft.com/office/drawing/2014/main" id="{89C230BB-A409-0505-3DE6-CCFB689F4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CLI sequence. Add and test each layer before committing.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API + tests;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Separate step: after review + approval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219268" y="4743942"/>
            <a:ext cx="4752782" cy="173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and commit each focused change before adding the next layer.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hlinkClick r:id="rId4"/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477494" y="4699099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802</Words>
  <Application>Microsoft Macintosh PowerPoint</Application>
  <PresentationFormat>On-screen Show (16:9)</PresentationFormat>
  <Paragraphs>146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36</cp:revision>
  <dcterms:created xsi:type="dcterms:W3CDTF">2026-07-30T16:46:04Z</dcterms:created>
  <dcterms:modified xsi:type="dcterms:W3CDTF">2026-08-03T23:45:16Z</dcterms:modified>
</cp:coreProperties>
</file>