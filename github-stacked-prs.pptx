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9" r:id="rId2"/>
    <p:sldId id="256" r:id="rId3"/>
    <p:sldId id="257" r:id="rId4"/>
    <p:sldId id="258" r:id="rId5"/>
    <p:sldId id="260" r:id="rId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1"/>
    <p:restoredTop sz="94610"/>
  </p:normalViewPr>
  <p:slideViewPr>
    <p:cSldViewPr snapToGrid="0" snapToObjects="1">
      <p:cViewPr varScale="1">
        <p:scale>
          <a:sx n="168" d="100"/>
          <a:sy n="168" d="100"/>
        </p:scale>
        <p:origin x="58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934548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Video visual 1 of 3. See VIDEO.md for narration and shot timing.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Video visual 2 of 3. See VIDEO.md for narration and shot timing.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Video visual 3 of 3. See VIDEO.md for narration and shot timing.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3" Type="http://schemas.openxmlformats.org/officeDocument/2006/relationships/hyperlink" Target="https://github.com" TargetMode="External"/><Relationship Id="rId2" Type="http://schemas.openxmlformats.org/officeDocument/2006/relationships/hyperlink" Target="https://gh.io/stacks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?><Relationships xmlns="http://schemas.openxmlformats.org/package/2006/relationships"><Relationship Id="rId3" Type="http://schemas.openxmlformats.org/officeDocument/2006/relationships/hyperlink" Target="https://gh.io/stacks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hyperlink" Target="https://github.com" TargetMode="External"/></Relationships>
</file>

<file path=ppt/slides/_rels/slide3.xml.rels><?xml version="1.0" encoding="UTF-8"?><Relationships xmlns="http://schemas.openxmlformats.org/package/2006/relationships"><Relationship Id="rId3" Type="http://schemas.openxmlformats.org/officeDocument/2006/relationships/hyperlink" Target="https://gh.io/stacks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hyperlink" Target="https://github.com" TargetMode="External"/></Relationships>
</file>

<file path=ppt/slides/_rels/slide4.xml.rels><?xml version="1.0" encoding="UTF-8"?><Relationships xmlns="http://schemas.openxmlformats.org/package/2006/relationships"><Relationship Id="rId3" Type="http://schemas.openxmlformats.org/officeDocument/2006/relationships/hyperlink" Target="https://gh.io/stacks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hyperlink" Target="https://github.com" TargetMode="External"/></Relationships>
</file>

<file path=ppt/slides/_rels/slide5.xml.rels><?xml version="1.0" encoding="UTF-8"?><Relationships xmlns="http://schemas.openxmlformats.org/package/2006/relationships"><Relationship Id="rId3" Type="http://schemas.openxmlformats.org/officeDocument/2006/relationships/hyperlink" Target="https://github.com" TargetMode="External"/><Relationship Id="rId2" Type="http://schemas.openxmlformats.org/officeDocument/2006/relationships/hyperlink" Target="https://gh.io/stacks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1396901"/>
            <a:ext cx="711101" cy="63401"/>
          </a:xfrm>
          <a:prstGeom prst="rect">
            <a:avLst/>
          </a:prstGeom>
          <a:solidFill>
            <a:srgbClr val="2EA043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82501" y="1850827"/>
            <a:ext cx="7642759" cy="1042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104"/>
              </a:lnSpc>
              <a:buNone/>
            </a:pPr>
            <a:r>
              <a:rPr lang="en-US" sz="38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Started with GitHub Stacked PRs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482501" y="3121819"/>
            <a:ext cx="7383780" cy="561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10"/>
              </a:lnSpc>
              <a:spcBef>
                <a:spcPts val="1800"/>
              </a:spcBef>
              <a:buNone/>
            </a:pPr>
            <a:r>
              <a:rPr lang="en-US" sz="170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large changes into smaller, dependent pull requests that stay connected and remain independently reviewable.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hlinkClick r:id="rId2"/>
          </p:cNvPr>
          <p:cNvSpPr/>
          <p:nvPr/>
        </p:nvSpPr>
        <p:spPr>
          <a:xfrm>
            <a:off x="74797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gh.io/stacks</a:t>
            </a:r>
            <a:endParaRPr lang="en-US" sz="1050" dirty="0"/>
          </a:p>
        </p:txBody>
      </p:sp>
      <p:pic>
        <p:nvPicPr>
          <p:cNvPr id="9" name="Image 0" descr="GitHub logo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381000"/>
            <a:ext cx="8342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700"/>
              </a:spcAft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2501" y="622250"/>
            <a:ext cx="8031379" cy="834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86"/>
              </a:lnSpc>
              <a:spcAft>
                <a:spcPts val="800"/>
              </a:spcAft>
              <a:buNone/>
            </a:pPr>
            <a:r>
              <a:rPr lang="en-US" sz="31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large feature creates an awkward choice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482501" y="1558082"/>
            <a:ext cx="8342578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400"/>
              </a:spcAft>
              <a:buNone/>
            </a:pPr>
            <a:r>
              <a:rPr lang="en-US" sz="170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Optimize for review speed, or development speed?</a:t>
            </a:r>
            <a:endParaRPr lang="en-US" sz="1700" dirty="0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F3A1C85F-517F-BA52-26BF-726175D26E73}"/>
              </a:ext>
            </a:extLst>
          </p:cNvPr>
          <p:cNvGrpSpPr/>
          <p:nvPr/>
        </p:nvGrpSpPr>
        <p:grpSpPr>
          <a:xfrm>
            <a:off x="482501" y="1992957"/>
            <a:ext cx="3925788" cy="2603450"/>
            <a:chOff x="482501" y="1992957"/>
            <a:chExt cx="3925788" cy="2603450"/>
          </a:xfrm>
        </p:grpSpPr>
        <p:sp>
          <p:nvSpPr>
            <p:cNvPr id="5" name="Text 3"/>
            <p:cNvSpPr/>
            <p:nvPr/>
          </p:nvSpPr>
          <p:spPr>
            <a:xfrm>
              <a:off x="482501" y="1992957"/>
              <a:ext cx="3925788" cy="2603450"/>
            </a:xfrm>
            <a:prstGeom prst="roundRect">
              <a:avLst>
                <a:gd name="adj" fmla="val 6342"/>
              </a:avLst>
            </a:prstGeom>
            <a:solidFill>
              <a:srgbClr val="161B22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82501" y="2031057"/>
              <a:ext cx="3925788" cy="0"/>
            </a:xfrm>
            <a:prstGeom prst="line">
              <a:avLst/>
            </a:prstGeom>
            <a:noFill/>
            <a:ln w="76200">
              <a:solidFill>
                <a:srgbClr val="F85149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Shape 5"/>
            <p:cNvSpPr/>
            <p:nvPr/>
          </p:nvSpPr>
          <p:spPr>
            <a:xfrm>
              <a:off x="4398764" y="1992957"/>
              <a:ext cx="0" cy="260345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Shape 6"/>
            <p:cNvSpPr/>
            <p:nvPr/>
          </p:nvSpPr>
          <p:spPr>
            <a:xfrm>
              <a:off x="482501" y="4586883"/>
              <a:ext cx="3925788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Shape 7"/>
            <p:cNvSpPr/>
            <p:nvPr/>
          </p:nvSpPr>
          <p:spPr>
            <a:xfrm>
              <a:off x="492026" y="1992957"/>
              <a:ext cx="0" cy="260345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 8"/>
            <p:cNvSpPr/>
            <p:nvPr/>
          </p:nvSpPr>
          <p:spPr>
            <a:xfrm>
              <a:off x="755452" y="2323058"/>
              <a:ext cx="3447484" cy="222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750"/>
                </a:lnSpc>
                <a:buNone/>
              </a:pPr>
              <a:r>
                <a:rPr lang="en-US" sz="1400" b="1" dirty="0">
                  <a:solidFill>
                    <a:srgbClr val="FF7B7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OPTION 1</a:t>
              </a:r>
              <a:endParaRPr lang="en-US" sz="14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55452" y="2545259"/>
              <a:ext cx="3447484" cy="3238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800"/>
                </a:spcAft>
                <a:buNone/>
              </a:pPr>
              <a:r>
                <a:rPr lang="en-US" sz="22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One giant PR</a:t>
              </a:r>
              <a:endParaRPr lang="en-US" sz="22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55452" y="2970609"/>
              <a:ext cx="3447484" cy="66660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750"/>
                </a:lnSpc>
                <a:buNone/>
              </a:pPr>
              <a:r>
                <a:rPr lang="en-US" sz="1400" dirty="0">
                  <a:solidFill>
                    <a:srgbClr val="C9D1D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Everything arrives at once. Reviewers must untangle the model, validation, and API together.</a:t>
              </a:r>
              <a:endParaRPr lang="en-US" sz="14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755452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F85149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1446609" y="4006007"/>
              <a:ext cx="615107" cy="317450"/>
            </a:xfrm>
            <a:prstGeom prst="roundRect">
              <a:avLst>
                <a:gd name="adj" fmla="val 16003"/>
              </a:avLst>
            </a:prstGeom>
            <a:solidFill>
              <a:srgbClr val="F85149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2137916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F85149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829074" y="4006007"/>
              <a:ext cx="615107" cy="317450"/>
            </a:xfrm>
            <a:prstGeom prst="roundRect">
              <a:avLst>
                <a:gd name="adj" fmla="val 16003"/>
              </a:avLst>
            </a:prstGeom>
            <a:solidFill>
              <a:srgbClr val="F85149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520380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F85149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58B28B7F-58A8-6F71-98C7-4A22E2DD04F7}"/>
              </a:ext>
            </a:extLst>
          </p:cNvPr>
          <p:cNvGrpSpPr/>
          <p:nvPr/>
        </p:nvGrpSpPr>
        <p:grpSpPr>
          <a:xfrm>
            <a:off x="4636889" y="1992957"/>
            <a:ext cx="3925788" cy="2603450"/>
            <a:chOff x="4636889" y="1992957"/>
            <a:chExt cx="3925788" cy="2603450"/>
          </a:xfrm>
        </p:grpSpPr>
        <p:sp>
          <p:nvSpPr>
            <p:cNvPr id="18" name="Text 16"/>
            <p:cNvSpPr/>
            <p:nvPr/>
          </p:nvSpPr>
          <p:spPr>
            <a:xfrm>
              <a:off x="4636889" y="1992957"/>
              <a:ext cx="3925788" cy="2603450"/>
            </a:xfrm>
            <a:prstGeom prst="roundRect">
              <a:avLst>
                <a:gd name="adj" fmla="val 6342"/>
              </a:avLst>
            </a:prstGeom>
            <a:solidFill>
              <a:srgbClr val="161B22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636889" y="2031057"/>
              <a:ext cx="3925788" cy="0"/>
            </a:xfrm>
            <a:prstGeom prst="line">
              <a:avLst/>
            </a:prstGeom>
            <a:noFill/>
            <a:ln w="76200">
              <a:solidFill>
                <a:srgbClr val="D2992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Shape 18"/>
            <p:cNvSpPr/>
            <p:nvPr/>
          </p:nvSpPr>
          <p:spPr>
            <a:xfrm>
              <a:off x="8553152" y="1992957"/>
              <a:ext cx="0" cy="260345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Shape 19"/>
            <p:cNvSpPr/>
            <p:nvPr/>
          </p:nvSpPr>
          <p:spPr>
            <a:xfrm>
              <a:off x="4636889" y="4586883"/>
              <a:ext cx="3925788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Shape 20"/>
            <p:cNvSpPr/>
            <p:nvPr/>
          </p:nvSpPr>
          <p:spPr>
            <a:xfrm>
              <a:off x="4646414" y="1992957"/>
              <a:ext cx="0" cy="260345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 21"/>
            <p:cNvSpPr/>
            <p:nvPr/>
          </p:nvSpPr>
          <p:spPr>
            <a:xfrm>
              <a:off x="4909840" y="2323058"/>
              <a:ext cx="3447484" cy="222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750"/>
                </a:lnSpc>
                <a:buNone/>
              </a:pPr>
              <a:r>
                <a:rPr lang="en-US" sz="1400" b="1" dirty="0">
                  <a:solidFill>
                    <a:srgbClr val="E3B34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OPTION 2</a:t>
              </a:r>
              <a:endParaRPr lang="en-US" sz="14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4909840" y="2545259"/>
              <a:ext cx="3447484" cy="3238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800"/>
                </a:spcAft>
                <a:buNone/>
              </a:pPr>
              <a:r>
                <a:rPr lang="en-US" sz="22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Small, serial PRs</a:t>
              </a:r>
              <a:endParaRPr lang="en-US" sz="22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909840" y="2970609"/>
              <a:ext cx="3447484" cy="44440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750"/>
                </a:lnSpc>
                <a:buNone/>
              </a:pPr>
              <a:r>
                <a:rPr lang="en-US" sz="1400" dirty="0">
                  <a:solidFill>
                    <a:srgbClr val="C9D1D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The diffs are focused, but dependent work waits for every previous PR to merge.</a:t>
              </a:r>
              <a:endParaRPr lang="en-US" sz="14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4909840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D29922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00998" y="4006007"/>
              <a:ext cx="615107" cy="317450"/>
            </a:xfrm>
            <a:prstGeom prst="roundRect">
              <a:avLst>
                <a:gd name="adj" fmla="val 16003"/>
              </a:avLst>
            </a:prstGeom>
            <a:solidFill>
              <a:srgbClr val="30363D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6292304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30363D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6983462" y="4006007"/>
              <a:ext cx="615107" cy="317450"/>
            </a:xfrm>
            <a:prstGeom prst="roundRect">
              <a:avLst>
                <a:gd name="adj" fmla="val 16003"/>
              </a:avLst>
            </a:prstGeom>
            <a:solidFill>
              <a:srgbClr val="30363D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7674769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30363D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</p:grpSp>
      <p:sp>
        <p:nvSpPr>
          <p:cNvPr id="32" name="Shape 30"/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>
            <a:hlinkClick r:id="rId3"/>
          </p:cNvPr>
          <p:cNvSpPr/>
          <p:nvPr/>
        </p:nvSpPr>
        <p:spPr>
          <a:xfrm>
            <a:off x="74797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gh.io/stacks</a:t>
            </a:r>
            <a:endParaRPr lang="en-US" sz="1050" dirty="0"/>
          </a:p>
        </p:txBody>
      </p:sp>
      <p:pic>
        <p:nvPicPr>
          <p:cNvPr id="34" name="Image 0" descr="GitHub logo">
            <a:hlinkClick r:id="rId4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355550"/>
            <a:ext cx="8342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HIGH-LEVEL IDEA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2501" y="584150"/>
            <a:ext cx="8342578" cy="766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16"/>
              </a:lnSpc>
              <a:buNone/>
            </a:pPr>
            <a:r>
              <a:rPr lang="en-US" sz="29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one large pull request into reviewable layers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82501" y="2200721"/>
            <a:ext cx="2095054" cy="2286000"/>
          </a:xfrm>
          <a:prstGeom prst="roundRect">
            <a:avLst>
              <a:gd name="adj" fmla="val 7880"/>
            </a:avLst>
          </a:prstGeom>
          <a:solidFill>
            <a:srgbClr val="2D1717"/>
          </a:solidFill>
          <a:ln w="19050">
            <a:solidFill>
              <a:srgbClr val="F8514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30151" y="2557314"/>
            <a:ext cx="1631749" cy="158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spcAft>
                <a:spcPts val="800"/>
              </a:spcAft>
              <a:buNone/>
            </a:pPr>
            <a:r>
              <a:rPr lang="en-US" sz="1000" b="1" dirty="0">
                <a:solidFill>
                  <a:srgbClr val="FF7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0151" y="2817465"/>
            <a:ext cx="1631749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large pull request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0151" y="3534966"/>
            <a:ext cx="1631749" cy="595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62"/>
              </a:lnSpc>
              <a:buNone/>
            </a:pPr>
            <a:r>
              <a:rPr lang="en-US" sz="1250" dirty="0">
                <a:solidFill>
                  <a:srgbClr val="FFC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+ validation + API arrive as one mixed review.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825344" y="3129409"/>
            <a:ext cx="62331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dirty="0">
                <a:solidFill>
                  <a:srgbClr val="56D3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000" dirty="0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4511578A-7A7F-BE54-86A7-F324E6E38D72}"/>
              </a:ext>
            </a:extLst>
          </p:cNvPr>
          <p:cNvGrpSpPr/>
          <p:nvPr/>
        </p:nvGrpSpPr>
        <p:grpSpPr>
          <a:xfrm>
            <a:off x="3763566" y="2181523"/>
            <a:ext cx="2550914" cy="609600"/>
            <a:chOff x="3763566" y="2181523"/>
            <a:chExt cx="2550914" cy="609600"/>
          </a:xfrm>
        </p:grpSpPr>
        <p:sp>
          <p:nvSpPr>
            <p:cNvPr id="10" name="Text 8"/>
            <p:cNvSpPr/>
            <p:nvPr/>
          </p:nvSpPr>
          <p:spPr>
            <a:xfrm>
              <a:off x="3763566" y="2181523"/>
              <a:ext cx="2550914" cy="609600"/>
            </a:xfrm>
            <a:prstGeom prst="roundRect">
              <a:avLst>
                <a:gd name="adj" fmla="val 16667"/>
              </a:avLst>
            </a:prstGeom>
            <a:solidFill>
              <a:srgbClr val="161B22"/>
            </a:solidFill>
            <a:ln/>
            <a:effectLst>
              <a:outerShdw blurRad="88900" dist="38100" dir="5400000" algn="bl" rotWithShape="0">
                <a:srgbClr val="000000">
                  <a:alpha val="30000"/>
                </a:srgbClr>
              </a:outerShdw>
            </a:effectLst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63566" y="219104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4955" y="2181523"/>
              <a:ext cx="0" cy="60960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Shape 11"/>
            <p:cNvSpPr/>
            <p:nvPr/>
          </p:nvSpPr>
          <p:spPr>
            <a:xfrm>
              <a:off x="3763566" y="278159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Shape 12"/>
            <p:cNvSpPr/>
            <p:nvPr/>
          </p:nvSpPr>
          <p:spPr>
            <a:xfrm>
              <a:off x="3801666" y="2181523"/>
              <a:ext cx="0" cy="609600"/>
            </a:xfrm>
            <a:prstGeom prst="line">
              <a:avLst/>
            </a:prstGeom>
            <a:noFill/>
            <a:ln w="76200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 13"/>
            <p:cNvSpPr/>
            <p:nvPr/>
          </p:nvSpPr>
          <p:spPr>
            <a:xfrm>
              <a:off x="4004816" y="2381548"/>
              <a:ext cx="403041" cy="2095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PR 3</a:t>
              </a:r>
              <a:endParaRPr lang="en-US" sz="14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500539" y="2440559"/>
              <a:ext cx="543283" cy="12963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7EE78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API</a:t>
              </a:r>
              <a:endParaRPr lang="en-US" sz="1050" dirty="0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1DE1B6C8-A065-8D8B-99D9-BD181CE3324F}"/>
              </a:ext>
            </a:extLst>
          </p:cNvPr>
          <p:cNvGrpSpPr/>
          <p:nvPr/>
        </p:nvGrpSpPr>
        <p:grpSpPr>
          <a:xfrm>
            <a:off x="3763566" y="2867323"/>
            <a:ext cx="2550914" cy="609600"/>
            <a:chOff x="3763566" y="2867323"/>
            <a:chExt cx="2550914" cy="609600"/>
          </a:xfrm>
        </p:grpSpPr>
        <p:sp>
          <p:nvSpPr>
            <p:cNvPr id="17" name="Text 15"/>
            <p:cNvSpPr/>
            <p:nvPr/>
          </p:nvSpPr>
          <p:spPr>
            <a:xfrm>
              <a:off x="3763566" y="2867323"/>
              <a:ext cx="2550914" cy="609600"/>
            </a:xfrm>
            <a:prstGeom prst="roundRect">
              <a:avLst>
                <a:gd name="adj" fmla="val 16667"/>
              </a:avLst>
            </a:prstGeom>
            <a:solidFill>
              <a:srgbClr val="161B22"/>
            </a:solidFill>
            <a:ln/>
            <a:effectLst>
              <a:outerShdw blurRad="88900" dist="38100" dir="5400000" algn="bl" rotWithShape="0">
                <a:srgbClr val="000000">
                  <a:alpha val="30000"/>
                </a:srgbClr>
              </a:outerShdw>
            </a:effectLst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63566" y="287684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Shape 17"/>
            <p:cNvSpPr/>
            <p:nvPr/>
          </p:nvSpPr>
          <p:spPr>
            <a:xfrm>
              <a:off x="6304955" y="2867323"/>
              <a:ext cx="0" cy="60960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Shape 18"/>
            <p:cNvSpPr/>
            <p:nvPr/>
          </p:nvSpPr>
          <p:spPr>
            <a:xfrm>
              <a:off x="3763566" y="346739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Shape 19"/>
            <p:cNvSpPr/>
            <p:nvPr/>
          </p:nvSpPr>
          <p:spPr>
            <a:xfrm>
              <a:off x="3801666" y="2867323"/>
              <a:ext cx="0" cy="609600"/>
            </a:xfrm>
            <a:prstGeom prst="line">
              <a:avLst/>
            </a:prstGeom>
            <a:noFill/>
            <a:ln w="76200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 20"/>
            <p:cNvSpPr/>
            <p:nvPr/>
          </p:nvSpPr>
          <p:spPr>
            <a:xfrm>
              <a:off x="4004816" y="3067348"/>
              <a:ext cx="403041" cy="2095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PR 2</a:t>
              </a:r>
              <a:endParaRPr lang="en-US" sz="14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500539" y="3095923"/>
              <a:ext cx="642437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7EE78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Validation</a:t>
              </a:r>
              <a:endParaRPr lang="en-US" sz="1050" dirty="0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105F821D-18FE-4EFB-EBE2-AFD86236330E}"/>
              </a:ext>
            </a:extLst>
          </p:cNvPr>
          <p:cNvGrpSpPr/>
          <p:nvPr/>
        </p:nvGrpSpPr>
        <p:grpSpPr>
          <a:xfrm>
            <a:off x="3763566" y="3553123"/>
            <a:ext cx="2550914" cy="609600"/>
            <a:chOff x="3763566" y="3553123"/>
            <a:chExt cx="2550914" cy="609600"/>
          </a:xfrm>
        </p:grpSpPr>
        <p:sp>
          <p:nvSpPr>
            <p:cNvPr id="24" name="Text 22"/>
            <p:cNvSpPr/>
            <p:nvPr/>
          </p:nvSpPr>
          <p:spPr>
            <a:xfrm>
              <a:off x="3763566" y="3553123"/>
              <a:ext cx="2550914" cy="609600"/>
            </a:xfrm>
            <a:prstGeom prst="roundRect">
              <a:avLst>
                <a:gd name="adj" fmla="val 16667"/>
              </a:avLst>
            </a:prstGeom>
            <a:solidFill>
              <a:srgbClr val="161B22"/>
            </a:solidFill>
            <a:ln/>
            <a:effectLst>
              <a:outerShdw blurRad="88900" dist="38100" dir="5400000" algn="bl" rotWithShape="0">
                <a:srgbClr val="000000">
                  <a:alpha val="30000"/>
                </a:srgbClr>
              </a:outerShdw>
            </a:effectLst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763566" y="356264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Shape 24"/>
            <p:cNvSpPr/>
            <p:nvPr/>
          </p:nvSpPr>
          <p:spPr>
            <a:xfrm>
              <a:off x="6304955" y="3553123"/>
              <a:ext cx="0" cy="60960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Shape 25"/>
            <p:cNvSpPr/>
            <p:nvPr/>
          </p:nvSpPr>
          <p:spPr>
            <a:xfrm>
              <a:off x="3763566" y="415319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Shape 26"/>
            <p:cNvSpPr/>
            <p:nvPr/>
          </p:nvSpPr>
          <p:spPr>
            <a:xfrm>
              <a:off x="3801666" y="3553123"/>
              <a:ext cx="0" cy="609600"/>
            </a:xfrm>
            <a:prstGeom prst="line">
              <a:avLst/>
            </a:prstGeom>
            <a:noFill/>
            <a:ln w="76200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 27"/>
            <p:cNvSpPr/>
            <p:nvPr/>
          </p:nvSpPr>
          <p:spPr>
            <a:xfrm>
              <a:off x="4004816" y="3753148"/>
              <a:ext cx="403041" cy="2095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PR 1</a:t>
              </a:r>
              <a:endParaRPr lang="en-US" sz="14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5500539" y="3778211"/>
              <a:ext cx="393022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7EE78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Model</a:t>
              </a:r>
              <a:endParaRPr lang="en-US" sz="1050" dirty="0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F6936F7E-53E6-C95B-56A0-ED0E4D98B596}"/>
              </a:ext>
            </a:extLst>
          </p:cNvPr>
          <p:cNvGrpSpPr/>
          <p:nvPr/>
        </p:nvGrpSpPr>
        <p:grpSpPr>
          <a:xfrm>
            <a:off x="3696444" y="4264223"/>
            <a:ext cx="2685306" cy="317450"/>
            <a:chOff x="3696444" y="4264223"/>
            <a:chExt cx="2685306" cy="317450"/>
          </a:xfrm>
        </p:grpSpPr>
        <p:sp>
          <p:nvSpPr>
            <p:cNvPr id="31" name="Text 29"/>
            <p:cNvSpPr/>
            <p:nvPr/>
          </p:nvSpPr>
          <p:spPr>
            <a:xfrm>
              <a:off x="3696444" y="4264223"/>
              <a:ext cx="2685306" cy="317450"/>
            </a:xfrm>
            <a:prstGeom prst="rect">
              <a:avLst/>
            </a:prstGeom>
            <a:solidFill>
              <a:srgbClr val="111D2E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3696444" y="4283273"/>
              <a:ext cx="2685306" cy="0"/>
            </a:xfrm>
            <a:prstGeom prst="line">
              <a:avLst/>
            </a:prstGeom>
            <a:noFill/>
            <a:ln w="38100">
              <a:solidFill>
                <a:srgbClr val="58A6FF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 31"/>
            <p:cNvSpPr/>
            <p:nvPr/>
          </p:nvSpPr>
          <p:spPr>
            <a:xfrm>
              <a:off x="4876800" y="4370487"/>
              <a:ext cx="330934" cy="1428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79C0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MAIN</a:t>
              </a:r>
              <a:endParaRPr lang="en-US" sz="1000" dirty="0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629951B-478D-FE58-5112-9F554ECBC60E}"/>
              </a:ext>
            </a:extLst>
          </p:cNvPr>
          <p:cNvGrpSpPr/>
          <p:nvPr/>
        </p:nvGrpSpPr>
        <p:grpSpPr>
          <a:xfrm>
            <a:off x="6635651" y="1940719"/>
            <a:ext cx="2025848" cy="806648"/>
            <a:chOff x="6635651" y="1940719"/>
            <a:chExt cx="2025848" cy="806648"/>
          </a:xfrm>
        </p:grpSpPr>
        <p:sp>
          <p:nvSpPr>
            <p:cNvPr id="34" name="Text 32"/>
            <p:cNvSpPr/>
            <p:nvPr/>
          </p:nvSpPr>
          <p:spPr>
            <a:xfrm>
              <a:off x="6635651" y="1940719"/>
              <a:ext cx="2025848" cy="806648"/>
            </a:xfrm>
            <a:prstGeom prst="roundRect">
              <a:avLst>
                <a:gd name="adj" fmla="val 9446"/>
              </a:avLst>
            </a:prstGeom>
            <a:solidFill>
              <a:srgbClr val="122117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6659463" y="1940719"/>
              <a:ext cx="0" cy="806648"/>
            </a:xfrm>
            <a:prstGeom prst="line">
              <a:avLst/>
            </a:prstGeom>
            <a:noFill/>
            <a:ln w="47625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Text 34"/>
            <p:cNvSpPr/>
            <p:nvPr/>
          </p:nvSpPr>
          <p:spPr>
            <a:xfrm>
              <a:off x="6822877" y="2067669"/>
              <a:ext cx="1733002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300"/>
                </a:spcAft>
                <a:buNone/>
              </a:pPr>
              <a:r>
                <a:rPr lang="en-US" sz="1300" b="1" dirty="0">
                  <a:solidFill>
                    <a:srgbClr val="56D36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Small reviews</a:t>
              </a:r>
              <a:endParaRPr lang="en-US" sz="13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6822877" y="2305794"/>
              <a:ext cx="1733002" cy="31462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39"/>
                </a:lnSpc>
                <a:buNone/>
              </a:pPr>
              <a:r>
                <a:rPr lang="en-US" sz="1050" dirty="0">
                  <a:solidFill>
                    <a:srgbClr val="C9D1D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Each layer exposes only its focused change.</a:t>
              </a:r>
              <a:endParaRPr lang="en-US" sz="1050" dirty="0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87517EAF-813A-63F7-A6E2-F1C588B318C7}"/>
              </a:ext>
            </a:extLst>
          </p:cNvPr>
          <p:cNvGrpSpPr/>
          <p:nvPr/>
        </p:nvGrpSpPr>
        <p:grpSpPr>
          <a:xfrm>
            <a:off x="6635651" y="2861667"/>
            <a:ext cx="2025848" cy="963960"/>
            <a:chOff x="6635651" y="2861667"/>
            <a:chExt cx="2025848" cy="963960"/>
          </a:xfrm>
        </p:grpSpPr>
        <p:sp>
          <p:nvSpPr>
            <p:cNvPr id="38" name="Text 36"/>
            <p:cNvSpPr/>
            <p:nvPr/>
          </p:nvSpPr>
          <p:spPr>
            <a:xfrm>
              <a:off x="6635651" y="2861667"/>
              <a:ext cx="2025848" cy="963960"/>
            </a:xfrm>
            <a:prstGeom prst="roundRect">
              <a:avLst>
                <a:gd name="adj" fmla="val 7905"/>
              </a:avLst>
            </a:prstGeom>
            <a:solidFill>
              <a:srgbClr val="122117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659463" y="2861667"/>
              <a:ext cx="0" cy="963960"/>
            </a:xfrm>
            <a:prstGeom prst="line">
              <a:avLst/>
            </a:prstGeom>
            <a:noFill/>
            <a:ln w="47625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 38"/>
            <p:cNvSpPr/>
            <p:nvPr/>
          </p:nvSpPr>
          <p:spPr>
            <a:xfrm>
              <a:off x="6822877" y="2988618"/>
              <a:ext cx="1733002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300"/>
                </a:spcAft>
                <a:buNone/>
              </a:pPr>
              <a:r>
                <a:rPr lang="en-US" sz="1300" b="1" dirty="0">
                  <a:solidFill>
                    <a:srgbClr val="56D36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Continuous progress</a:t>
              </a:r>
              <a:endParaRPr lang="en-US" sz="13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6822877" y="3226743"/>
              <a:ext cx="1733002" cy="47193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39"/>
                </a:lnSpc>
                <a:buNone/>
              </a:pPr>
              <a:r>
                <a:rPr lang="en-US" sz="1050" dirty="0">
                  <a:solidFill>
                    <a:srgbClr val="C9D1D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Dependent work can continue before lower layers merge.</a:t>
              </a:r>
              <a:endParaRPr lang="en-US" sz="1050" dirty="0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4F2A3C16-8B3C-02A0-AB90-8FD1D4662B36}"/>
              </a:ext>
            </a:extLst>
          </p:cNvPr>
          <p:cNvGrpSpPr/>
          <p:nvPr/>
        </p:nvGrpSpPr>
        <p:grpSpPr>
          <a:xfrm>
            <a:off x="6635651" y="3939927"/>
            <a:ext cx="2025848" cy="806648"/>
            <a:chOff x="6635651" y="3939927"/>
            <a:chExt cx="2025848" cy="806648"/>
          </a:xfrm>
        </p:grpSpPr>
        <p:sp>
          <p:nvSpPr>
            <p:cNvPr id="42" name="Text 40"/>
            <p:cNvSpPr/>
            <p:nvPr/>
          </p:nvSpPr>
          <p:spPr>
            <a:xfrm>
              <a:off x="6635651" y="3939927"/>
              <a:ext cx="2025848" cy="806648"/>
            </a:xfrm>
            <a:prstGeom prst="roundRect">
              <a:avLst>
                <a:gd name="adj" fmla="val 9446"/>
              </a:avLst>
            </a:prstGeom>
            <a:solidFill>
              <a:srgbClr val="122117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6659463" y="3939927"/>
              <a:ext cx="0" cy="806648"/>
            </a:xfrm>
            <a:prstGeom prst="line">
              <a:avLst/>
            </a:prstGeom>
            <a:noFill/>
            <a:ln w="47625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Text 42"/>
            <p:cNvSpPr/>
            <p:nvPr/>
          </p:nvSpPr>
          <p:spPr>
            <a:xfrm>
              <a:off x="6822877" y="4066877"/>
              <a:ext cx="1733002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300"/>
                </a:spcAft>
                <a:buNone/>
              </a:pPr>
              <a:r>
                <a:rPr lang="en-US" sz="1300" b="1" dirty="0">
                  <a:solidFill>
                    <a:srgbClr val="56D36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Shared context</a:t>
              </a:r>
              <a:endParaRPr lang="en-US" sz="13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6822877" y="4305002"/>
              <a:ext cx="1733002" cy="31462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39"/>
                </a:lnSpc>
                <a:buNone/>
              </a:pPr>
              <a:r>
                <a:rPr lang="en-US" sz="1050" dirty="0">
                  <a:solidFill>
                    <a:srgbClr val="C9D1D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GitHub keeps the layers connected as one stack.</a:t>
              </a:r>
              <a:endParaRPr lang="en-US" sz="1050" dirty="0"/>
            </a:p>
          </p:txBody>
        </p:sp>
      </p:grpSp>
      <p:sp>
        <p:nvSpPr>
          <p:cNvPr id="46" name="Shape 44"/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>
            <a:hlinkClick r:id="rId3"/>
          </p:cNvPr>
          <p:cNvSpPr/>
          <p:nvPr/>
        </p:nvSpPr>
        <p:spPr>
          <a:xfrm>
            <a:off x="74797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gh.io/stacks</a:t>
            </a:r>
            <a:endParaRPr lang="en-US" sz="1050" dirty="0"/>
          </a:p>
        </p:txBody>
      </p:sp>
      <p:pic>
        <p:nvPicPr>
          <p:cNvPr id="48" name="Image 0" descr="GitHub logo">
            <a:hlinkClick r:id="rId4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381000"/>
            <a:ext cx="8342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2501" y="622250"/>
            <a:ext cx="8342578" cy="41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55"/>
              </a:lnSpc>
              <a:buNone/>
            </a:pPr>
            <a:r>
              <a:rPr lang="en-US" sz="31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branches to one visible stack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482501" y="1124396"/>
            <a:ext cx="834257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700"/>
              </a:spcBef>
              <a:spcAft>
                <a:spcPts val="2200"/>
              </a:spcAft>
              <a:buNone/>
            </a:pPr>
            <a:r>
              <a:rPr lang="en-US" sz="160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 handles branch order, pull-request bases, rebases, and merging.</a:t>
            </a:r>
            <a:endParaRPr lang="en-US" sz="1600" dirty="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5993342-5A84-6EB4-3DD9-8258D925D921}"/>
              </a:ext>
            </a:extLst>
          </p:cNvPr>
          <p:cNvGrpSpPr/>
          <p:nvPr/>
        </p:nvGrpSpPr>
        <p:grpSpPr>
          <a:xfrm>
            <a:off x="482501" y="1641872"/>
            <a:ext cx="2404616" cy="2479477"/>
            <a:chOff x="482501" y="1641872"/>
            <a:chExt cx="2404616" cy="2479477"/>
          </a:xfrm>
        </p:grpSpPr>
        <p:sp>
          <p:nvSpPr>
            <p:cNvPr id="5" name="Text 3"/>
            <p:cNvSpPr/>
            <p:nvPr/>
          </p:nvSpPr>
          <p:spPr>
            <a:xfrm>
              <a:off x="482501" y="1641872"/>
              <a:ext cx="2404616" cy="2479477"/>
            </a:xfrm>
            <a:prstGeom prst="roundRect">
              <a:avLst>
                <a:gd name="adj" fmla="val 6338"/>
              </a:avLst>
            </a:prstGeom>
            <a:solidFill>
              <a:srgbClr val="161B22"/>
            </a:solidFill>
            <a:ln w="19050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2051" y="1851422"/>
              <a:ext cx="342900" cy="342900"/>
            </a:xfrm>
            <a:prstGeom prst="roundRect">
              <a:avLst>
                <a:gd name="adj" fmla="val 266667"/>
              </a:avLst>
            </a:prstGeom>
            <a:solidFill>
              <a:srgbClr val="1F6FEB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822871" y="1933873"/>
              <a:ext cx="82885" cy="177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b="1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1</a:t>
              </a:r>
              <a:endParaRPr lang="en-US" sz="11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92051" y="2333923"/>
              <a:ext cx="2025226" cy="2571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800"/>
                </a:spcAft>
                <a:buNone/>
              </a:pPr>
              <a:r>
                <a:rPr lang="en-US" sz="17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Create layers</a:t>
              </a:r>
              <a:endParaRPr lang="en-US" sz="17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92051" y="2692598"/>
              <a:ext cx="2025226" cy="53399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Start the stack, then add one branch per reviewable concern.</a:t>
              </a:r>
              <a:endParaRPr lang="en-US" sz="115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92051" y="3338810"/>
              <a:ext cx="1985516" cy="572988"/>
            </a:xfrm>
            <a:prstGeom prst="roundRect">
              <a:avLst>
                <a:gd name="adj" fmla="val 13299"/>
              </a:avLst>
            </a:prstGeom>
            <a:solidFill>
              <a:srgbClr val="010409"/>
            </a:solidFill>
            <a:ln w="9525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15876" y="3462635"/>
              <a:ext cx="1772623" cy="32533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81"/>
                </a:lnSpc>
                <a:buNone/>
              </a:pPr>
              <a:r>
                <a:rPr lang="en-US" sz="1050" dirty="0">
                  <a:solidFill>
                    <a:srgbClr val="79C0F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gh stack init</a:t>
              </a:r>
              <a:endParaRPr lang="en-US" sz="1050" dirty="0"/>
            </a:p>
            <a:p>
              <a:pPr marL="0" indent="0" algn="l">
                <a:lnSpc>
                  <a:spcPts val="1281"/>
                </a:lnSpc>
                <a:buNone/>
              </a:pPr>
              <a:r>
                <a:rPr lang="en-US" sz="1050" dirty="0">
                  <a:solidFill>
                    <a:srgbClr val="79C0F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gh stack add</a:t>
              </a:r>
              <a:endParaRPr lang="en-US" sz="1050" dirty="0"/>
            </a:p>
          </p:txBody>
        </p:sp>
      </p:grpSp>
      <p:sp>
        <p:nvSpPr>
          <p:cNvPr id="12" name="Text 10"/>
          <p:cNvSpPr/>
          <p:nvPr/>
        </p:nvSpPr>
        <p:spPr>
          <a:xfrm>
            <a:off x="2988766" y="2719685"/>
            <a:ext cx="28493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289C23A-3201-9E69-DBF2-1502D6F61EB7}"/>
              </a:ext>
            </a:extLst>
          </p:cNvPr>
          <p:cNvGrpSpPr/>
          <p:nvPr/>
        </p:nvGrpSpPr>
        <p:grpSpPr>
          <a:xfrm>
            <a:off x="3369618" y="1641872"/>
            <a:ext cx="2404765" cy="2479477"/>
            <a:chOff x="3369618" y="1641872"/>
            <a:chExt cx="2404765" cy="2479477"/>
          </a:xfrm>
        </p:grpSpPr>
        <p:sp>
          <p:nvSpPr>
            <p:cNvPr id="13" name="Text 11"/>
            <p:cNvSpPr/>
            <p:nvPr/>
          </p:nvSpPr>
          <p:spPr>
            <a:xfrm>
              <a:off x="3369618" y="1641872"/>
              <a:ext cx="2404765" cy="2479477"/>
            </a:xfrm>
            <a:prstGeom prst="roundRect">
              <a:avLst>
                <a:gd name="adj" fmla="val 6337"/>
              </a:avLst>
            </a:prstGeom>
            <a:solidFill>
              <a:srgbClr val="161B22"/>
            </a:solidFill>
            <a:ln w="19050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579168" y="1851422"/>
              <a:ext cx="342900" cy="342900"/>
            </a:xfrm>
            <a:prstGeom prst="roundRect">
              <a:avLst>
                <a:gd name="adj" fmla="val 266667"/>
              </a:avLst>
            </a:prstGeom>
            <a:solidFill>
              <a:srgbClr val="1F6FEB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709988" y="1933873"/>
              <a:ext cx="82885" cy="177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b="1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2</a:t>
              </a:r>
              <a:endParaRPr lang="en-US" sz="115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579168" y="2333923"/>
              <a:ext cx="2025378" cy="2571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800"/>
                </a:spcAft>
                <a:buNone/>
              </a:pPr>
              <a:r>
                <a:rPr lang="en-US" sz="17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Submit once</a:t>
              </a:r>
              <a:endParaRPr lang="en-US" sz="17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579168" y="2692598"/>
              <a:ext cx="2025378" cy="53399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Push branches, create correctly based PRs, and link the stack.</a:t>
              </a:r>
              <a:endParaRPr lang="en-US" sz="115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579168" y="3501479"/>
              <a:ext cx="1985665" cy="410319"/>
            </a:xfrm>
            <a:prstGeom prst="roundRect">
              <a:avLst>
                <a:gd name="adj" fmla="val 18571"/>
              </a:avLst>
            </a:prstGeom>
            <a:solidFill>
              <a:srgbClr val="010409"/>
            </a:solidFill>
            <a:ln w="9525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702993" y="3625304"/>
              <a:ext cx="1772775" cy="16266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81"/>
                </a:lnSpc>
                <a:buNone/>
              </a:pPr>
              <a:r>
                <a:rPr lang="en-US" sz="1050" dirty="0">
                  <a:solidFill>
                    <a:srgbClr val="79C0F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gh stack submit</a:t>
              </a:r>
              <a:endParaRPr lang="en-US" sz="1050" dirty="0"/>
            </a:p>
          </p:txBody>
        </p:sp>
      </p:grpSp>
      <p:sp>
        <p:nvSpPr>
          <p:cNvPr id="20" name="Text 18"/>
          <p:cNvSpPr/>
          <p:nvPr/>
        </p:nvSpPr>
        <p:spPr>
          <a:xfrm>
            <a:off x="5876032" y="2719685"/>
            <a:ext cx="28493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6BCB05C5-A67B-70DE-7AF1-E949096C62DF}"/>
              </a:ext>
            </a:extLst>
          </p:cNvPr>
          <p:cNvGrpSpPr/>
          <p:nvPr/>
        </p:nvGrpSpPr>
        <p:grpSpPr>
          <a:xfrm>
            <a:off x="6256883" y="1641872"/>
            <a:ext cx="2404616" cy="2479477"/>
            <a:chOff x="6256883" y="1641872"/>
            <a:chExt cx="2404616" cy="2479477"/>
          </a:xfrm>
        </p:grpSpPr>
        <p:sp>
          <p:nvSpPr>
            <p:cNvPr id="21" name="Text 19"/>
            <p:cNvSpPr/>
            <p:nvPr/>
          </p:nvSpPr>
          <p:spPr>
            <a:xfrm>
              <a:off x="6256883" y="1641872"/>
              <a:ext cx="2404616" cy="2479477"/>
            </a:xfrm>
            <a:prstGeom prst="roundRect">
              <a:avLst>
                <a:gd name="adj" fmla="val 6338"/>
              </a:avLst>
            </a:prstGeom>
            <a:solidFill>
              <a:srgbClr val="161B22"/>
            </a:solidFill>
            <a:ln w="19050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466433" y="1851422"/>
              <a:ext cx="342900" cy="342900"/>
            </a:xfrm>
            <a:prstGeom prst="roundRect">
              <a:avLst>
                <a:gd name="adj" fmla="val 266667"/>
              </a:avLst>
            </a:prstGeom>
            <a:solidFill>
              <a:srgbClr val="1F6FEB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597253" y="1933873"/>
              <a:ext cx="82885" cy="177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b="1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3</a:t>
              </a:r>
              <a:endParaRPr lang="en-US" sz="115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6466433" y="2333923"/>
              <a:ext cx="2025226" cy="2571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800"/>
                </a:spcAft>
                <a:buNone/>
              </a:pPr>
              <a:r>
                <a:rPr lang="en-US" sz="17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Review + land</a:t>
              </a:r>
              <a:endParaRPr lang="en-US" sz="17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6466433" y="2692598"/>
              <a:ext cx="2025226" cy="53399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Review focused diffs, get approval, then update or land the stack.</a:t>
              </a:r>
              <a:endParaRPr lang="en-US" sz="115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466433" y="3338810"/>
              <a:ext cx="1985516" cy="572988"/>
            </a:xfrm>
            <a:prstGeom prst="roundRect">
              <a:avLst>
                <a:gd name="adj" fmla="val 13299"/>
              </a:avLst>
            </a:prstGeom>
            <a:solidFill>
              <a:srgbClr val="010409"/>
            </a:solidFill>
            <a:ln w="9525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6590258" y="3462635"/>
              <a:ext cx="1772623" cy="32533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81"/>
                </a:lnSpc>
                <a:buNone/>
              </a:pPr>
              <a:r>
                <a:rPr lang="en-US" sz="1050" dirty="0">
                  <a:solidFill>
                    <a:srgbClr val="79C0F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gh stack sync</a:t>
              </a:r>
              <a:endParaRPr lang="en-US" sz="1050" dirty="0"/>
            </a:p>
            <a:p>
              <a:pPr marL="0" indent="0" algn="l">
                <a:lnSpc>
                  <a:spcPts val="1281"/>
                </a:lnSpc>
                <a:buNone/>
              </a:pPr>
              <a:r>
                <a:rPr lang="en-US" sz="1050" dirty="0">
                  <a:solidFill>
                    <a:srgbClr val="79C0F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gh stack merge</a:t>
              </a:r>
              <a:endParaRPr lang="en-US" sz="1050" dirty="0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E75F615-0BA6-9698-0E7D-0013C0B4CCC8}"/>
              </a:ext>
            </a:extLst>
          </p:cNvPr>
          <p:cNvGrpSpPr/>
          <p:nvPr/>
        </p:nvGrpSpPr>
        <p:grpSpPr>
          <a:xfrm>
            <a:off x="482501" y="4299049"/>
            <a:ext cx="8178998" cy="463451"/>
            <a:chOff x="482501" y="4299049"/>
            <a:chExt cx="8178998" cy="463451"/>
          </a:xfrm>
        </p:grpSpPr>
        <p:sp>
          <p:nvSpPr>
            <p:cNvPr id="28" name="Text 26"/>
            <p:cNvSpPr/>
            <p:nvPr/>
          </p:nvSpPr>
          <p:spPr>
            <a:xfrm>
              <a:off x="482501" y="4299049"/>
              <a:ext cx="8178998" cy="463451"/>
            </a:xfrm>
            <a:prstGeom prst="rect">
              <a:avLst/>
            </a:prstGeom>
            <a:solidFill>
              <a:srgbClr val="122117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11076" y="4299049"/>
              <a:ext cx="0" cy="463451"/>
            </a:xfrm>
            <a:prstGeom prst="line">
              <a:avLst/>
            </a:prstGeom>
            <a:noFill/>
            <a:ln w="57150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Text 28"/>
            <p:cNvSpPr/>
            <p:nvPr/>
          </p:nvSpPr>
          <p:spPr>
            <a:xfrm>
              <a:off x="717352" y="4426000"/>
              <a:ext cx="7921776" cy="2095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56D36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The result:</a:t>
              </a:r>
              <a:r>
                <a:rPr lang="en-US" sz="1400" dirty="0">
                  <a:solidFill>
                    <a:srgbClr val="D2F4D5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smaller reviews without serial development.</a:t>
              </a:r>
              <a:endParaRPr lang="en-US" sz="1400" dirty="0"/>
            </a:p>
          </p:txBody>
        </p:sp>
      </p:grpSp>
      <p:sp>
        <p:nvSpPr>
          <p:cNvPr id="31" name="Shape 29"/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>
            <a:hlinkClick r:id="rId3"/>
          </p:cNvPr>
          <p:cNvSpPr/>
          <p:nvPr/>
        </p:nvSpPr>
        <p:spPr>
          <a:xfrm>
            <a:off x="74797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gh.io/stacks</a:t>
            </a:r>
            <a:endParaRPr lang="en-US" sz="1050" dirty="0"/>
          </a:p>
        </p:txBody>
      </p:sp>
      <p:pic>
        <p:nvPicPr>
          <p:cNvPr id="33" name="Image 0" descr="GitHub logo">
            <a:hlinkClick r:id="rId4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355550"/>
            <a:ext cx="8342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REAL STACK, START TO FINISH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2501" y="584150"/>
            <a:ext cx="8342578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40"/>
              </a:lnSpc>
              <a:buNone/>
            </a:pPr>
            <a:r>
              <a:rPr lang="en-US" sz="28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three stacked pull requests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82501" y="1033611"/>
            <a:ext cx="834257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600"/>
              </a:spcBef>
              <a:spcAft>
                <a:spcPts val="1500"/>
              </a:spcAft>
              <a:buNone/>
            </a:pPr>
            <a:r>
              <a:rPr lang="en-US" sz="140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this inside a clean repository with an authenticated GitHub CLI and a configured remote.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551" y="1433661"/>
            <a:ext cx="8996898" cy="3074938"/>
          </a:xfrm>
          <a:prstGeom prst="roundRect">
            <a:avLst>
              <a:gd name="adj" fmla="val 4130"/>
            </a:avLst>
          </a:prstGeom>
          <a:solidFill>
            <a:srgbClr val="010409"/>
          </a:solidFill>
          <a:ln w="19050">
            <a:solidFill>
              <a:srgbClr val="30363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4506" y="1452711"/>
            <a:ext cx="8954988" cy="355550"/>
          </a:xfrm>
          <a:prstGeom prst="rect">
            <a:avLst/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01551" y="1803499"/>
            <a:ext cx="8140898" cy="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37292" y="1581299"/>
            <a:ext cx="88850" cy="88850"/>
          </a:xfrm>
          <a:prstGeom prst="roundRect">
            <a:avLst>
              <a:gd name="adj" fmla="val 1029150"/>
            </a:avLst>
          </a:prstGeom>
          <a:solidFill>
            <a:srgbClr val="FF7B7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02342" y="1581299"/>
            <a:ext cx="88850" cy="88850"/>
          </a:xfrm>
          <a:prstGeom prst="roundRect">
            <a:avLst>
              <a:gd name="adj" fmla="val 1029150"/>
            </a:avLst>
          </a:prstGeom>
          <a:solidFill>
            <a:srgbClr val="D299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67392" y="1581299"/>
            <a:ext cx="88850" cy="88850"/>
          </a:xfrm>
          <a:prstGeom prst="roundRect">
            <a:avLst>
              <a:gd name="adj" fmla="val 1029150"/>
            </a:avLst>
          </a:prstGeom>
          <a:solidFill>
            <a:srgbClr val="3FB95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775144" y="1532432"/>
            <a:ext cx="1605618" cy="1865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gh-stacked-prs — bash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9268" y="1947863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Install once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19268" y="2131516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extension install github/gh-stack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19268" y="2315170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Layer 1: model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19268" y="2498824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init --base main tasks/model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19268" y="2682478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edit model + model test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19268" y="2866132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add src test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19268" y="3049786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commit -m "feat: add tested task model"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19268" y="3233440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Layer 2: validation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19268" y="3417094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add tasks/validation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19268" y="3600748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edit validation + test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19268" y="3784402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add src test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19268" y="3968055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commit -m "feat: add tested task validation"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66196" y="1947863"/>
            <a:ext cx="11757" cy="2402086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681717" y="1947863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Layer 3: API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681717" y="2131516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add tasks/api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81717" y="2315170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edit package.json + API files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681717" y="2498824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add package.json src test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681717" y="2682478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commit -m "feat: add tested task API"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681717" y="2866132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Inspect, then create all three PRs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681717" y="3049786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view --json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681717" y="3233440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submit --auto --open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681717" y="3417094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submit pushes, opens PRs, and links the stack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681717" y="3600748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Later, after approval: update or land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681717" y="3784402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sync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681717" y="3968055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merge --yes --squash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82501" y="4635550"/>
            <a:ext cx="41662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56D3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idea:</a:t>
            </a:r>
            <a:r>
              <a:rPr lang="en-US" sz="1050" dirty="0">
                <a:solidFill>
                  <a:srgbClr val="D2F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commit each focused change before adding the next layer.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>
            <a:hlinkClick r:id="rId2"/>
          </p:cNvPr>
          <p:cNvSpPr/>
          <p:nvPr/>
        </p:nvSpPr>
        <p:spPr>
          <a:xfrm>
            <a:off x="74797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gh.io/stacks</a:t>
            </a:r>
            <a:endParaRPr lang="en-US" sz="1050" dirty="0"/>
          </a:p>
        </p:txBody>
      </p:sp>
      <p:pic>
        <p:nvPicPr>
          <p:cNvPr id="41" name="Image 0" descr="GitHub logo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849F82F5-1A90-4E9E-7917-95A0558D5451}"/>
              </a:ext>
            </a:extLst>
          </p:cNvPr>
          <p:cNvSpPr txBox="1"/>
          <p:nvPr/>
        </p:nvSpPr>
        <p:spPr>
          <a:xfrm>
            <a:off x="4116324" y="4590707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100" dirty="0">
                <a:solidFill>
                  <a:schemeClr val="bg1"/>
                </a:solidFill>
              </a:rPr>
              <a:t>https://</a:t>
            </a:r>
            <a:r>
              <a:rPr lang="en-US" sz="1100" dirty="0" err="1">
                <a:solidFill>
                  <a:schemeClr val="bg1"/>
                </a:solidFill>
              </a:rPr>
              <a:t>github.com</a:t>
            </a:r>
            <a:r>
              <a:rPr lang="en-US" sz="1100" dirty="0">
                <a:solidFill>
                  <a:schemeClr val="bg1"/>
                </a:solidFill>
              </a:rPr>
              <a:t>/</a:t>
            </a:r>
            <a:r>
              <a:rPr lang="en-US" sz="1100" dirty="0" err="1">
                <a:solidFill>
                  <a:schemeClr val="bg1"/>
                </a:solidFill>
              </a:rPr>
              <a:t>DanWahlin</a:t>
            </a:r>
            <a:r>
              <a:rPr lang="en-US" sz="1100" dirty="0">
                <a:solidFill>
                  <a:schemeClr val="bg1"/>
                </a:solidFill>
              </a:rPr>
              <a:t>/</a:t>
            </a:r>
            <a:r>
              <a:rPr lang="en-US" sz="1100" dirty="0" err="1">
                <a:solidFill>
                  <a:schemeClr val="bg1"/>
                </a:solidFill>
              </a:rPr>
              <a:t>gh</a:t>
            </a:r>
            <a:r>
              <a:rPr lang="en-US" sz="1100" dirty="0">
                <a:solidFill>
                  <a:schemeClr val="bg1"/>
                </a:solidFill>
              </a:rPr>
              <a:t>-stacked-prs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564</Words>
  <Application>Microsoft Macintosh PowerPoint</Application>
  <PresentationFormat>On-screen Show (16:9)</PresentationFormat>
  <Paragraphs>91</Paragraphs>
  <Slides>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Code with Dan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Stacked PRs: Smaller Reviews Without Serial Development</dc:title>
  <dc:subject>GitHub Stacked PRs</dc:subject>
  <dc:creator>Dan Wahlin</dc:creator>
  <cp:lastModifiedBy>Dan Wahlin</cp:lastModifiedBy>
  <cp:revision>11</cp:revision>
  <dcterms:created xsi:type="dcterms:W3CDTF">2026-07-30T16:46:04Z</dcterms:created>
  <dcterms:modified xsi:type="dcterms:W3CDTF">2026-07-30T19:36:00Z</dcterms:modified>
</cp:coreProperties>
</file>