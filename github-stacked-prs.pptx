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9" r:id="rId2"/>
    <p:sldId id="256" r:id="rId3"/>
    <p:sldId id="257" r:id="rId4"/>
    <p:sldId id="262" r:id="rId13"/>
    <p:sldId id="258" r:id="rId5"/>
    <p:sldId id="261" r:id="rId12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3454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hyperlink" Target="https://github.com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5" Type="http://schemas.openxmlformats.org/officeDocument/2006/relationships/hyperlink" Target="https://github.com/DanWahlin/learn-github-stacked-prs" TargetMode="Externa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hyperlink" Target="https://gh.io/stack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hyperlink" Target="https://github.com/DanWahlin/learn-github-stacked-prs" TargetMode="External"/><Relationship Id="rId2" Type="http://schemas.openxmlformats.org/officeDocument/2006/relationships/hyperlink" Target="https://gh.io/stacks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h.io/stacks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h.io/stacks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github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1396901"/>
            <a:ext cx="711101" cy="63401"/>
          </a:xfrm>
          <a:prstGeom prst="rect">
            <a:avLst/>
          </a:prstGeom>
          <a:solidFill>
            <a:srgbClr val="2EA04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82501" y="1850827"/>
            <a:ext cx="7642759" cy="104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04"/>
              </a:lnSpc>
              <a:buNone/>
            </a:pPr>
            <a:r>
              <a:rPr lang="en-US" sz="3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 with GitHub Stacked PRs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82501" y="3121819"/>
            <a:ext cx="7383780" cy="56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10"/>
              </a:lnSpc>
              <a:spcBef>
                <a:spcPts val="1800"/>
              </a:spcBef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large changes into smaller, dependent pull requests that stay connected and remain independently reviewable.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9" name="Image 0" descr="GitHub logo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10" name="Repository Link">
            <a:hlinkClick r:id="rId5"/>
          </p:cNvPr>
          <p:cNvSpPr txBox="1"/>
          <p:nvPr/>
        </p:nvSpPr>
        <p:spPr>
          <a:xfrm>
            <a:off x="484632" y="3858768"/>
            <a:ext cx="7379208" cy="25603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github.com/DanWahlin/learn-github-stacked-prs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3A1C85F-517F-BA52-26BF-726175D26E73}"/>
              </a:ext>
            </a:extLst>
          </p:cNvPr>
          <p:cNvGrpSpPr/>
          <p:nvPr/>
        </p:nvGrpSpPr>
        <p:grpSpPr>
          <a:xfrm>
            <a:off x="482501" y="1992957"/>
            <a:ext cx="3925788" cy="2603450"/>
            <a:chOff x="482501" y="1992957"/>
            <a:chExt cx="3925788" cy="2603450"/>
          </a:xfrm>
        </p:grpSpPr>
        <p:sp>
          <p:nvSpPr>
            <p:cNvPr id="5" name="Text 3"/>
            <p:cNvSpPr/>
            <p:nvPr/>
          </p:nvSpPr>
          <p:spPr>
            <a:xfrm>
              <a:off x="482501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82501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F85149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439876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482501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492026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755452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FF7B7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1</a:t>
              </a:r>
              <a:endParaRPr lang="en-US" sz="1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55452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One giant PR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55452" y="2970609"/>
              <a:ext cx="3447484" cy="6666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Everything arrives at once. Reviewers must untangle the model, validation, and API together.</a:t>
              </a:r>
              <a:endParaRPr lang="en-US" sz="1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55452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1446609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137916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829074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38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F85149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8B28B7F-58A8-6F71-98C7-4A22E2DD04F7}"/>
              </a:ext>
            </a:extLst>
          </p:cNvPr>
          <p:cNvGrpSpPr/>
          <p:nvPr/>
        </p:nvGrpSpPr>
        <p:grpSpPr>
          <a:xfrm>
            <a:off x="4636889" y="1992957"/>
            <a:ext cx="3925788" cy="2603450"/>
            <a:chOff x="4636889" y="1992957"/>
            <a:chExt cx="3925788" cy="2603450"/>
          </a:xfrm>
        </p:grpSpPr>
        <p:sp>
          <p:nvSpPr>
            <p:cNvPr id="18" name="Text 16"/>
            <p:cNvSpPr/>
            <p:nvPr/>
          </p:nvSpPr>
          <p:spPr>
            <a:xfrm>
              <a:off x="4636889" y="1992957"/>
              <a:ext cx="3925788" cy="2603450"/>
            </a:xfrm>
            <a:prstGeom prst="roundRect">
              <a:avLst>
                <a:gd name="adj" fmla="val 6342"/>
              </a:avLst>
            </a:prstGeom>
            <a:solidFill>
              <a:srgbClr val="161B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36889" y="2031057"/>
              <a:ext cx="3925788" cy="0"/>
            </a:xfrm>
            <a:prstGeom prst="line">
              <a:avLst/>
            </a:prstGeom>
            <a:noFill/>
            <a:ln w="76200">
              <a:solidFill>
                <a:srgbClr val="D29922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8553152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4636889" y="4586883"/>
              <a:ext cx="3925788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Shape 20"/>
            <p:cNvSpPr/>
            <p:nvPr/>
          </p:nvSpPr>
          <p:spPr>
            <a:xfrm>
              <a:off x="4646414" y="1992957"/>
              <a:ext cx="0" cy="260345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21"/>
            <p:cNvSpPr/>
            <p:nvPr/>
          </p:nvSpPr>
          <p:spPr>
            <a:xfrm>
              <a:off x="4909840" y="2323058"/>
              <a:ext cx="3447484" cy="222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b="1" dirty="0">
                  <a:solidFill>
                    <a:srgbClr val="E3B34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2</a:t>
              </a:r>
              <a:endParaRPr lang="en-US" sz="14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909840" y="2545259"/>
              <a:ext cx="3447484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22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Small, serial PRs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909840" y="2970609"/>
              <a:ext cx="3447484" cy="44440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750"/>
                </a:lnSpc>
                <a:buNone/>
              </a:pPr>
              <a:r>
                <a:rPr lang="en-US" sz="140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diffs are focused, but dependent work waits for every previous PR to merge.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4909840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D29922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00998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292304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983462" y="4006007"/>
              <a:ext cx="615107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674769" y="4006007"/>
              <a:ext cx="614958" cy="317450"/>
            </a:xfrm>
            <a:prstGeom prst="roundRect">
              <a:avLst>
                <a:gd name="adj" fmla="val 16003"/>
              </a:avLst>
            </a:prstGeom>
            <a:solidFill>
              <a:srgbClr val="30363D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</p:grpSp>
      <p:sp>
        <p:nvSpPr>
          <p:cNvPr id="32" name="Shape 30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34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API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511578A-7A7F-BE54-86A7-F324E6E38D72}"/>
              </a:ext>
            </a:extLst>
          </p:cNvPr>
          <p:cNvGrpSpPr/>
          <p:nvPr/>
        </p:nvGrpSpPr>
        <p:grpSpPr>
          <a:xfrm>
            <a:off x="3763566" y="2181523"/>
            <a:ext cx="2550914" cy="609600"/>
            <a:chOff x="3763566" y="2181523"/>
            <a:chExt cx="2550914" cy="609600"/>
          </a:xfrm>
        </p:grpSpPr>
        <p:sp>
          <p:nvSpPr>
            <p:cNvPr id="10" name="Text 8"/>
            <p:cNvSpPr/>
            <p:nvPr/>
          </p:nvSpPr>
          <p:spPr>
            <a:xfrm>
              <a:off x="3763566" y="21815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63566" y="21910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4955" y="21815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3763566" y="27815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3801666" y="21815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4004816" y="23815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3</a:t>
              </a:r>
              <a:endParaRPr lang="en-US" sz="14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500539" y="2440559"/>
              <a:ext cx="543283" cy="1296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API</a:t>
              </a:r>
              <a:endParaRPr lang="en-US" sz="105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DE1B6C8-A065-8D8B-99D9-BD181CE3324F}"/>
              </a:ext>
            </a:extLst>
          </p:cNvPr>
          <p:cNvGrpSpPr/>
          <p:nvPr/>
        </p:nvGrpSpPr>
        <p:grpSpPr>
          <a:xfrm>
            <a:off x="3763566" y="2867323"/>
            <a:ext cx="2550914" cy="609600"/>
            <a:chOff x="3763566" y="2867323"/>
            <a:chExt cx="2550914" cy="609600"/>
          </a:xfrm>
        </p:grpSpPr>
        <p:sp>
          <p:nvSpPr>
            <p:cNvPr id="17" name="Text 15"/>
            <p:cNvSpPr/>
            <p:nvPr/>
          </p:nvSpPr>
          <p:spPr>
            <a:xfrm>
              <a:off x="3763566" y="28673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63566" y="28768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6304955" y="28673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3763566" y="34673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3801666" y="28673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4004816" y="30673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2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500539" y="3095923"/>
              <a:ext cx="642437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Validation</a:t>
              </a:r>
              <a:endParaRPr lang="en-US" sz="105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05F821D-18FE-4EFB-EBE2-AFD86236330E}"/>
              </a:ext>
            </a:extLst>
          </p:cNvPr>
          <p:cNvGrpSpPr/>
          <p:nvPr/>
        </p:nvGrpSpPr>
        <p:grpSpPr>
          <a:xfrm>
            <a:off x="3763566" y="3553123"/>
            <a:ext cx="2550914" cy="609600"/>
            <a:chOff x="3763566" y="3553123"/>
            <a:chExt cx="2550914" cy="609600"/>
          </a:xfrm>
        </p:grpSpPr>
        <p:sp>
          <p:nvSpPr>
            <p:cNvPr id="24" name="Text 22"/>
            <p:cNvSpPr/>
            <p:nvPr/>
          </p:nvSpPr>
          <p:spPr>
            <a:xfrm>
              <a:off x="3763566" y="3553123"/>
              <a:ext cx="2550914" cy="609600"/>
            </a:xfrm>
            <a:prstGeom prst="roundRect">
              <a:avLst>
                <a:gd name="adj" fmla="val 16667"/>
              </a:avLst>
            </a:prstGeom>
            <a:solidFill>
              <a:srgbClr val="161B22"/>
            </a:solidFill>
            <a:ln/>
            <a:effectLst>
              <a:outerShdw blurRad="88900" dist="38100" dir="5400000" algn="bl" rotWithShape="0">
                <a:srgbClr val="000000">
                  <a:alpha val="30000"/>
                </a:srgbClr>
              </a:outerShdw>
            </a:effectLst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63566" y="356264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6304955" y="3553123"/>
              <a:ext cx="0" cy="60960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3763566" y="4153198"/>
              <a:ext cx="2550914" cy="0"/>
            </a:xfrm>
            <a:prstGeom prst="line">
              <a:avLst/>
            </a:prstGeom>
            <a:noFill/>
            <a:ln w="19050">
              <a:solidFill>
                <a:srgbClr val="30363D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Shape 26"/>
            <p:cNvSpPr/>
            <p:nvPr/>
          </p:nvSpPr>
          <p:spPr>
            <a:xfrm>
              <a:off x="3801666" y="3553123"/>
              <a:ext cx="0" cy="609600"/>
            </a:xfrm>
            <a:prstGeom prst="line">
              <a:avLst/>
            </a:prstGeom>
            <a:noFill/>
            <a:ln w="7620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 27"/>
            <p:cNvSpPr/>
            <p:nvPr/>
          </p:nvSpPr>
          <p:spPr>
            <a:xfrm>
              <a:off x="4004816" y="3753148"/>
              <a:ext cx="403041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 1</a:t>
              </a:r>
              <a:endParaRPr lang="en-US" sz="14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500539" y="3778211"/>
              <a:ext cx="393022" cy="152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7EE78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Model</a:t>
              </a:r>
              <a:endParaRPr lang="en-US" sz="1050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6936F7E-53E6-C95B-56A0-ED0E4D98B596}"/>
              </a:ext>
            </a:extLst>
          </p:cNvPr>
          <p:cNvGrpSpPr/>
          <p:nvPr/>
        </p:nvGrpSpPr>
        <p:grpSpPr>
          <a:xfrm>
            <a:off x="3696444" y="4264223"/>
            <a:ext cx="2685306" cy="317450"/>
            <a:chOff x="3696444" y="4264223"/>
            <a:chExt cx="2685306" cy="317450"/>
          </a:xfrm>
        </p:grpSpPr>
        <p:sp>
          <p:nvSpPr>
            <p:cNvPr id="31" name="Text 29"/>
            <p:cNvSpPr/>
            <p:nvPr/>
          </p:nvSpPr>
          <p:spPr>
            <a:xfrm>
              <a:off x="3696444" y="4264223"/>
              <a:ext cx="2685306" cy="317450"/>
            </a:xfrm>
            <a:prstGeom prst="rect">
              <a:avLst/>
            </a:prstGeom>
            <a:solidFill>
              <a:srgbClr val="111D2E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696444" y="4283273"/>
              <a:ext cx="2685306" cy="0"/>
            </a:xfrm>
            <a:prstGeom prst="line">
              <a:avLst/>
            </a:prstGeom>
            <a:noFill/>
            <a:ln w="38100">
              <a:solidFill>
                <a:srgbClr val="58A6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 31"/>
            <p:cNvSpPr/>
            <p:nvPr/>
          </p:nvSpPr>
          <p:spPr>
            <a:xfrm>
              <a:off x="4876800" y="4370487"/>
              <a:ext cx="330934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MAIN</a:t>
              </a:r>
              <a:endParaRPr lang="en-US" sz="1000" dirty="0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629951B-478D-FE58-5112-9F554ECBC60E}"/>
              </a:ext>
            </a:extLst>
          </p:cNvPr>
          <p:cNvGrpSpPr/>
          <p:nvPr/>
        </p:nvGrpSpPr>
        <p:grpSpPr>
          <a:xfrm>
            <a:off x="6635651" y="1940719"/>
            <a:ext cx="2025848" cy="806648"/>
            <a:chOff x="6635651" y="1940719"/>
            <a:chExt cx="2025848" cy="806648"/>
          </a:xfrm>
        </p:grpSpPr>
        <p:sp>
          <p:nvSpPr>
            <p:cNvPr id="34" name="Text 32"/>
            <p:cNvSpPr/>
            <p:nvPr/>
          </p:nvSpPr>
          <p:spPr>
            <a:xfrm>
              <a:off x="6635651" y="1940719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6659463" y="1940719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34"/>
            <p:cNvSpPr/>
            <p:nvPr/>
          </p:nvSpPr>
          <p:spPr>
            <a:xfrm>
              <a:off x="6822877" y="2067669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Small reviews</a:t>
              </a:r>
              <a:endParaRPr lang="en-US" sz="13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6822877" y="2305794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Each layer exposes only its focused change.</a:t>
              </a:r>
              <a:endParaRPr lang="en-US" sz="105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7517EAF-813A-63F7-A6E2-F1C588B318C7}"/>
              </a:ext>
            </a:extLst>
          </p:cNvPr>
          <p:cNvGrpSpPr/>
          <p:nvPr/>
        </p:nvGrpSpPr>
        <p:grpSpPr>
          <a:xfrm>
            <a:off x="6635651" y="2861667"/>
            <a:ext cx="2025848" cy="963960"/>
            <a:chOff x="6635651" y="2861667"/>
            <a:chExt cx="2025848" cy="963960"/>
          </a:xfrm>
        </p:grpSpPr>
        <p:sp>
          <p:nvSpPr>
            <p:cNvPr id="38" name="Text 36"/>
            <p:cNvSpPr/>
            <p:nvPr/>
          </p:nvSpPr>
          <p:spPr>
            <a:xfrm>
              <a:off x="6635651" y="2861667"/>
              <a:ext cx="2025848" cy="963960"/>
            </a:xfrm>
            <a:prstGeom prst="roundRect">
              <a:avLst>
                <a:gd name="adj" fmla="val 7905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59463" y="2861667"/>
              <a:ext cx="0" cy="963960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6822877" y="2988618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Continuous progress</a:t>
              </a:r>
              <a:endParaRPr lang="en-US" sz="13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822877" y="3226743"/>
              <a:ext cx="1733002" cy="4719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Dependent work can continue before lower layers merge.</a:t>
              </a:r>
              <a:endParaRPr lang="en-US" sz="105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F2A3C16-8B3C-02A0-AB90-8FD1D4662B36}"/>
              </a:ext>
            </a:extLst>
          </p:cNvPr>
          <p:cNvGrpSpPr/>
          <p:nvPr/>
        </p:nvGrpSpPr>
        <p:grpSpPr>
          <a:xfrm>
            <a:off x="6635651" y="3939927"/>
            <a:ext cx="2025848" cy="806648"/>
            <a:chOff x="6635651" y="3939927"/>
            <a:chExt cx="2025848" cy="806648"/>
          </a:xfrm>
        </p:grpSpPr>
        <p:sp>
          <p:nvSpPr>
            <p:cNvPr id="42" name="Text 40"/>
            <p:cNvSpPr/>
            <p:nvPr/>
          </p:nvSpPr>
          <p:spPr>
            <a:xfrm>
              <a:off x="6635651" y="3939927"/>
              <a:ext cx="2025848" cy="806648"/>
            </a:xfrm>
            <a:prstGeom prst="roundRect">
              <a:avLst>
                <a:gd name="adj" fmla="val 9446"/>
              </a:avLst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659463" y="3939927"/>
              <a:ext cx="0" cy="806648"/>
            </a:xfrm>
            <a:prstGeom prst="line">
              <a:avLst/>
            </a:prstGeom>
            <a:noFill/>
            <a:ln w="47625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 42"/>
            <p:cNvSpPr/>
            <p:nvPr/>
          </p:nvSpPr>
          <p:spPr>
            <a:xfrm>
              <a:off x="6822877" y="4066877"/>
              <a:ext cx="1733002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300"/>
                </a:spcAft>
                <a:buNone/>
              </a:pPr>
              <a:r>
                <a:rPr lang="en-US" sz="1300" b="1" dirty="0">
                  <a:solidFill>
                    <a:srgbClr val="56D36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Shared context</a:t>
              </a:r>
              <a:endParaRPr lang="en-US" sz="13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6822877" y="4305002"/>
              <a:ext cx="1733002" cy="3146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39"/>
                </a:lnSpc>
                <a:buNone/>
              </a:pPr>
              <a:r>
                <a:rPr lang="en-US" sz="1050" dirty="0">
                  <a:solidFill>
                    <a:srgbClr val="C9D1D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GitHub keeps the layers connected as one stack.</a:t>
              </a:r>
              <a:endParaRPr lang="en-US" sz="1050" dirty="0"/>
            </a:p>
          </p:txBody>
        </p:sp>
      </p:grpSp>
      <p:sp>
        <p:nvSpPr>
          <p:cNvPr id="46" name="Shape 44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48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HUMAN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5993342-5A84-6EB4-3DD9-8258D925D921}"/>
              </a:ext>
            </a:extLst>
          </p:cNvPr>
          <p:cNvGrpSpPr/>
          <p:nvPr/>
        </p:nvGrpSpPr>
        <p:grpSpPr>
          <a:xfrm>
            <a:off x="482501" y="1641872"/>
            <a:ext cx="2404616" cy="2479477"/>
            <a:chOff x="482501" y="1641872"/>
            <a:chExt cx="2404616" cy="2479477"/>
          </a:xfrm>
        </p:grpSpPr>
        <p:sp>
          <p:nvSpPr>
            <p:cNvPr id="5" name="Text 3"/>
            <p:cNvSpPr/>
            <p:nvPr/>
          </p:nvSpPr>
          <p:spPr>
            <a:xfrm>
              <a:off x="482501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2051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822871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2051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Create layers</a:t>
              </a:r>
              <a:endParaRPr lang="en-US" sz="17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92051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Start the stack, then add one branch per reviewable concern.</a:t>
              </a:r>
              <a:endParaRPr lang="en-US" sz="11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92051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15876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init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add</a:t>
              </a:r>
              <a:endParaRPr lang="en-US" sz="105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289C23A-3201-9E69-DBF2-1502D6F61EB7}"/>
              </a:ext>
            </a:extLst>
          </p:cNvPr>
          <p:cNvGrpSpPr/>
          <p:nvPr/>
        </p:nvGrpSpPr>
        <p:grpSpPr>
          <a:xfrm>
            <a:off x="3369618" y="1641872"/>
            <a:ext cx="2404765" cy="2479477"/>
            <a:chOff x="3369618" y="1641872"/>
            <a:chExt cx="2404765" cy="2479477"/>
          </a:xfrm>
        </p:grpSpPr>
        <p:sp>
          <p:nvSpPr>
            <p:cNvPr id="13" name="Text 11"/>
            <p:cNvSpPr/>
            <p:nvPr/>
          </p:nvSpPr>
          <p:spPr>
            <a:xfrm>
              <a:off x="3369618" y="1641872"/>
              <a:ext cx="2404765" cy="2479477"/>
            </a:xfrm>
            <a:prstGeom prst="roundRect">
              <a:avLst>
                <a:gd name="adj" fmla="val 6337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579168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709988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79168" y="2333923"/>
              <a:ext cx="2025378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Submit once</a:t>
              </a:r>
              <a:endParaRPr lang="en-US" sz="17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79168" y="2692598"/>
              <a:ext cx="2025378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Push branches, create correctly based PRs, and link the stack.</a:t>
              </a:r>
              <a:endParaRPr lang="en-US" sz="11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79168" y="3501479"/>
              <a:ext cx="1985665" cy="410319"/>
            </a:xfrm>
            <a:prstGeom prst="roundRect">
              <a:avLst>
                <a:gd name="adj" fmla="val 18571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702993" y="3625304"/>
              <a:ext cx="1772775" cy="1626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submit</a:t>
              </a:r>
              <a:endParaRPr lang="en-US" sz="10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BCB05C5-A67B-70DE-7AF1-E949096C62DF}"/>
              </a:ext>
            </a:extLst>
          </p:cNvPr>
          <p:cNvGrpSpPr/>
          <p:nvPr/>
        </p:nvGrpSpPr>
        <p:grpSpPr>
          <a:xfrm>
            <a:off x="6256883" y="1641872"/>
            <a:ext cx="2404616" cy="2479477"/>
            <a:chOff x="6256883" y="1641872"/>
            <a:chExt cx="2404616" cy="2479477"/>
          </a:xfrm>
        </p:grpSpPr>
        <p:sp>
          <p:nvSpPr>
            <p:cNvPr id="21" name="Text 19"/>
            <p:cNvSpPr/>
            <p:nvPr/>
          </p:nvSpPr>
          <p:spPr>
            <a:xfrm>
              <a:off x="6256883" y="1641872"/>
              <a:ext cx="2404616" cy="2479477"/>
            </a:xfrm>
            <a:prstGeom prst="roundRect">
              <a:avLst>
                <a:gd name="adj" fmla="val 6338"/>
              </a:avLst>
            </a:prstGeom>
            <a:solidFill>
              <a:srgbClr val="161B22"/>
            </a:solidFill>
            <a:ln w="19050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466433" y="1851422"/>
              <a:ext cx="342900" cy="342900"/>
            </a:xfrm>
            <a:prstGeom prst="roundRect">
              <a:avLst>
                <a:gd name="adj" fmla="val 266667"/>
              </a:avLst>
            </a:prstGeom>
            <a:solidFill>
              <a:srgbClr val="1F6FEB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597253" y="1933873"/>
              <a:ext cx="82885" cy="177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b="1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</a:t>
              </a:r>
              <a:endParaRPr lang="en-US" sz="11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466433" y="2333923"/>
              <a:ext cx="2025226" cy="2571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800"/>
                </a:spcAft>
                <a:buNone/>
              </a:pPr>
              <a:r>
                <a:rPr lang="en-US" sz="1700" b="1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+ land</a:t>
              </a:r>
              <a:endParaRPr lang="en-US" sz="17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6466433" y="2692598"/>
              <a:ext cx="2025226" cy="533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03"/>
                </a:lnSpc>
                <a:buNone/>
              </a:pPr>
              <a:r>
                <a:rPr lang="en-US" sz="1150" dirty="0">
                  <a:solidFill>
                    <a:srgbClr val="B1BAC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Review focused diffs, get approval, then update or land the stack.</a:t>
              </a:r>
              <a:endParaRPr lang="en-US" sz="11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466433" y="3338810"/>
              <a:ext cx="1985516" cy="572988"/>
            </a:xfrm>
            <a:prstGeom prst="roundRect">
              <a:avLst>
                <a:gd name="adj" fmla="val 13299"/>
              </a:avLst>
            </a:prstGeom>
            <a:solidFill>
              <a:srgbClr val="010409"/>
            </a:solidFill>
            <a:ln w="9525">
              <a:solidFill>
                <a:srgbClr val="30363D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590258" y="3462635"/>
              <a:ext cx="1772623" cy="32533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sync</a:t>
              </a:r>
              <a:endParaRPr lang="en-US" sz="1050" dirty="0"/>
            </a:p>
            <a:p>
              <a:pPr marL="0" indent="0" algn="l">
                <a:lnSpc>
                  <a:spcPts val="1281"/>
                </a:lnSpc>
                <a:buNone/>
              </a:pPr>
              <a:r>
                <a:rPr lang="en-US" sz="1050" dirty="0">
                  <a:solidFill>
                    <a:srgbClr val="79C0FF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gh stack merge</a:t>
              </a:r>
              <a:endParaRPr lang="en-US" sz="105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75F615-0BA6-9698-0E7D-0013C0B4CCC8}"/>
              </a:ext>
            </a:extLst>
          </p:cNvPr>
          <p:cNvGrpSpPr/>
          <p:nvPr/>
        </p:nvGrpSpPr>
        <p:grpSpPr>
          <a:xfrm>
            <a:off x="482501" y="4299049"/>
            <a:ext cx="8178998" cy="463451"/>
            <a:chOff x="482501" y="4299049"/>
            <a:chExt cx="8178998" cy="463451"/>
          </a:xfrm>
        </p:grpSpPr>
        <p:sp>
          <p:nvSpPr>
            <p:cNvPr id="28" name="Text 26"/>
            <p:cNvSpPr/>
            <p:nvPr/>
          </p:nvSpPr>
          <p:spPr>
            <a:xfrm>
              <a:off x="482501" y="4299049"/>
              <a:ext cx="8178998" cy="463451"/>
            </a:xfrm>
            <a:prstGeom prst="rect">
              <a:avLst/>
            </a:prstGeom>
            <a:solidFill>
              <a:srgbClr val="122117"/>
            </a:solidFill>
            <a:ln/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11076" y="4299049"/>
              <a:ext cx="0" cy="463451"/>
            </a:xfrm>
            <a:prstGeom prst="line">
              <a:avLst/>
            </a:prstGeom>
            <a:noFill/>
            <a:ln w="57150">
              <a:solidFill>
                <a:srgbClr val="3FB95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 28"/>
            <p:cNvSpPr/>
            <p:nvPr/>
          </p:nvSpPr>
          <p:spPr>
            <a:xfrm>
              <a:off x="717352" y="4426000"/>
              <a:ext cx="7921776" cy="2095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79C0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result:</a:t>
              </a:r>
              <a:r>
                <a:rPr lang="en-US" sz="1400" dirty="0">
                  <a:solidFill>
                    <a:srgbClr val="F0F6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smaller reviews without serial development.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hlinkClick r:id="rId3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33" name="Image 0" descr="GitHub logo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STACK, START TO FINISH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three stacked pull requests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82501" y="1033611"/>
            <a:ext cx="8342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spcAft>
                <a:spcPts val="1500"/>
              </a:spcAft>
              <a:buNone/>
            </a:pPr>
            <a:r>
              <a:rPr lang="en-US" sz="14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CLI sequence. Add and test each layer before committing.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551" y="1433661"/>
            <a:ext cx="8996898" cy="3074938"/>
          </a:xfrm>
          <a:prstGeom prst="roundRect">
            <a:avLst>
              <a:gd name="adj" fmla="val 4130"/>
            </a:avLst>
          </a:prstGeom>
          <a:solidFill>
            <a:srgbClr val="010409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4506" y="1452711"/>
            <a:ext cx="8954988" cy="35555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1551" y="1803499"/>
            <a:ext cx="8140898" cy="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372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FF7B7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234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67392" y="1581299"/>
            <a:ext cx="88850" cy="88850"/>
          </a:xfrm>
          <a:prstGeom prst="roundRect">
            <a:avLst>
              <a:gd name="adj" fmla="val 102915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75144" y="1532432"/>
            <a:ext cx="1605618" cy="186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stacked-prs — bash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9268" y="1947863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once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9268" y="213151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extension install github/gh-stack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268" y="231517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1: model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9268" y="249882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init --base main tasks/model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9268" y="268247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model + test; run npm test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9268" y="286613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9268" y="3049786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model"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9268" y="3233440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2: validation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9268" y="3417094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tasks/validation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9268" y="3600748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validation + test; run npm test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9268" y="3784402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src test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9268" y="3968055"/>
            <a:ext cx="4452493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validation"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66196" y="1947863"/>
            <a:ext cx="11757" cy="240208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681717" y="1947863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Layer 3: API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81717" y="213151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add tasks/api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81717" y="231517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 API + tests; run npm test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81717" y="249882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package.json src test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681717" y="268247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"feat: add tested task API"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81717" y="286613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Inspect, then create all three PRs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81717" y="3049786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view --json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81717" y="3233440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submit --auto --open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81717" y="3417094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submit pushes, opens PRs, and links the stack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81717" y="3600748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Separate step: after review + approval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81717" y="3784402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sync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81717" y="3968055"/>
            <a:ext cx="4452308" cy="15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8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gh stack merge --yes --squash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2501" y="4635550"/>
            <a:ext cx="4166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idea:</a:t>
            </a:r>
            <a:r>
              <a:rPr lang="en-US" sz="105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test and commit each focused change before adding the next layer.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gh.io/stacks</a:t>
            </a:r>
            <a:endParaRPr lang="en-US" sz="1050" dirty="0"/>
          </a:p>
        </p:txBody>
      </p:sp>
      <p:pic>
        <p:nvPicPr>
          <p:cNvPr id="41" name="Image 0" descr="GitHub logo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137160"/>
            <a:ext cx="301752" cy="301752"/>
          </a:xfrm>
          <a:prstGeom prst="rect">
            <a:avLst/>
          </a:prstGeom>
        </p:spPr>
      </p:pic>
      <p:sp>
        <p:nvSpPr>
          <p:cNvPr id="43" name="TextBox 42">
            <a:hlinkClick r:id="rId3"/>
            <a:extLst>
              <a:ext uri="{FF2B5EF4-FFF2-40B4-BE49-F238E27FC236}">
                <a16:creationId xmlns:a16="http://schemas.microsoft.com/office/drawing/2014/main" id="{849F82F5-1A90-4E9E-7917-95A0558D5451}"/>
              </a:ext>
            </a:extLst>
          </p:cNvPr>
          <p:cNvSpPr txBox="1"/>
          <p:nvPr/>
        </p:nvSpPr>
        <p:spPr>
          <a:xfrm>
            <a:off x="4116324" y="4590707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solidFill>
                  <a:schemeClr val="bg1"/>
                </a:solidFill>
              </a:rPr>
              <a:t>https://</a:t>
            </a:r>
            <a:r>
              <a:rPr lang="en-US" sz="1100" dirty="0" err="1">
                <a:solidFill>
                  <a:schemeClr val="bg1"/>
                </a:solidFill>
              </a:rPr>
              <a:t>github.com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DanWahlin</a:t>
            </a:r>
            <a:r>
              <a:rPr lang="en-US" sz="1100" dirty="0">
                <a:solidFill>
                  <a:schemeClr val="bg1"/>
                </a:solidFill>
              </a:rPr>
              <a:t>/</a:t>
            </a:r>
            <a:r>
              <a:rPr lang="en-US" sz="1100" dirty="0" err="1">
                <a:solidFill>
                  <a:schemeClr val="bg1"/>
                </a:solidFill>
              </a:rPr>
              <a:t>learn-github</a:t>
            </a:r>
            <a:r>
              <a:rPr lang="en-US" sz="1100" dirty="0">
                <a:solidFill>
                  <a:schemeClr val="bg1"/>
                </a:solidFill>
              </a:rPr>
              <a:t>-stacked-prs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4632" y="347472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8A6FF"/>
                </a:solidFill>
                <a:latin typeface="Arial"/>
              </a:rPr>
              <a:t>AGENTIC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4632" y="585216"/>
            <a:ext cx="80010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0F6FC"/>
                </a:solidFill>
                <a:latin typeface="Arial"/>
              </a:rPr>
              <a:t>From prompt to published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005840"/>
            <a:ext cx="80924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49E"/>
                </a:solidFill>
                <a:latin typeface="Arial"/>
              </a:rPr>
              <a:t>Follow four steps, and stop for human approval before coding or publishing.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8000"/>
            </a:avLst>
          </a:prstGeom>
          <a:solidFill>
            <a:srgbClr val="1F6F37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gh.io/stacks</a:t>
            </a:r>
          </a:p>
        </p:txBody>
      </p:sp>
      <p:pic>
        <p:nvPicPr>
          <p:cNvPr id="6" name="Picture 5" descr="stack-github-logo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137160"/>
            <a:ext cx="256032" cy="2560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4632" y="1444752"/>
            <a:ext cx="1975104" cy="2670048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0936" y="1618488"/>
            <a:ext cx="329184" cy="329184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1572768"/>
            <a:ext cx="12984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F0F6FC"/>
                </a:solidFill>
                <a:latin typeface="Arial"/>
              </a:rPr>
              <a:t>Start with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1176" y="1444752"/>
            <a:ext cx="1975104" cy="2670048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97480" y="1618488"/>
            <a:ext cx="329184" cy="329184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9816" y="1572768"/>
            <a:ext cx="12984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F0F6FC"/>
                </a:solidFill>
                <a:latin typeface="Arial"/>
              </a:rPr>
              <a:t>Plan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444752"/>
            <a:ext cx="1975104" cy="2670048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64024" y="1618488"/>
            <a:ext cx="329184" cy="329184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59" y="1572768"/>
            <a:ext cx="12984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F0F6FC"/>
                </a:solidFill>
                <a:latin typeface="Arial"/>
              </a:rPr>
              <a:t>Build each layer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84264" y="1444752"/>
            <a:ext cx="1975104" cy="2670048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30568" y="1618488"/>
            <a:ext cx="329184" cy="329184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3" y="1572768"/>
            <a:ext cx="12984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F0F6FC"/>
                </a:solidFill>
                <a:latin typeface="Arial"/>
              </a:rPr>
              <a:t>Verify + publish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103120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Launch from the repository root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368296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Confirm AGENTS.md is loaded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633472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Confirm the gh-stack skill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" y="3072384"/>
            <a:ext cx="1682496" cy="566928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73152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80">
                <a:solidFill>
                  <a:srgbClr val="58A6FF"/>
                </a:solidFill>
                <a:latin typeface="Courier New"/>
              </a:rPr>
              <a:t>copilot skill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" y="3685032"/>
            <a:ext cx="1682496" cy="274320"/>
          </a:xfrm>
          <a:prstGeom prst="roundRect">
            <a:avLst>
              <a:gd name="adj" fmla="val 8000"/>
            </a:avLst>
          </a:prstGeom>
          <a:solidFill>
            <a:srgbClr val="0F2D1A"/>
          </a:solidFill>
          <a:ln w="12700">
            <a:solidFill>
              <a:srgbClr val="1F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760" b="1">
                <a:solidFill>
                  <a:srgbClr val="79C0FF"/>
                </a:solidFill>
                <a:latin typeface="Arial"/>
              </a:rPr>
              <a:t>Ask: </a:t>
            </a:r>
            <a:r>
              <a:rPr sz="760" b="1">
                <a:solidFill>
                  <a:srgbClr val="F0F6FC"/>
                </a:solidFill>
                <a:latin typeface="Arial"/>
              </a:rPr>
              <a:t>"Summarize AGENTS.md."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624" y="2103120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Ask for trunk + branch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6624" y="2368296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Define responsibility +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06624" y="2633472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Do not modify 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3108960"/>
            <a:ext cx="1682496" cy="658368"/>
          </a:xfrm>
          <a:prstGeom prst="roundRect">
            <a:avLst>
              <a:gd name="adj" fmla="val 8000"/>
            </a:avLst>
          </a:prstGeom>
          <a:solidFill>
            <a:srgbClr val="0F2D1A"/>
          </a:solidFill>
          <a:ln w="12700">
            <a:solidFill>
              <a:srgbClr val="1F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3152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F0F6FC"/>
                </a:solidFill>
                <a:latin typeface="Arial"/>
              </a:rPr>
              <a:t>"Plan the stack. Wait for approval before coding."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73168" y="2103120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Create the approved branch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73168" y="2368296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Implement behavior +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73168" y="2633472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Run tests + inspect parent diff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3168" y="2898648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Commit locally, then stop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4024" y="3401568"/>
            <a:ext cx="1682496" cy="356616"/>
          </a:xfrm>
          <a:prstGeom prst="roundRect">
            <a:avLst>
              <a:gd name="adj" fmla="val 8000"/>
            </a:avLst>
          </a:prstGeom>
          <a:solidFill>
            <a:srgbClr val="0F2D1A"/>
          </a:solidFill>
          <a:ln w="12700">
            <a:solidFill>
              <a:srgbClr val="1F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850" b="1">
                <a:solidFill>
                  <a:srgbClr val="79C0FF"/>
                </a:solidFill>
                <a:latin typeface="Arial"/>
              </a:rPr>
              <a:t>Repeat bottom-to-top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39712" y="2103120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Return stack state + ancestry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68296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Return per-layer diffs +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633472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Get approval for remote actions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898648"/>
            <a:ext cx="166420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8B949E"/>
                </a:solidFill>
                <a:latin typeface="Arial"/>
              </a:rPr>
              <a:t>•  Submit, then inspect live PRs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30568" y="3401568"/>
            <a:ext cx="1682496" cy="356616"/>
          </a:xfrm>
          <a:prstGeom prst="roundRect">
            <a:avLst>
              <a:gd name="adj" fmla="val 8000"/>
            </a:avLst>
          </a:prstGeom>
          <a:solidFill>
            <a:srgbClr val="0F2D1A"/>
          </a:solidFill>
          <a:ln w="12700">
            <a:solidFill>
              <a:srgbClr val="1F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770" b="1">
                <a:solidFill>
                  <a:srgbClr val="79C0FF"/>
                </a:solidFill>
                <a:latin typeface="Arial"/>
              </a:rPr>
              <a:t>Verify the live GitHub state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4632" y="347472"/>
            <a:ext cx="658368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8A6FF"/>
                </a:solidFill>
                <a:latin typeface="Arial"/>
              </a:rPr>
              <a:t>BEFORE THE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4632" y="585216"/>
            <a:ext cx="80010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0F6FC"/>
                </a:solidFill>
                <a:latin typeface="Arial"/>
              </a:rPr>
              <a:t>Install and verify the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" y="1005840"/>
            <a:ext cx="80924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49E"/>
                </a:solidFill>
                <a:latin typeface="Arial"/>
              </a:rPr>
              <a:t>GitHub shows the stack; the gh stack extension manages it from the terminal.</a:t>
            </a:r>
          </a:p>
        </p:txBody>
      </p:sp>
      <p:sp>
        <p:nvSpPr>
          <p:cNvPr id="5" name="Rounded Rectangle 4">
            <a:hlinkClick r:id="rId2"/>
          </p:cNvPr>
          <p:cNvSpPr/>
          <p:nvPr/>
        </p:nvSpPr>
        <p:spPr>
          <a:xfrm>
            <a:off x="7479792" y="146304"/>
            <a:ext cx="1078992" cy="283464"/>
          </a:xfrm>
          <a:prstGeom prst="roundRect">
            <a:avLst>
              <a:gd name="adj" fmla="val 8000"/>
            </a:avLst>
          </a:prstGeom>
          <a:solidFill>
            <a:srgbClr val="1F6F37"/>
          </a:solidFill>
          <a:ln w="12700">
            <a:solidFill>
              <a:srgbClr val="2EA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gh.io/stacks</a:t>
            </a:r>
          </a:p>
        </p:txBody>
      </p:sp>
      <p:pic>
        <p:nvPicPr>
          <p:cNvPr id="6" name="Picture 5" descr="stack-github-logo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137160"/>
            <a:ext cx="256032" cy="2560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84632" y="1444752"/>
            <a:ext cx="2532888" cy="2176272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" y="1609344"/>
            <a:ext cx="310896" cy="310896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1572768"/>
            <a:ext cx="175564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0F6FC"/>
                </a:solidFill>
                <a:latin typeface="Arial"/>
              </a:rPr>
              <a:t>Prerequisites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8688" y="1444752"/>
            <a:ext cx="2532888" cy="2176272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83280" y="1609344"/>
            <a:ext cx="310896" cy="310896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572768"/>
            <a:ext cx="175564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0F6FC"/>
                </a:solidFill>
                <a:latin typeface="Arial"/>
              </a:rPr>
              <a:t>Authenticate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52744" y="1444752"/>
            <a:ext cx="2532888" cy="2176272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17336" y="1609344"/>
            <a:ext cx="310896" cy="310896"/>
          </a:xfrm>
          <a:prstGeom prst="ellipse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F0F6FC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1572768"/>
            <a:ext cx="175564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0F6FC"/>
                </a:solidFill>
                <a:latin typeface="Arial"/>
              </a:rPr>
              <a:t>Install + 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984248"/>
            <a:ext cx="2176272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FB950"/>
                </a:solidFill>
                <a:latin typeface="Arial"/>
              </a:rPr>
              <a:t>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267712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8B949E"/>
                </a:solidFill>
                <a:latin typeface="Arial"/>
              </a:rPr>
              <a:t>•  Git 2.20 or newer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2560320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8B949E"/>
                </a:solidFill>
                <a:latin typeface="Arial"/>
              </a:rPr>
              <a:t>•  GitHub CLI 2.90 or newer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285292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8B949E"/>
                </a:solidFill>
                <a:latin typeface="Arial"/>
              </a:rPr>
              <a:t>•  Node.js 20 or newer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145536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8B949E"/>
                </a:solidFill>
                <a:latin typeface="Arial"/>
              </a:rPr>
              <a:t>•  Git identity + GitHub push 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1984248"/>
            <a:ext cx="2176272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FB950"/>
                </a:solidFill>
                <a:latin typeface="Arial"/>
              </a:rPr>
              <a:t>SIGN IN ONCE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2240280"/>
            <a:ext cx="2194560" cy="713232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0584" bIns="73152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8A6FF"/>
                </a:solidFill>
                <a:latin typeface="Courier New"/>
              </a:rPr>
              <a:t>gh auth login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8A6FF"/>
                </a:solidFill>
                <a:latin typeface="Courier New"/>
              </a:rPr>
              <a:t>gh auth 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136392"/>
            <a:ext cx="21214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8B949E"/>
                </a:solidFill>
                <a:latin typeface="Arial"/>
              </a:rPr>
              <a:t>Confirm the active account and the repository host.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984248"/>
            <a:ext cx="2176272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FB950"/>
                </a:solidFill>
                <a:latin typeface="Arial"/>
              </a:rPr>
              <a:t>INSTALL ONCE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17336" y="2221992"/>
            <a:ext cx="2194560" cy="877824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46304" bIns="73152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58A6FF"/>
                </a:solidFill>
                <a:latin typeface="Courier New"/>
              </a:rPr>
              <a:t>gh extension install github/gh-stack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58A6FF"/>
                </a:solidFill>
                <a:latin typeface="Courier New"/>
              </a:rPr>
              <a:t>gh stack --version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3209544"/>
            <a:ext cx="211226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8B949E"/>
                </a:solidFill>
                <a:latin typeface="Arial"/>
              </a:rPr>
              <a:t>Verify the command before starting.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" y="3840480"/>
            <a:ext cx="8001000" cy="950976"/>
          </a:xfrm>
          <a:prstGeom prst="roundRect">
            <a:avLst>
              <a:gd name="adj" fmla="val 8000"/>
            </a:avLst>
          </a:prstGeom>
          <a:solidFill>
            <a:srgbClr val="0F2D1A"/>
          </a:solidFill>
          <a:ln w="12700">
            <a:solidFill>
              <a:srgbClr val="1F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3995928"/>
            <a:ext cx="1298448" cy="1737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9C0FF"/>
                </a:solidFill>
                <a:latin typeface="Arial"/>
              </a:rPr>
              <a:t>USING AN AGENT?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426110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F0F6FC"/>
                </a:solidFill>
                <a:latin typeface="Arial"/>
              </a:rPr>
              <a:t>Install the gh-stack skill too.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3995928"/>
            <a:ext cx="3703320" cy="548640"/>
          </a:xfrm>
          <a:prstGeom prst="roundRect">
            <a:avLst>
              <a:gd name="adj" fmla="val 8000"/>
            </a:avLst>
          </a:prstGeom>
          <a:solidFill>
            <a:srgbClr val="010409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82296" bIns="73152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58A6FF"/>
                </a:solidFill>
                <a:latin typeface="Courier New"/>
              </a:rPr>
              <a:t>gh skill install github/gh-stack gh-stack \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58A6FF"/>
                </a:solidFill>
                <a:latin typeface="Courier New"/>
              </a:rPr>
              <a:t>  --agent github-copilot --scope 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1616" y="4005072"/>
            <a:ext cx="2194560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F0F6FC"/>
                </a:solidFill>
                <a:latin typeface="Arial"/>
              </a:rPr>
              <a:t>The skill adds command knowledge. It does not replace the extension.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798</Words>
  <Application>Microsoft Macintosh PowerPoint</Application>
  <PresentationFormat>On-screen Show (16:9)</PresentationFormat>
  <Paragraphs>159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11</cp:revision>
  <dcterms:created xsi:type="dcterms:W3CDTF">2026-07-30T16:46:04Z</dcterms:created>
  <dcterms:modified xsi:type="dcterms:W3CDTF">2026-07-30T19:36:00Z</dcterms:modified>
</cp:coreProperties>
</file>