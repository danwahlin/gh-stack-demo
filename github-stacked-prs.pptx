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1 of 3. See VIDEO.md for narration and shot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2 of 3. See VIDEO.md for narration and shot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3 of 3. See VIDEO.md for narration and shot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031379" cy="83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spcAft>
                <a:spcPts val="800"/>
              </a:spcAft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feature creates an awkward choice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558082"/>
            <a:ext cx="83425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for review speed, or development speed?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82501" y="1992957"/>
            <a:ext cx="3925788" cy="2603450"/>
          </a:xfrm>
          <a:prstGeom prst="roundRect">
            <a:avLst>
              <a:gd name="adj" fmla="val 634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82501" y="2031057"/>
            <a:ext cx="3925788" cy="0"/>
          </a:xfrm>
          <a:prstGeom prst="line">
            <a:avLst/>
          </a:prstGeom>
          <a:noFill/>
          <a:ln w="76200">
            <a:solidFill>
              <a:srgbClr val="F851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98764" y="1992957"/>
            <a:ext cx="0" cy="260345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2501" y="4586883"/>
            <a:ext cx="3925788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2026" y="1992957"/>
            <a:ext cx="0" cy="260345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5452" y="2323058"/>
            <a:ext cx="3447484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55452" y="2545259"/>
            <a:ext cx="344748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giant PR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55452" y="2970609"/>
            <a:ext cx="3447484" cy="66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arrives at once. Reviewers must untangle the model, validation, and tests together.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55452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446609" y="4006007"/>
            <a:ext cx="615107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137916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829074" y="4006007"/>
            <a:ext cx="615107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520380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636889" y="1992957"/>
            <a:ext cx="3925788" cy="2603450"/>
          </a:xfrm>
          <a:prstGeom prst="roundRect">
            <a:avLst>
              <a:gd name="adj" fmla="val 634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636889" y="2031057"/>
            <a:ext cx="3925788" cy="0"/>
          </a:xfrm>
          <a:prstGeom prst="line">
            <a:avLst/>
          </a:prstGeom>
          <a:noFill/>
          <a:ln w="76200">
            <a:solidFill>
              <a:srgbClr val="D2992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53152" y="1992957"/>
            <a:ext cx="0" cy="260345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36889" y="4586883"/>
            <a:ext cx="3925788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46414" y="1992957"/>
            <a:ext cx="0" cy="260345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09840" y="2323058"/>
            <a:ext cx="3447484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E3B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2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09840" y="2545259"/>
            <a:ext cx="344748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Small, serial PRs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909840" y="2970609"/>
            <a:ext cx="3447484" cy="444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diffs are focused, but dependent work waits for every previous PR to merge.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09840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D299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600998" y="4006007"/>
            <a:ext cx="615107" cy="317450"/>
          </a:xfrm>
          <a:prstGeom prst="roundRect">
            <a:avLst>
              <a:gd name="adj" fmla="val 16003"/>
            </a:avLst>
          </a:prstGeom>
          <a:solidFill>
            <a:srgbClr val="3036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292304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3036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983462" y="4006007"/>
            <a:ext cx="615107" cy="317450"/>
          </a:xfrm>
          <a:prstGeom prst="roundRect">
            <a:avLst>
              <a:gd name="adj" fmla="val 16003"/>
            </a:avLst>
          </a:prstGeom>
          <a:solidFill>
            <a:srgbClr val="3036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674769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3036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00711" y="4786908"/>
            <a:ext cx="83425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500"/>
              </a:spcBef>
              <a:buNone/>
            </a:pPr>
            <a:r>
              <a:rPr lang="en-US" sz="1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Giant PR:</a:t>
            </a:r>
            <a:pPr algn="ctr" indent="0" marL="0">
              <a:spcBef>
                <a:spcPts val="1500"/>
              </a:spcBef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slow review • </a:t>
            </a:r>
            <a:pPr algn="ctr" indent="0" marL="0">
              <a:spcBef>
                <a:spcPts val="1500"/>
              </a:spcBef>
              <a:buNone/>
            </a:pPr>
            <a:r>
              <a:rPr lang="en-US" sz="1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PRs:</a:t>
            </a:r>
            <a:pPr algn="ctr" indent="0" marL="0">
              <a:spcBef>
                <a:spcPts val="1500"/>
              </a:spcBef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stop-and-wait development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THIRD OPTION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342578" cy="41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55"/>
              </a:lnSpc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together. Review separately.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124396"/>
            <a:ext cx="83425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2000"/>
              </a:spcAft>
              <a:buNone/>
            </a:pPr>
            <a:r>
              <a:rPr lang="en-US" sz="16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pull request depends on the branch below it, but exposes only its own focused diff.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01948" y="2016472"/>
            <a:ext cx="1816001" cy="1549301"/>
          </a:xfrm>
          <a:prstGeom prst="roundRect">
            <a:avLst>
              <a:gd name="adj" fmla="val 9837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1301948" y="2054572"/>
            <a:ext cx="1816001" cy="0"/>
          </a:xfrm>
          <a:prstGeom prst="line">
            <a:avLst/>
          </a:prstGeom>
          <a:noFill/>
          <a:ln w="76200">
            <a:solidFill>
              <a:srgbClr val="58A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424" y="2016472"/>
            <a:ext cx="0" cy="1549301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01948" y="3556248"/>
            <a:ext cx="1816001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11473" y="2016472"/>
            <a:ext cx="0" cy="1549301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11498" y="2283172"/>
            <a:ext cx="142483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#1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11498" y="2603748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base: main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11498" y="3184773"/>
            <a:ext cx="14248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375"/>
              </a:spcBef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29075" y="2610148"/>
            <a:ext cx="323799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3664000" y="2016472"/>
            <a:ext cx="1816001" cy="1549301"/>
          </a:xfrm>
          <a:prstGeom prst="roundRect">
            <a:avLst>
              <a:gd name="adj" fmla="val 9837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664000" y="2054572"/>
            <a:ext cx="1816001" cy="0"/>
          </a:xfrm>
          <a:prstGeom prst="line">
            <a:avLst/>
          </a:prstGeom>
          <a:noFill/>
          <a:ln w="76200">
            <a:solidFill>
              <a:srgbClr val="3FB95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70475" y="2016472"/>
            <a:ext cx="0" cy="1549301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64000" y="3556248"/>
            <a:ext cx="1816001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73525" y="2016472"/>
            <a:ext cx="0" cy="1549301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73550" y="2283172"/>
            <a:ext cx="142483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#2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873550" y="2603748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base: PR #1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873550" y="3184773"/>
            <a:ext cx="14248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375"/>
              </a:spcBef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591126" y="2610148"/>
            <a:ext cx="323799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026051" y="2016472"/>
            <a:ext cx="1816001" cy="1549301"/>
          </a:xfrm>
          <a:prstGeom prst="roundRect">
            <a:avLst>
              <a:gd name="adj" fmla="val 9837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6026051" y="2054572"/>
            <a:ext cx="1816001" cy="0"/>
          </a:xfrm>
          <a:prstGeom prst="line">
            <a:avLst/>
          </a:prstGeom>
          <a:noFill/>
          <a:ln w="76200">
            <a:solidFill>
              <a:srgbClr val="3FB95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32527" y="2016472"/>
            <a:ext cx="0" cy="1549301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26051" y="3556248"/>
            <a:ext cx="1816001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35576" y="2016472"/>
            <a:ext cx="0" cy="1549301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35601" y="2283172"/>
            <a:ext cx="142483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#3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235601" y="2603748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base: PR #2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235601" y="3184773"/>
            <a:ext cx="14248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375"/>
              </a:spcBef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2501" y="4105424"/>
            <a:ext cx="2624733" cy="641152"/>
          </a:xfrm>
          <a:prstGeom prst="roundRect">
            <a:avLst>
              <a:gd name="adj" fmla="val 15847"/>
            </a:avLst>
          </a:prstGeom>
          <a:solidFill>
            <a:srgbClr val="122117"/>
          </a:solidFill>
          <a:ln w="9525">
            <a:solidFill>
              <a:srgbClr val="2386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44426" y="4241899"/>
            <a:ext cx="2346900" cy="36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Developers keep moving</a:t>
            </a:r>
            <a:pPr algn="l" indent="0" marL="0">
              <a:lnSpc>
                <a:spcPts val="1450"/>
              </a:lnSpc>
              <a:buNone/>
            </a:pPr>
            <a:endParaRPr lang="en-US" sz="125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1250" dirty="0">
                <a:solidFill>
                  <a:srgbClr val="D2F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dependent work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259634" y="4105424"/>
            <a:ext cx="2624733" cy="641152"/>
          </a:xfrm>
          <a:prstGeom prst="roundRect">
            <a:avLst>
              <a:gd name="adj" fmla="val 15847"/>
            </a:avLst>
          </a:prstGeom>
          <a:solidFill>
            <a:srgbClr val="122117"/>
          </a:solidFill>
          <a:ln w="9525">
            <a:solidFill>
              <a:srgbClr val="2386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421559" y="4241899"/>
            <a:ext cx="2346900" cy="36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see less</a:t>
            </a:r>
            <a:pPr algn="l" indent="0" marL="0">
              <a:lnSpc>
                <a:spcPts val="1450"/>
              </a:lnSpc>
              <a:buNone/>
            </a:pPr>
            <a:endParaRPr lang="en-US" sz="125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1250" dirty="0">
                <a:solidFill>
                  <a:srgbClr val="D2F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each focused diff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036766" y="4105424"/>
            <a:ext cx="2624733" cy="641152"/>
          </a:xfrm>
          <a:prstGeom prst="roundRect">
            <a:avLst>
              <a:gd name="adj" fmla="val 15847"/>
            </a:avLst>
          </a:prstGeom>
          <a:solidFill>
            <a:srgbClr val="122117"/>
          </a:solidFill>
          <a:ln w="9525">
            <a:solidFill>
              <a:srgbClr val="2386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198691" y="4241899"/>
            <a:ext cx="2346900" cy="36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keeps context</a:t>
            </a:r>
            <a:pPr algn="l" indent="0" marL="0">
              <a:lnSpc>
                <a:spcPts val="1450"/>
              </a:lnSpc>
              <a:buNone/>
            </a:pPr>
            <a:endParaRPr lang="en-US" sz="125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1250" dirty="0">
                <a:solidFill>
                  <a:srgbClr val="D2F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stack map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342578" cy="41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55"/>
              </a:lnSpc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branches to one visible stack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124396"/>
            <a:ext cx="83425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2200"/>
              </a:spcAft>
              <a:buNone/>
            </a:pPr>
            <a:r>
              <a:rPr lang="en-US" sz="16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 handles branch order, pull-request bases, rebases, and merging.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82501" y="1641872"/>
            <a:ext cx="2404616" cy="2479477"/>
          </a:xfrm>
          <a:prstGeom prst="roundRect">
            <a:avLst>
              <a:gd name="adj" fmla="val 6338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92051" y="185142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1F6F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2871" y="1933873"/>
            <a:ext cx="82885" cy="177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b="1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92051" y="2333923"/>
            <a:ext cx="20252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layers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92051" y="2692598"/>
            <a:ext cx="2025226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stack, then add one branch per reviewable concern.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92051" y="3338810"/>
            <a:ext cx="1985516" cy="572988"/>
          </a:xfrm>
          <a:prstGeom prst="roundRect">
            <a:avLst>
              <a:gd name="adj" fmla="val 13299"/>
            </a:avLst>
          </a:prstGeom>
          <a:solidFill>
            <a:srgbClr val="010409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15876" y="3462635"/>
            <a:ext cx="1772623" cy="325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init</a:t>
            </a:r>
            <a:endParaRPr lang="en-US" sz="1050" dirty="0"/>
          </a:p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add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88766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369618" y="1641872"/>
            <a:ext cx="2404765" cy="2479477"/>
          </a:xfrm>
          <a:prstGeom prst="roundRect">
            <a:avLst>
              <a:gd name="adj" fmla="val 6337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9168" y="185142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1F6F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709988" y="1933873"/>
            <a:ext cx="82885" cy="177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b="1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79168" y="2333923"/>
            <a:ext cx="20253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once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579168" y="2692598"/>
            <a:ext cx="2025378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branches, create correctly based PRs, and link the stack.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79168" y="3501479"/>
            <a:ext cx="1985665" cy="410319"/>
          </a:xfrm>
          <a:prstGeom prst="roundRect">
            <a:avLst>
              <a:gd name="adj" fmla="val 18571"/>
            </a:avLst>
          </a:prstGeom>
          <a:solidFill>
            <a:srgbClr val="010409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702993" y="3625304"/>
            <a:ext cx="1772775" cy="162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submit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876032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256883" y="1641872"/>
            <a:ext cx="2404616" cy="2479477"/>
          </a:xfrm>
          <a:prstGeom prst="roundRect">
            <a:avLst>
              <a:gd name="adj" fmla="val 6338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466433" y="185142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1F6F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97253" y="1933873"/>
            <a:ext cx="82885" cy="177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b="1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66433" y="2333923"/>
            <a:ext cx="20252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+ land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466433" y="2692598"/>
            <a:ext cx="2025226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 focused diffs, update dependents, then merge bottom to top.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66433" y="3338810"/>
            <a:ext cx="1985516" cy="572988"/>
          </a:xfrm>
          <a:prstGeom prst="roundRect">
            <a:avLst>
              <a:gd name="adj" fmla="val 13299"/>
            </a:avLst>
          </a:prstGeom>
          <a:solidFill>
            <a:srgbClr val="010409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590258" y="3462635"/>
            <a:ext cx="1772623" cy="325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rebase</a:t>
            </a:r>
            <a:endParaRPr lang="en-US" sz="1050" dirty="0"/>
          </a:p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merge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82501" y="4299049"/>
            <a:ext cx="8178998" cy="463451"/>
          </a:xfrm>
          <a:prstGeom prst="rect">
            <a:avLst/>
          </a:prstGeom>
          <a:solidFill>
            <a:srgbClr val="122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511076" y="4299049"/>
            <a:ext cx="0" cy="463451"/>
          </a:xfrm>
          <a:prstGeom prst="line">
            <a:avLst/>
          </a:prstGeom>
          <a:noFill/>
          <a:ln w="5715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352" y="4426000"/>
            <a:ext cx="792177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result:</a:t>
            </a:r>
            <a:pPr algn="l" indent="0" marL="0">
              <a:buNone/>
            </a:pPr>
            <a:r>
              <a:rPr lang="en-US" sz="1400" dirty="0">
                <a:solidFill>
                  <a:srgbClr val="D2F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smaller reviews without serial development.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Code with 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Stacked PRs: Smaller Reviews Without Serial Development</dc:title>
  <dc:subject>GitHub Stacked PRs</dc:subject>
  <dc:creator>Dan Wahlin</dc:creator>
  <cp:lastModifiedBy>Dan Wahlin</cp:lastModifiedBy>
  <cp:revision>1</cp:revision>
  <dcterms:created xsi:type="dcterms:W3CDTF">2026-07-30T16:03:18Z</dcterms:created>
  <dcterms:modified xsi:type="dcterms:W3CDTF">2026-07-30T16:03:18Z</dcterms:modified>
</cp:coreProperties>
</file>