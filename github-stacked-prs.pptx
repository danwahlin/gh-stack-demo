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9" r:id="rId2"/>
    <p:sldId id="256" r:id="rId3"/>
    <p:sldId id="257" r:id="rId4"/>
    <p:sldId id="262" r:id="rId5"/>
    <p:sldId id="258" r:id="rId6"/>
    <p:sldId id="261" r:id="rId7"/>
    <p:sldId id="260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A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0844"/>
  </p:normalViewPr>
  <p:slideViewPr>
    <p:cSldViewPr snapToGrid="0" snapToObjects="1">
      <p:cViewPr varScale="1">
        <p:scale>
          <a:sx n="134" d="100"/>
          <a:sy n="134" d="100"/>
        </p:scale>
        <p:origin x="1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454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430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425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DanWahlin/learn-github-stacked-prs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/DanWahlin/learn-github-stacked-pr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1396901"/>
            <a:ext cx="711101" cy="63401"/>
          </a:xfrm>
          <a:prstGeom prst="rect">
            <a:avLst/>
          </a:prstGeom>
          <a:solidFill>
            <a:srgbClr val="2EA04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2501" y="1850827"/>
            <a:ext cx="7642759" cy="104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 with GitHub Stacked PRs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82501" y="3121819"/>
            <a:ext cx="7383780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10"/>
              </a:lnSpc>
              <a:spcBef>
                <a:spcPts val="1800"/>
              </a:spcBef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large changes into smaller, dependent pull requests that stay connected and remain independently reviewable.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9" name="Image 0" descr="GitHub logo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10" name="Repository Link">
            <a:hlinkClick r:id="rId5"/>
          </p:cNvPr>
          <p:cNvSpPr txBox="1"/>
          <p:nvPr/>
        </p:nvSpPr>
        <p:spPr>
          <a:xfrm>
            <a:off x="484787" y="3911799"/>
            <a:ext cx="7379208" cy="25603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github.com/DanWahlin/learn-github-stacked-prs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A1C85F-517F-BA52-26BF-726175D26E73}"/>
              </a:ext>
            </a:extLst>
          </p:cNvPr>
          <p:cNvGrpSpPr/>
          <p:nvPr/>
        </p:nvGrpSpPr>
        <p:grpSpPr>
          <a:xfrm>
            <a:off x="482501" y="1992957"/>
            <a:ext cx="3925788" cy="2603450"/>
            <a:chOff x="482501" y="1992957"/>
            <a:chExt cx="3925788" cy="2603450"/>
          </a:xfrm>
        </p:grpSpPr>
        <p:sp>
          <p:nvSpPr>
            <p:cNvPr id="5" name="Text 3"/>
            <p:cNvSpPr/>
            <p:nvPr/>
          </p:nvSpPr>
          <p:spPr>
            <a:xfrm>
              <a:off x="482501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82501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F8514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9876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482501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92026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755452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FF7B7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1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55452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One giant PR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55452" y="2970609"/>
              <a:ext cx="3447484" cy="6666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Everything arrives at once. Reviewers must untangle the model, validation, and API together.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55452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446609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37916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829074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38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8B28B7F-58A8-6F71-98C7-4A22E2DD04F7}"/>
              </a:ext>
            </a:extLst>
          </p:cNvPr>
          <p:cNvGrpSpPr/>
          <p:nvPr/>
        </p:nvGrpSpPr>
        <p:grpSpPr>
          <a:xfrm>
            <a:off x="4636889" y="1992957"/>
            <a:ext cx="3925788" cy="2603450"/>
            <a:chOff x="4636889" y="1992957"/>
            <a:chExt cx="3925788" cy="2603450"/>
          </a:xfrm>
        </p:grpSpPr>
        <p:sp>
          <p:nvSpPr>
            <p:cNvPr id="18" name="Text 16"/>
            <p:cNvSpPr/>
            <p:nvPr/>
          </p:nvSpPr>
          <p:spPr>
            <a:xfrm>
              <a:off x="4636889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36889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D2992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8553152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4636889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64641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09840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E3B34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2</a:t>
              </a:r>
              <a:endParaRPr lang="en-US" sz="1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909840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Small, serial PRs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909840" y="2970609"/>
              <a:ext cx="3447484" cy="4444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diffs are focused, but dependent work waits for every previous PR to merge.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90984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D299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00998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292304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983462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674769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34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16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API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511578A-7A7F-BE54-86A7-F324E6E38D72}"/>
              </a:ext>
            </a:extLst>
          </p:cNvPr>
          <p:cNvGrpSpPr/>
          <p:nvPr/>
        </p:nvGrpSpPr>
        <p:grpSpPr>
          <a:xfrm>
            <a:off x="3763566" y="2181523"/>
            <a:ext cx="2550914" cy="609600"/>
            <a:chOff x="3763566" y="2181523"/>
            <a:chExt cx="2550914" cy="609600"/>
          </a:xfrm>
        </p:grpSpPr>
        <p:sp>
          <p:nvSpPr>
            <p:cNvPr id="10" name="Text 8"/>
            <p:cNvSpPr/>
            <p:nvPr/>
          </p:nvSpPr>
          <p:spPr>
            <a:xfrm>
              <a:off x="3763566" y="21815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63566" y="21910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4955" y="21815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763566" y="27815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801666" y="21815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004816" y="23815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3</a:t>
              </a:r>
              <a:endParaRPr lang="en-US" sz="14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500539" y="2440559"/>
              <a:ext cx="543283" cy="129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API</a:t>
              </a:r>
              <a:endParaRPr lang="en-US" sz="10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DE1B6C8-A065-8D8B-99D9-BD181CE3324F}"/>
              </a:ext>
            </a:extLst>
          </p:cNvPr>
          <p:cNvGrpSpPr/>
          <p:nvPr/>
        </p:nvGrpSpPr>
        <p:grpSpPr>
          <a:xfrm>
            <a:off x="3763566" y="2867323"/>
            <a:ext cx="2550914" cy="609600"/>
            <a:chOff x="3763566" y="2867323"/>
            <a:chExt cx="2550914" cy="609600"/>
          </a:xfrm>
        </p:grpSpPr>
        <p:sp>
          <p:nvSpPr>
            <p:cNvPr id="17" name="Text 15"/>
            <p:cNvSpPr/>
            <p:nvPr/>
          </p:nvSpPr>
          <p:spPr>
            <a:xfrm>
              <a:off x="3763566" y="28673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63566" y="28768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304955" y="28673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763566" y="34673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01666" y="28673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4004816" y="30673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2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500539" y="3095923"/>
              <a:ext cx="642437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Validation</a:t>
              </a:r>
              <a:endParaRPr lang="en-US" sz="10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05F821D-18FE-4EFB-EBE2-AFD86236330E}"/>
              </a:ext>
            </a:extLst>
          </p:cNvPr>
          <p:cNvGrpSpPr/>
          <p:nvPr/>
        </p:nvGrpSpPr>
        <p:grpSpPr>
          <a:xfrm>
            <a:off x="3763566" y="3553123"/>
            <a:ext cx="2550914" cy="609600"/>
            <a:chOff x="3763566" y="3553123"/>
            <a:chExt cx="2550914" cy="609600"/>
          </a:xfrm>
        </p:grpSpPr>
        <p:sp>
          <p:nvSpPr>
            <p:cNvPr id="24" name="Text 22"/>
            <p:cNvSpPr/>
            <p:nvPr/>
          </p:nvSpPr>
          <p:spPr>
            <a:xfrm>
              <a:off x="3763566" y="35531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63566" y="35626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6304955" y="35531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763566" y="41531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01666" y="35531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4004816" y="37531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1</a:t>
              </a:r>
              <a:endParaRPr lang="en-US" sz="14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00539" y="3778211"/>
              <a:ext cx="393022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Model</a:t>
              </a:r>
              <a:endParaRPr lang="en-US" sz="105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6936F7E-53E6-C95B-56A0-ED0E4D98B596}"/>
              </a:ext>
            </a:extLst>
          </p:cNvPr>
          <p:cNvGrpSpPr/>
          <p:nvPr/>
        </p:nvGrpSpPr>
        <p:grpSpPr>
          <a:xfrm>
            <a:off x="3696444" y="4264223"/>
            <a:ext cx="2685306" cy="317450"/>
            <a:chOff x="3696444" y="4264223"/>
            <a:chExt cx="2685306" cy="317450"/>
          </a:xfrm>
        </p:grpSpPr>
        <p:sp>
          <p:nvSpPr>
            <p:cNvPr id="31" name="Text 29"/>
            <p:cNvSpPr/>
            <p:nvPr/>
          </p:nvSpPr>
          <p:spPr>
            <a:xfrm>
              <a:off x="3696444" y="4264223"/>
              <a:ext cx="2685306" cy="317450"/>
            </a:xfrm>
            <a:prstGeom prst="rect">
              <a:avLst/>
            </a:prstGeom>
            <a:solidFill>
              <a:srgbClr val="111D2E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696444" y="4283273"/>
              <a:ext cx="2685306" cy="0"/>
            </a:xfrm>
            <a:prstGeom prst="line">
              <a:avLst/>
            </a:prstGeom>
            <a:noFill/>
            <a:ln w="38100">
              <a:solidFill>
                <a:srgbClr val="58A6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876800" y="4370487"/>
              <a:ext cx="330934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MAIN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629951B-478D-FE58-5112-9F554ECBC60E}"/>
              </a:ext>
            </a:extLst>
          </p:cNvPr>
          <p:cNvGrpSpPr/>
          <p:nvPr/>
        </p:nvGrpSpPr>
        <p:grpSpPr>
          <a:xfrm>
            <a:off x="6635651" y="1940719"/>
            <a:ext cx="2025848" cy="806648"/>
            <a:chOff x="6635651" y="1940719"/>
            <a:chExt cx="2025848" cy="806648"/>
          </a:xfrm>
        </p:grpSpPr>
        <p:sp>
          <p:nvSpPr>
            <p:cNvPr id="34" name="Text 32"/>
            <p:cNvSpPr/>
            <p:nvPr/>
          </p:nvSpPr>
          <p:spPr>
            <a:xfrm>
              <a:off x="6635651" y="1940719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6659463" y="1940719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822877" y="2067669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 reviews</a:t>
              </a:r>
              <a:endParaRPr lang="en-US" sz="13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822877" y="2305794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layer exposes only its focused change.</a:t>
              </a:r>
              <a:endParaRPr lang="en-US" sz="10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7517EAF-813A-63F7-A6E2-F1C588B318C7}"/>
              </a:ext>
            </a:extLst>
          </p:cNvPr>
          <p:cNvGrpSpPr/>
          <p:nvPr/>
        </p:nvGrpSpPr>
        <p:grpSpPr>
          <a:xfrm>
            <a:off x="6635651" y="2861667"/>
            <a:ext cx="2025848" cy="963960"/>
            <a:chOff x="6635651" y="2861667"/>
            <a:chExt cx="2025848" cy="963960"/>
          </a:xfrm>
        </p:grpSpPr>
        <p:sp>
          <p:nvSpPr>
            <p:cNvPr id="38" name="Text 36"/>
            <p:cNvSpPr/>
            <p:nvPr/>
          </p:nvSpPr>
          <p:spPr>
            <a:xfrm>
              <a:off x="6635651" y="2861667"/>
              <a:ext cx="2025848" cy="963960"/>
            </a:xfrm>
            <a:prstGeom prst="roundRect">
              <a:avLst>
                <a:gd name="adj" fmla="val 7905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59463" y="2861667"/>
              <a:ext cx="0" cy="963960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822877" y="2988618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Continuous progress</a:t>
              </a:r>
              <a:endParaRPr lang="en-US" sz="13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822877" y="3226743"/>
              <a:ext cx="1733002" cy="471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Dependent work can continue before lower layers merge.</a:t>
              </a:r>
              <a:endParaRPr lang="en-US" sz="105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F2A3C16-8B3C-02A0-AB90-8FD1D4662B36}"/>
              </a:ext>
            </a:extLst>
          </p:cNvPr>
          <p:cNvGrpSpPr/>
          <p:nvPr/>
        </p:nvGrpSpPr>
        <p:grpSpPr>
          <a:xfrm>
            <a:off x="6635651" y="3939927"/>
            <a:ext cx="2025848" cy="806648"/>
            <a:chOff x="6635651" y="3939927"/>
            <a:chExt cx="2025848" cy="806648"/>
          </a:xfrm>
        </p:grpSpPr>
        <p:sp>
          <p:nvSpPr>
            <p:cNvPr id="42" name="Text 40"/>
            <p:cNvSpPr/>
            <p:nvPr/>
          </p:nvSpPr>
          <p:spPr>
            <a:xfrm>
              <a:off x="6635651" y="3939927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659463" y="3939927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822877" y="4066877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Shared context</a:t>
              </a:r>
              <a:endParaRPr lang="en-US" sz="13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822877" y="4305002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GitHub keeps the layers connected as one stack.</a:t>
              </a:r>
              <a:endParaRPr lang="en-US" sz="1050" dirty="0"/>
            </a:p>
          </p:txBody>
        </p:sp>
      </p:grp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48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4632" y="347472"/>
            <a:ext cx="658368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8A6FF"/>
                </a:solidFill>
                <a:latin typeface="Arial"/>
              </a:rPr>
              <a:t>BEFORE THE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4632" y="530352"/>
            <a:ext cx="80010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dirty="0">
                <a:solidFill>
                  <a:srgbClr val="F0F6FC"/>
                </a:solidFill>
                <a:latin typeface="Arial"/>
              </a:rPr>
              <a:t>Install and verify the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" y="1005840"/>
            <a:ext cx="8092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8B949E"/>
                </a:solidFill>
                <a:latin typeface="Arial"/>
              </a:rPr>
              <a:t>GitHub shows the stack; the </a:t>
            </a:r>
            <a:r>
              <a:rPr sz="1600" b="0" dirty="0" err="1">
                <a:solidFill>
                  <a:srgbClr val="8B949E"/>
                </a:solidFill>
                <a:latin typeface="Arial"/>
              </a:rPr>
              <a:t>gh</a:t>
            </a:r>
            <a:r>
              <a:rPr sz="1600" b="0" dirty="0">
                <a:solidFill>
                  <a:srgbClr val="8B949E"/>
                </a:solidFill>
                <a:latin typeface="Arial"/>
              </a:rPr>
              <a:t> stack extension manages it from the terminal.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8000"/>
            </a:avLst>
          </a:prstGeom>
          <a:solidFill>
            <a:srgbClr val="1F6F37"/>
          </a:solidFill>
          <a:ln w="1270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050" b="1" dirty="0" err="1">
                <a:solidFill>
                  <a:srgbClr val="FFFFFF"/>
                </a:solidFill>
                <a:latin typeface="Arial"/>
              </a:rPr>
              <a:t>gh.io</a:t>
            </a:r>
            <a:r>
              <a:rPr sz="1050" b="1" dirty="0">
                <a:solidFill>
                  <a:srgbClr val="FFFFFF"/>
                </a:solidFill>
                <a:latin typeface="Arial"/>
              </a:rPr>
              <a:t>/stacks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60D7D89-330F-2CAC-1836-FA2EE16A50B2}"/>
              </a:ext>
            </a:extLst>
          </p:cNvPr>
          <p:cNvGrpSpPr/>
          <p:nvPr/>
        </p:nvGrpSpPr>
        <p:grpSpPr>
          <a:xfrm>
            <a:off x="484632" y="1444752"/>
            <a:ext cx="2532888" cy="2176272"/>
            <a:chOff x="484632" y="1444752"/>
            <a:chExt cx="2532888" cy="2176272"/>
          </a:xfrm>
        </p:grpSpPr>
        <p:sp>
          <p:nvSpPr>
            <p:cNvPr id="7" name="Rounded Rectangle 6"/>
            <p:cNvSpPr/>
            <p:nvPr/>
          </p:nvSpPr>
          <p:spPr>
            <a:xfrm>
              <a:off x="484632" y="1444752"/>
              <a:ext cx="2532888" cy="2176272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Oval 7"/>
            <p:cNvSpPr/>
            <p:nvPr/>
          </p:nvSpPr>
          <p:spPr>
            <a:xfrm>
              <a:off x="649224" y="1508760"/>
              <a:ext cx="310896" cy="310896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60704" y="1572768"/>
              <a:ext cx="1755648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 dirty="0">
                  <a:solidFill>
                    <a:srgbClr val="F0F6FC"/>
                  </a:solidFill>
                  <a:latin typeface="Arial"/>
                </a:rPr>
                <a:t>Prerequisites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58368" y="1984248"/>
              <a:ext cx="2176272" cy="1645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3FB950"/>
                  </a:solidFill>
                  <a:latin typeface="Arial"/>
                </a:rPr>
                <a:t>REQUIRED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94944" y="2267712"/>
              <a:ext cx="2029968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8B949E"/>
                  </a:solidFill>
                  <a:latin typeface="Arial"/>
                </a:rPr>
                <a:t>•  Git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4944" y="2560320"/>
              <a:ext cx="2029968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8B949E"/>
                  </a:solidFill>
                  <a:latin typeface="Arial"/>
                </a:rPr>
                <a:t>•  GitHub CLI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94944" y="2852928"/>
              <a:ext cx="2029968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 dirty="0">
                  <a:solidFill>
                    <a:srgbClr val="8B949E"/>
                  </a:solidFill>
                  <a:latin typeface="Arial"/>
                </a:rPr>
                <a:t>•  Node.js </a:t>
              </a:r>
              <a:r>
                <a:rPr lang="en-US" sz="960" b="0" dirty="0">
                  <a:solidFill>
                    <a:srgbClr val="8B949E"/>
                  </a:solidFill>
                  <a:latin typeface="Arial"/>
                </a:rPr>
                <a:t>LTS</a:t>
              </a:r>
              <a:endParaRPr sz="960" b="0" dirty="0">
                <a:solidFill>
                  <a:srgbClr val="8B949E"/>
                </a:solidFill>
                <a:latin typeface="Arial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4944" y="3145536"/>
              <a:ext cx="2029968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b="0">
                  <a:solidFill>
                    <a:srgbClr val="8B949E"/>
                  </a:solidFill>
                  <a:latin typeface="Arial"/>
                </a:rPr>
                <a:t>•  Git identity + GitHub push access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294C115-0509-182E-C630-3A8A9DC1812D}"/>
              </a:ext>
            </a:extLst>
          </p:cNvPr>
          <p:cNvGrpSpPr/>
          <p:nvPr/>
        </p:nvGrpSpPr>
        <p:grpSpPr>
          <a:xfrm>
            <a:off x="3218688" y="1444752"/>
            <a:ext cx="2532888" cy="2176272"/>
            <a:chOff x="3218688" y="1444752"/>
            <a:chExt cx="2532888" cy="2176272"/>
          </a:xfrm>
        </p:grpSpPr>
        <p:sp>
          <p:nvSpPr>
            <p:cNvPr id="10" name="Rounded Rectangle 9"/>
            <p:cNvSpPr/>
            <p:nvPr/>
          </p:nvSpPr>
          <p:spPr>
            <a:xfrm>
              <a:off x="3218688" y="1444752"/>
              <a:ext cx="2532888" cy="2176272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3383280" y="1508760"/>
              <a:ext cx="310896" cy="310896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794760" y="1572768"/>
              <a:ext cx="1755648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F0F6FC"/>
                  </a:solidFill>
                  <a:latin typeface="Arial"/>
                </a:rPr>
                <a:t>Authenticate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392424" y="1984248"/>
              <a:ext cx="2176272" cy="1645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3FB950"/>
                  </a:solidFill>
                  <a:latin typeface="Arial"/>
                </a:rPr>
                <a:t>SIGN IN ONCE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383280" y="2240280"/>
              <a:ext cx="2194560" cy="713232"/>
            </a:xfrm>
            <a:prstGeom prst="roundRect">
              <a:avLst>
                <a:gd name="adj" fmla="val 8000"/>
              </a:avLst>
            </a:prstGeom>
            <a:solidFill>
              <a:srgbClr val="010409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100584" rIns="128016" bIns="73152" rtlCol="0" anchor="t">
              <a:noAutofit/>
            </a:bodyPr>
            <a:lstStyle/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00" b="0" dirty="0">
                  <a:solidFill>
                    <a:schemeClr val="bg1"/>
                  </a:solidFill>
                  <a:latin typeface="Courier New"/>
                </a:rPr>
                <a:t> auth login</a:t>
              </a:r>
              <a:br>
                <a:rPr lang="en-US" sz="1000" b="0" dirty="0">
                  <a:solidFill>
                    <a:schemeClr val="bg1"/>
                  </a:solidFill>
                  <a:latin typeface="Courier New"/>
                </a:rPr>
              </a:br>
              <a:endParaRPr sz="1000" b="0" dirty="0">
                <a:solidFill>
                  <a:schemeClr val="bg1"/>
                </a:solidFill>
                <a:latin typeface="Courier New"/>
              </a:endParaRPr>
            </a:p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00" b="0" dirty="0">
                  <a:solidFill>
                    <a:schemeClr val="bg1"/>
                  </a:solidFill>
                  <a:latin typeface="Courier New"/>
                </a:rPr>
                <a:t> auth status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10712" y="3136392"/>
              <a:ext cx="2121408" cy="3108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0" b="0">
                  <a:solidFill>
                    <a:srgbClr val="8B949E"/>
                  </a:solidFill>
                  <a:latin typeface="Arial"/>
                </a:rPr>
                <a:t>Confirm the active account and the repository host.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4BCD2E1-6C46-0BFE-5A4A-D275E2B10767}"/>
              </a:ext>
            </a:extLst>
          </p:cNvPr>
          <p:cNvGrpSpPr/>
          <p:nvPr/>
        </p:nvGrpSpPr>
        <p:grpSpPr>
          <a:xfrm>
            <a:off x="5952744" y="1444752"/>
            <a:ext cx="2532888" cy="2176272"/>
            <a:chOff x="5952744" y="1444752"/>
            <a:chExt cx="2532888" cy="2176272"/>
          </a:xfrm>
        </p:grpSpPr>
        <p:sp>
          <p:nvSpPr>
            <p:cNvPr id="13" name="Rounded Rectangle 12"/>
            <p:cNvSpPr/>
            <p:nvPr/>
          </p:nvSpPr>
          <p:spPr>
            <a:xfrm>
              <a:off x="5952744" y="1444752"/>
              <a:ext cx="2532888" cy="2176272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Oval 13"/>
            <p:cNvSpPr/>
            <p:nvPr/>
          </p:nvSpPr>
          <p:spPr>
            <a:xfrm>
              <a:off x="6117336" y="1508760"/>
              <a:ext cx="310896" cy="310896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3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528816" y="1572768"/>
              <a:ext cx="1755648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F0F6FC"/>
                  </a:solidFill>
                  <a:latin typeface="Arial"/>
                </a:rPr>
                <a:t>Install + verify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126480" y="1984248"/>
              <a:ext cx="2176272" cy="16459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b="1">
                  <a:solidFill>
                    <a:srgbClr val="3FB950"/>
                  </a:solidFill>
                  <a:latin typeface="Arial"/>
                </a:rPr>
                <a:t>INSTALL ONCE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117336" y="2221992"/>
              <a:ext cx="2194560" cy="877824"/>
            </a:xfrm>
            <a:prstGeom prst="roundRect">
              <a:avLst>
                <a:gd name="adj" fmla="val 8000"/>
              </a:avLst>
            </a:prstGeom>
            <a:solidFill>
              <a:srgbClr val="010409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18872" tIns="146304" rIns="118872" bIns="73152" rtlCol="0" anchor="t">
              <a:noAutofit/>
            </a:bodyPr>
            <a:lstStyle/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 </a:t>
              </a:r>
              <a:r>
                <a:rPr sz="1000" b="0" dirty="0">
                  <a:solidFill>
                    <a:schemeClr val="bg1"/>
                  </a:solidFill>
                  <a:latin typeface="Courier New"/>
                </a:rPr>
                <a:t>extension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 install</a:t>
              </a:r>
              <a:r>
                <a:rPr lang="en-US" sz="900" b="0" dirty="0">
                  <a:solidFill>
                    <a:schemeClr val="bg1"/>
                  </a:solidFill>
                  <a:latin typeface="Courier New"/>
                </a:rPr>
                <a:t> \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 </a:t>
              </a:r>
              <a:r>
                <a:rPr lang="en-US" sz="900" b="0" dirty="0">
                  <a:solidFill>
                    <a:schemeClr val="bg1"/>
                  </a:solidFill>
                  <a:latin typeface="Courier New"/>
                </a:rPr>
                <a:t>  </a:t>
              </a:r>
              <a:br>
                <a:rPr lang="en-US" sz="900" b="0" dirty="0">
                  <a:solidFill>
                    <a:schemeClr val="bg1"/>
                  </a:solidFill>
                  <a:latin typeface="Courier New"/>
                </a:rPr>
              </a:br>
              <a:r>
                <a:rPr lang="en-US" sz="900" b="0" dirty="0">
                  <a:solidFill>
                    <a:schemeClr val="bg1"/>
                  </a:solidFill>
                  <a:latin typeface="Courier New"/>
                </a:rPr>
                <a:t>  </a:t>
              </a:r>
              <a:r>
                <a:rPr sz="900" b="0" dirty="0" err="1">
                  <a:solidFill>
                    <a:schemeClr val="bg1"/>
                  </a:solidFill>
                  <a:latin typeface="Courier New"/>
                </a:rPr>
                <a:t>github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/</a:t>
              </a:r>
              <a:r>
                <a:rPr sz="9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-stack</a:t>
              </a:r>
              <a:br>
                <a:rPr lang="en-US" sz="900" b="0" dirty="0">
                  <a:solidFill>
                    <a:schemeClr val="bg1"/>
                  </a:solidFill>
                  <a:latin typeface="Courier New"/>
                </a:rPr>
              </a:br>
              <a:endParaRPr sz="900" b="0" dirty="0">
                <a:solidFill>
                  <a:schemeClr val="bg1"/>
                </a:solidFill>
                <a:latin typeface="Courier New"/>
              </a:endParaRPr>
            </a:p>
            <a:p>
              <a:pPr algn="l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900" b="0" dirty="0">
                  <a:solidFill>
                    <a:schemeClr val="bg1"/>
                  </a:solidFill>
                  <a:latin typeface="Courier New"/>
                </a:rPr>
                <a:t> stack --version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144768" y="3209544"/>
              <a:ext cx="2112264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40" b="0">
                  <a:solidFill>
                    <a:srgbClr val="8B949E"/>
                  </a:solidFill>
                  <a:latin typeface="Arial"/>
                </a:rPr>
                <a:t>Verify the command before starting.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48996CE-F3C4-7737-20B6-AA09F92C849C}"/>
              </a:ext>
            </a:extLst>
          </p:cNvPr>
          <p:cNvGrpSpPr/>
          <p:nvPr/>
        </p:nvGrpSpPr>
        <p:grpSpPr>
          <a:xfrm>
            <a:off x="484632" y="3840480"/>
            <a:ext cx="8001000" cy="950976"/>
            <a:chOff x="484632" y="3840480"/>
            <a:chExt cx="8001000" cy="950976"/>
          </a:xfrm>
        </p:grpSpPr>
        <p:sp>
          <p:nvSpPr>
            <p:cNvPr id="27" name="Rounded Rectangle 26"/>
            <p:cNvSpPr/>
            <p:nvPr/>
          </p:nvSpPr>
          <p:spPr>
            <a:xfrm>
              <a:off x="484632" y="3840480"/>
              <a:ext cx="8001000" cy="950976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67512" y="3995928"/>
              <a:ext cx="1298448" cy="17373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 b="1">
                  <a:solidFill>
                    <a:srgbClr val="79C0FF"/>
                  </a:solidFill>
                  <a:latin typeface="Arial"/>
                </a:rPr>
                <a:t>USING AN AGENT?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67512" y="4261104"/>
              <a:ext cx="1417320" cy="29260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 b="1">
                  <a:solidFill>
                    <a:srgbClr val="F0F6FC"/>
                  </a:solidFill>
                  <a:latin typeface="Arial"/>
                </a:rPr>
                <a:t>Install the gh-stack skill too.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2176272" y="4041648"/>
              <a:ext cx="3703320" cy="548640"/>
            </a:xfrm>
            <a:prstGeom prst="roundRect">
              <a:avLst>
                <a:gd name="adj" fmla="val 8000"/>
              </a:avLst>
            </a:prstGeom>
            <a:solidFill>
              <a:srgbClr val="010409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18872" tIns="82296" rIns="118872" bIns="73152" rtlCol="0" anchor="ctr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50" b="0" dirty="0">
                  <a:solidFill>
                    <a:schemeClr val="bg1"/>
                  </a:solidFill>
                  <a:latin typeface="Courier New"/>
                </a:rPr>
                <a:t> skill install </a:t>
              </a:r>
              <a:r>
                <a:rPr sz="1050" b="0" dirty="0" err="1">
                  <a:solidFill>
                    <a:schemeClr val="bg1"/>
                  </a:solidFill>
                  <a:latin typeface="Courier New"/>
                </a:rPr>
                <a:t>github</a:t>
              </a:r>
              <a:r>
                <a:rPr sz="1050" b="0" dirty="0">
                  <a:solidFill>
                    <a:schemeClr val="bg1"/>
                  </a:solidFill>
                  <a:latin typeface="Courier New"/>
                </a:rPr>
                <a:t>/</a:t>
              </a:r>
              <a:r>
                <a:rPr sz="105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50" b="0" dirty="0">
                  <a:solidFill>
                    <a:schemeClr val="bg1"/>
                  </a:solidFill>
                  <a:latin typeface="Courier New"/>
                </a:rPr>
                <a:t>-stack </a:t>
              </a:r>
              <a:r>
                <a:rPr sz="1050" b="0" dirty="0" err="1">
                  <a:solidFill>
                    <a:schemeClr val="bg1"/>
                  </a:solidFill>
                  <a:latin typeface="Courier New"/>
                </a:rPr>
                <a:t>gh</a:t>
              </a:r>
              <a:r>
                <a:rPr sz="1050" b="0" dirty="0">
                  <a:solidFill>
                    <a:schemeClr val="bg1"/>
                  </a:solidFill>
                  <a:latin typeface="Courier New"/>
                </a:rPr>
                <a:t>-stac</a:t>
              </a:r>
              <a:r>
                <a:rPr lang="en-US" sz="1050" b="0" dirty="0">
                  <a:solidFill>
                    <a:schemeClr val="bg1"/>
                  </a:solidFill>
                  <a:latin typeface="Courier New"/>
                </a:rPr>
                <a:t>k</a:t>
              </a:r>
              <a:endParaRPr sz="1050" b="0" dirty="0">
                <a:solidFill>
                  <a:schemeClr val="bg1"/>
                </a:solidFill>
                <a:latin typeface="Courier New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071616" y="4096512"/>
              <a:ext cx="2194560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0" dirty="0">
                  <a:solidFill>
                    <a:srgbClr val="F0F6FC"/>
                  </a:solidFill>
                  <a:latin typeface="Arial"/>
                </a:rPr>
                <a:t>The skill adds command knowledge. It does not replace the extension.</a:t>
              </a:r>
            </a:p>
          </p:txBody>
        </p:sp>
      </p:grpSp>
      <p:pic>
        <p:nvPicPr>
          <p:cNvPr id="32" name="Image 0" descr="GitHub logo">
            <a:hlinkClick r:id="rId4"/>
            <a:extLst>
              <a:ext uri="{FF2B5EF4-FFF2-40B4-BE49-F238E27FC236}">
                <a16:creationId xmlns:a16="http://schemas.microsoft.com/office/drawing/2014/main" id="{6A6F26D5-53C0-9133-28C6-518363E5A7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HUMAN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056084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993342-5A84-6EB4-3DD9-8258D925D921}"/>
              </a:ext>
            </a:extLst>
          </p:cNvPr>
          <p:cNvGrpSpPr/>
          <p:nvPr/>
        </p:nvGrpSpPr>
        <p:grpSpPr>
          <a:xfrm>
            <a:off x="482501" y="1641872"/>
            <a:ext cx="2404616" cy="2479477"/>
            <a:chOff x="482501" y="1641872"/>
            <a:chExt cx="2404616" cy="2479477"/>
          </a:xfrm>
        </p:grpSpPr>
        <p:sp>
          <p:nvSpPr>
            <p:cNvPr id="5" name="Text 3"/>
            <p:cNvSpPr/>
            <p:nvPr/>
          </p:nvSpPr>
          <p:spPr>
            <a:xfrm>
              <a:off x="482501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2051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58A6FF"/>
            </a:solidFill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22871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chemeClr val="bg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150" dirty="0">
                <a:solidFill>
                  <a:schemeClr val="bg1"/>
                </a:solidFill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692051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Create layers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92051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Start the stack, then add one branch per reviewable concern.</a:t>
              </a:r>
              <a:endParaRPr lang="en-US" sz="11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92051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15876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init</a:t>
              </a:r>
              <a:endParaRPr lang="en-US" sz="1050" dirty="0">
                <a:solidFill>
                  <a:schemeClr val="bg1"/>
                </a:solidFill>
              </a:endParaRPr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add</a:t>
              </a:r>
              <a:endParaRPr lang="en-US" sz="1050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289C23A-3201-9E69-DBF2-1502D6F61EB7}"/>
              </a:ext>
            </a:extLst>
          </p:cNvPr>
          <p:cNvGrpSpPr/>
          <p:nvPr/>
        </p:nvGrpSpPr>
        <p:grpSpPr>
          <a:xfrm>
            <a:off x="3369618" y="1641872"/>
            <a:ext cx="2404765" cy="2479477"/>
            <a:chOff x="3369618" y="1641872"/>
            <a:chExt cx="2404765" cy="2479477"/>
          </a:xfrm>
        </p:grpSpPr>
        <p:sp>
          <p:nvSpPr>
            <p:cNvPr id="13" name="Text 11"/>
            <p:cNvSpPr/>
            <p:nvPr/>
          </p:nvSpPr>
          <p:spPr>
            <a:xfrm>
              <a:off x="3369618" y="1641872"/>
              <a:ext cx="2404765" cy="2479477"/>
            </a:xfrm>
            <a:prstGeom prst="roundRect">
              <a:avLst>
                <a:gd name="adj" fmla="val 6337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579168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58A6FF"/>
            </a:solidFill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709988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chemeClr val="bg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150" dirty="0">
                <a:solidFill>
                  <a:schemeClr val="bg1"/>
                </a:solidFill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3579168" y="2333923"/>
              <a:ext cx="2025378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Submit once</a:t>
              </a:r>
              <a:endParaRPr lang="en-US" sz="1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79168" y="2692598"/>
              <a:ext cx="2025378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Push branches, create correctly based PRs, and link the stack.</a:t>
              </a:r>
              <a:endParaRPr lang="en-US" sz="11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79168" y="3501479"/>
              <a:ext cx="1985665" cy="410319"/>
            </a:xfrm>
            <a:prstGeom prst="roundRect">
              <a:avLst>
                <a:gd name="adj" fmla="val 18571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702993" y="3625304"/>
              <a:ext cx="1772775" cy="1626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submit</a:t>
              </a:r>
              <a:endParaRPr lang="en-US" sz="1050" dirty="0">
                <a:solidFill>
                  <a:schemeClr val="bg1"/>
                </a:solidFill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CB05C5-A67B-70DE-7AF1-E949096C62DF}"/>
              </a:ext>
            </a:extLst>
          </p:cNvPr>
          <p:cNvGrpSpPr/>
          <p:nvPr/>
        </p:nvGrpSpPr>
        <p:grpSpPr>
          <a:xfrm>
            <a:off x="6256883" y="1641872"/>
            <a:ext cx="2404616" cy="2479477"/>
            <a:chOff x="6256883" y="1641872"/>
            <a:chExt cx="2404616" cy="2479477"/>
          </a:xfrm>
        </p:grpSpPr>
        <p:sp>
          <p:nvSpPr>
            <p:cNvPr id="21" name="Text 19"/>
            <p:cNvSpPr/>
            <p:nvPr/>
          </p:nvSpPr>
          <p:spPr>
            <a:xfrm>
              <a:off x="6256883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466433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58A6FF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597253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chemeClr val="bg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150" dirty="0">
                <a:solidFill>
                  <a:schemeClr val="bg1"/>
                </a:solidFill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466433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+ land</a:t>
              </a:r>
              <a:endParaRPr lang="en-US" sz="17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466433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After approval, sync runs the full loop. Use rebase, test + push for checkpoints.</a:t>
              </a:r>
              <a:endParaRPr lang="en-US" sz="11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466433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590258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sync</a:t>
              </a:r>
              <a:endParaRPr lang="en-US" sz="1050" dirty="0">
                <a:solidFill>
                  <a:schemeClr val="bg1"/>
                </a:solidFill>
              </a:endParaRPr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chemeClr val="bg1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merge</a:t>
              </a:r>
              <a:endParaRPr lang="en-US" sz="105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75F615-0BA6-9698-0E7D-0013C0B4CCC8}"/>
              </a:ext>
            </a:extLst>
          </p:cNvPr>
          <p:cNvGrpSpPr/>
          <p:nvPr/>
        </p:nvGrpSpPr>
        <p:grpSpPr>
          <a:xfrm>
            <a:off x="482501" y="4299049"/>
            <a:ext cx="8178998" cy="463451"/>
            <a:chOff x="482501" y="4299049"/>
            <a:chExt cx="8178998" cy="463451"/>
          </a:xfrm>
        </p:grpSpPr>
        <p:sp>
          <p:nvSpPr>
            <p:cNvPr id="28" name="Text 26"/>
            <p:cNvSpPr/>
            <p:nvPr/>
          </p:nvSpPr>
          <p:spPr>
            <a:xfrm>
              <a:off x="482501" y="4299049"/>
              <a:ext cx="8178998" cy="463451"/>
            </a:xfrm>
            <a:prstGeom prst="rect">
              <a:avLst/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11076" y="4299049"/>
              <a:ext cx="0" cy="463451"/>
            </a:xfrm>
            <a:prstGeom prst="line">
              <a:avLst/>
            </a:prstGeom>
            <a:noFill/>
            <a:ln w="5715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7352" y="4426000"/>
              <a:ext cx="7921776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result:</a:t>
              </a:r>
              <a:r>
                <a:rPr lang="en-US" sz="1400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Smaller reviews without serial development.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33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4632" y="347472"/>
            <a:ext cx="658368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8A6FF"/>
                </a:solidFill>
                <a:latin typeface="Arial"/>
              </a:rPr>
              <a:t>AGENTIC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4632" y="525780"/>
            <a:ext cx="80010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dirty="0">
                <a:solidFill>
                  <a:srgbClr val="F0F6FC"/>
                </a:solidFill>
                <a:latin typeface="Arial"/>
              </a:rPr>
              <a:t>From prompt to published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" y="1033653"/>
            <a:ext cx="8092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8B949E"/>
                </a:solidFill>
                <a:latin typeface="Arial"/>
              </a:rPr>
              <a:t>Follow four </a:t>
            </a:r>
            <a:r>
              <a:rPr lang="en-US" sz="1600" b="0" dirty="0">
                <a:solidFill>
                  <a:srgbClr val="8B949E"/>
                </a:solidFill>
                <a:latin typeface="Arial"/>
              </a:rPr>
              <a:t>steps and</a:t>
            </a:r>
            <a:r>
              <a:rPr sz="1600" b="0" dirty="0">
                <a:solidFill>
                  <a:srgbClr val="8B949E"/>
                </a:solidFill>
                <a:latin typeface="Arial"/>
              </a:rPr>
              <a:t> stop for human approval before coding or publishing.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8000"/>
            </a:avLst>
          </a:prstGeom>
          <a:solidFill>
            <a:srgbClr val="1F6F37"/>
          </a:solidFill>
          <a:ln w="1270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050" b="1" dirty="0" err="1">
                <a:solidFill>
                  <a:srgbClr val="FFFFFF"/>
                </a:solidFill>
                <a:latin typeface="Arial"/>
              </a:rPr>
              <a:t>gh.io</a:t>
            </a:r>
            <a:r>
              <a:rPr sz="1050" b="1" dirty="0">
                <a:solidFill>
                  <a:srgbClr val="FFFFFF"/>
                </a:solidFill>
                <a:latin typeface="Arial"/>
              </a:rPr>
              <a:t>/stacks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586CE5-A58D-19E4-0325-F653D6B61F68}"/>
              </a:ext>
            </a:extLst>
          </p:cNvPr>
          <p:cNvGrpSpPr/>
          <p:nvPr/>
        </p:nvGrpSpPr>
        <p:grpSpPr>
          <a:xfrm>
            <a:off x="484632" y="1716786"/>
            <a:ext cx="1975104" cy="2841498"/>
            <a:chOff x="484632" y="1716786"/>
            <a:chExt cx="1975104" cy="2841498"/>
          </a:xfrm>
        </p:grpSpPr>
        <p:sp>
          <p:nvSpPr>
            <p:cNvPr id="7" name="Rounded Rectangle 6"/>
            <p:cNvSpPr/>
            <p:nvPr/>
          </p:nvSpPr>
          <p:spPr>
            <a:xfrm>
              <a:off x="484632" y="1716786"/>
              <a:ext cx="1975104" cy="2841498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Oval 7"/>
            <p:cNvSpPr/>
            <p:nvPr/>
          </p:nvSpPr>
          <p:spPr>
            <a:xfrm>
              <a:off x="630936" y="1760601"/>
              <a:ext cx="329184" cy="329184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 dirty="0">
                  <a:solidFill>
                    <a:schemeClr val="bg1"/>
                  </a:solidFill>
                  <a:latin typeface="Arial"/>
                </a:rPr>
                <a:t>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33271" y="1844802"/>
              <a:ext cx="1298448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F0F6FC"/>
                  </a:solidFill>
                  <a:latin typeface="Arial"/>
                </a:rPr>
                <a:t>Start with context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0080" y="2375154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Launch from the repository root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0080" y="2640330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Confirm AGENTS.md is loaded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40080" y="2905506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Confirm the gh-stack skill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40080" y="3225546"/>
              <a:ext cx="1682496" cy="566928"/>
            </a:xfrm>
            <a:prstGeom prst="roundRect">
              <a:avLst>
                <a:gd name="adj" fmla="val 8000"/>
              </a:avLst>
            </a:prstGeom>
            <a:solidFill>
              <a:srgbClr val="010409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0584" tIns="73152" rIns="100584" rtlCol="0" anchor="t">
              <a:noAutofit/>
            </a:bodyPr>
            <a:lstStyle/>
            <a:p>
              <a:pPr algn="l">
                <a:lnSpc>
                  <a:spcPct val="9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chemeClr val="bg1"/>
                  </a:solidFill>
                  <a:latin typeface="Courier New"/>
                </a:rPr>
                <a:t>copilot skill list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40080" y="4011930"/>
              <a:ext cx="1682496" cy="274320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800" b="1" dirty="0">
                  <a:solidFill>
                    <a:srgbClr val="79C0FF"/>
                  </a:solidFill>
                  <a:latin typeface="Arial"/>
                </a:rPr>
                <a:t>Ask: </a:t>
              </a:r>
              <a:r>
                <a:rPr sz="800" b="1" dirty="0">
                  <a:solidFill>
                    <a:srgbClr val="F0F6FC"/>
                  </a:solidFill>
                  <a:latin typeface="Arial"/>
                </a:rPr>
                <a:t>"Summarize </a:t>
              </a:r>
              <a:r>
                <a:rPr sz="800" b="1" dirty="0" err="1">
                  <a:solidFill>
                    <a:srgbClr val="F0F6FC"/>
                  </a:solidFill>
                  <a:latin typeface="Arial"/>
                </a:rPr>
                <a:t>AGENTS.md</a:t>
              </a:r>
              <a:r>
                <a:rPr sz="800" b="1" dirty="0">
                  <a:solidFill>
                    <a:srgbClr val="F0F6FC"/>
                  </a:solidFill>
                  <a:latin typeface="Arial"/>
                </a:rPr>
                <a:t>."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A61C669-1EB7-1596-2D22-4DC3B6538706}"/>
              </a:ext>
            </a:extLst>
          </p:cNvPr>
          <p:cNvGrpSpPr/>
          <p:nvPr/>
        </p:nvGrpSpPr>
        <p:grpSpPr>
          <a:xfrm>
            <a:off x="2551176" y="1716786"/>
            <a:ext cx="1975104" cy="2841498"/>
            <a:chOff x="2551176" y="1716786"/>
            <a:chExt cx="1975104" cy="2841498"/>
          </a:xfrm>
        </p:grpSpPr>
        <p:sp>
          <p:nvSpPr>
            <p:cNvPr id="10" name="Rounded Rectangle 9"/>
            <p:cNvSpPr/>
            <p:nvPr/>
          </p:nvSpPr>
          <p:spPr>
            <a:xfrm>
              <a:off x="2551176" y="1716786"/>
              <a:ext cx="1975104" cy="2841498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2697480" y="1756029"/>
              <a:ext cx="329184" cy="329184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 dirty="0">
                  <a:solidFill>
                    <a:srgbClr val="F0F6FC"/>
                  </a:solidFill>
                  <a:latin typeface="Arial"/>
                </a:rPr>
                <a:t>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099816" y="1844802"/>
              <a:ext cx="1298448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F0F6FC"/>
                  </a:solidFill>
                  <a:latin typeface="Arial"/>
                </a:rPr>
                <a:t>Plan only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706624" y="2375154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 dirty="0">
                  <a:solidFill>
                    <a:srgbClr val="8B949E"/>
                  </a:solidFill>
                  <a:latin typeface="Arial"/>
                </a:rPr>
                <a:t>•  Ask for trunk + branch order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706624" y="2640330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Define responsibility + tests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706624" y="2905506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Do not modify files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688336" y="4011930"/>
              <a:ext cx="1682496" cy="384048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73152" rtlCol="0" anchor="t">
              <a:noAutofit/>
            </a:bodyPr>
            <a:lstStyle/>
            <a:p>
              <a:pPr algn="ctr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dirty="0">
                  <a:solidFill>
                    <a:srgbClr val="F0F6FC"/>
                  </a:solidFill>
                  <a:latin typeface="Arial"/>
                </a:rPr>
                <a:t>"Plan the stack. Wait for approval before coding."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D2B9A6B-C0EA-FA7B-0067-84C2FD57A738}"/>
              </a:ext>
            </a:extLst>
          </p:cNvPr>
          <p:cNvGrpSpPr/>
          <p:nvPr/>
        </p:nvGrpSpPr>
        <p:grpSpPr>
          <a:xfrm>
            <a:off x="4617720" y="1716786"/>
            <a:ext cx="1975104" cy="2841498"/>
            <a:chOff x="4617720" y="1716786"/>
            <a:chExt cx="1975104" cy="2841498"/>
          </a:xfrm>
        </p:grpSpPr>
        <p:sp>
          <p:nvSpPr>
            <p:cNvPr id="13" name="Rounded Rectangle 12"/>
            <p:cNvSpPr/>
            <p:nvPr/>
          </p:nvSpPr>
          <p:spPr>
            <a:xfrm>
              <a:off x="4617720" y="1716786"/>
              <a:ext cx="1975104" cy="2841498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Oval 13"/>
            <p:cNvSpPr/>
            <p:nvPr/>
          </p:nvSpPr>
          <p:spPr>
            <a:xfrm>
              <a:off x="4764024" y="1760601"/>
              <a:ext cx="329184" cy="329184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3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166359" y="1844802"/>
              <a:ext cx="1298448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F0F6FC"/>
                  </a:solidFill>
                  <a:latin typeface="Arial"/>
                </a:rPr>
                <a:t>Build each layer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773168" y="2375154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Create the approved branch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73168" y="2640330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Implement behavior + tests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773168" y="2905506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Run tests + inspect parent diff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73168" y="3170682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Commit locally, then stop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4764024" y="4016502"/>
              <a:ext cx="1682496" cy="356616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 dirty="0">
                  <a:solidFill>
                    <a:schemeClr val="bg1"/>
                  </a:solidFill>
                  <a:latin typeface="Arial"/>
                </a:rPr>
                <a:t>Repeat bottom-to-top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25FA173-CCDF-9044-67E0-2AFF220A080C}"/>
              </a:ext>
            </a:extLst>
          </p:cNvPr>
          <p:cNvGrpSpPr/>
          <p:nvPr/>
        </p:nvGrpSpPr>
        <p:grpSpPr>
          <a:xfrm>
            <a:off x="6684264" y="1716786"/>
            <a:ext cx="1975104" cy="2841498"/>
            <a:chOff x="6684264" y="1716786"/>
            <a:chExt cx="1975104" cy="2841498"/>
          </a:xfrm>
        </p:grpSpPr>
        <p:sp>
          <p:nvSpPr>
            <p:cNvPr id="16" name="Rounded Rectangle 15"/>
            <p:cNvSpPr/>
            <p:nvPr/>
          </p:nvSpPr>
          <p:spPr>
            <a:xfrm>
              <a:off x="6684264" y="1716786"/>
              <a:ext cx="1975104" cy="2841498"/>
            </a:xfrm>
            <a:prstGeom prst="roundRect">
              <a:avLst>
                <a:gd name="adj" fmla="val 8000"/>
              </a:avLst>
            </a:prstGeom>
            <a:solidFill>
              <a:srgbClr val="161B22"/>
            </a:solidFill>
            <a:ln w="12700">
              <a:solidFill>
                <a:srgbClr val="30363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6830568" y="1760601"/>
              <a:ext cx="329184" cy="329184"/>
            </a:xfrm>
            <a:prstGeom prst="ellipse">
              <a:avLst/>
            </a:prstGeom>
            <a:solidFill>
              <a:srgbClr val="58A6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>
                  <a:solidFill>
                    <a:srgbClr val="F0F6F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232903" y="1844802"/>
              <a:ext cx="1298448" cy="38404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80" b="1">
                  <a:solidFill>
                    <a:srgbClr val="F0F6FC"/>
                  </a:solidFill>
                  <a:latin typeface="Arial"/>
                </a:rPr>
                <a:t>Verify + publish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839712" y="2375154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Return stack state + ancestry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839712" y="2640330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Return per-layer diffs + tests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839712" y="2905506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Get approval for remote actions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839712" y="3170682"/>
              <a:ext cx="1664208" cy="192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9" b="0">
                  <a:solidFill>
                    <a:srgbClr val="8B949E"/>
                  </a:solidFill>
                  <a:latin typeface="Arial"/>
                </a:rPr>
                <a:t>•  Submit, then inspect live PRs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6830568" y="4016502"/>
              <a:ext cx="1682496" cy="356616"/>
            </a:xfrm>
            <a:prstGeom prst="roundRect">
              <a:avLst>
                <a:gd name="adj" fmla="val 8000"/>
              </a:avLst>
            </a:prstGeom>
            <a:solidFill>
              <a:srgbClr val="0F2D1A"/>
            </a:solidFill>
            <a:ln w="12700">
              <a:solidFill>
                <a:srgbClr val="1F6F3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sz="900" b="1" dirty="0">
                  <a:solidFill>
                    <a:schemeClr val="bg1"/>
                  </a:solidFill>
                  <a:latin typeface="Arial"/>
                </a:rPr>
                <a:t>Verify the live GitHub state</a:t>
              </a:r>
            </a:p>
          </p:txBody>
        </p:sp>
      </p:grpSp>
      <p:pic>
        <p:nvPicPr>
          <p:cNvPr id="38" name="Image 0" descr="GitHub logo">
            <a:hlinkClick r:id="rId3"/>
            <a:extLst>
              <a:ext uri="{FF2B5EF4-FFF2-40B4-BE49-F238E27FC236}">
                <a16:creationId xmlns:a16="http://schemas.microsoft.com/office/drawing/2014/main" id="{89C230BB-A409-0505-3DE6-CCFB689F4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STACK, START TO FINISH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three stacked pull requests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82501" y="1033611"/>
            <a:ext cx="8342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spcAft>
                <a:spcPts val="1500"/>
              </a:spcAft>
              <a:buNone/>
            </a:pPr>
            <a:r>
              <a:rPr lang="en-US" sz="14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CLI sequence. Add and test each layer before committing.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551" y="1433661"/>
            <a:ext cx="8996898" cy="3074938"/>
          </a:xfrm>
          <a:prstGeom prst="roundRect">
            <a:avLst>
              <a:gd name="adj" fmla="val 4130"/>
            </a:avLst>
          </a:prstGeom>
          <a:solidFill>
            <a:srgbClr val="010409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506" y="1452711"/>
            <a:ext cx="8954988" cy="355550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1551" y="1803499"/>
            <a:ext cx="8140898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72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FF7B7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234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673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9268" y="1947863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once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219268" y="213151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extension install github/gh-stack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219268" y="231517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1: model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219268" y="249882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init --base main tasks/model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219268" y="268247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model + test; run npm test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219268" y="286613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9268" y="304978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model"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219268" y="323344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2: validation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19268" y="341709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tasks/validation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219268" y="360074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validation + test; run npm test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219268" y="378440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219268" y="3968055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validation"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66196" y="1947863"/>
            <a:ext cx="11757" cy="240208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681717" y="1947863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3: API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4681717" y="213151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tasks/api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4681717" y="231517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API + tests; run npm test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4681717" y="249882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package.json src test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4681717" y="268247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API"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4681717" y="286613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Inspect, then create all three PRs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4681717" y="304978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view --json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4681717" y="323344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submit --auto --open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4681717" y="341709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submit pushes, opens PRs, and links the stack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4681717" y="360074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Routine: reconcile, rebase stale, push + sync PRs</a:t>
            </a:r>
            <a:endParaRPr lang="en-US" sz="1000" dirty="0">
              <a:solidFill>
                <a:schemeClr val="accent6"/>
              </a:solidFill>
            </a:endParaRPr>
          </a:p>
        </p:txBody>
      </p:sp>
      <p:sp>
        <p:nvSpPr>
          <p:cNvPr id="35" name="Text 33"/>
          <p:cNvSpPr/>
          <p:nvPr/>
        </p:nvSpPr>
        <p:spPr>
          <a:xfrm>
            <a:off x="4681717" y="378440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sync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4681717" y="3968055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merge --yes --squash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7" name="Text 35"/>
          <p:cNvSpPr/>
          <p:nvPr/>
        </p:nvSpPr>
        <p:spPr>
          <a:xfrm>
            <a:off x="219268" y="4743942"/>
            <a:ext cx="4752782" cy="173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idea:</a:t>
            </a:r>
            <a:r>
              <a:rPr lang="en-US" sz="10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5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and commit each focused change before adding the next layer.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41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43" name="TextBox 42">
            <a:hlinkClick r:id="rId4"/>
            <a:extLst>
              <a:ext uri="{FF2B5EF4-FFF2-40B4-BE49-F238E27FC236}">
                <a16:creationId xmlns:a16="http://schemas.microsoft.com/office/drawing/2014/main" id="{849F82F5-1A90-4E9E-7917-95A0558D5451}"/>
              </a:ext>
            </a:extLst>
          </p:cNvPr>
          <p:cNvSpPr txBox="1"/>
          <p:nvPr/>
        </p:nvSpPr>
        <p:spPr>
          <a:xfrm>
            <a:off x="4477494" y="4699099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solidFill>
                  <a:schemeClr val="bg1"/>
                </a:solidFill>
              </a:rPr>
              <a:t>https://</a:t>
            </a:r>
            <a:r>
              <a:rPr lang="en-US" sz="1100" dirty="0" err="1">
                <a:solidFill>
                  <a:schemeClr val="bg1"/>
                </a:solidFill>
              </a:rPr>
              <a:t>github.com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DanWahlin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learn-github</a:t>
            </a:r>
            <a:r>
              <a:rPr lang="en-US" sz="1100" dirty="0">
                <a:solidFill>
                  <a:schemeClr val="bg1"/>
                </a:solidFill>
              </a:rPr>
              <a:t>-stacked-prs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802</Words>
  <Application>Microsoft Macintosh PowerPoint</Application>
  <PresentationFormat>On-screen Show (16:9)</PresentationFormat>
  <Paragraphs>146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36</cp:revision>
  <dcterms:created xsi:type="dcterms:W3CDTF">2026-07-30T16:46:04Z</dcterms:created>
  <dcterms:modified xsi:type="dcterms:W3CDTF">2026-08-03T23:45:16Z</dcterms:modified>
</cp:coreProperties>
</file>