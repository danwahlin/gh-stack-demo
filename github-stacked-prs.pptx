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9" r:id="rId2"/>
    <p:sldId id="256" r:id="rId3"/>
    <p:sldId id="257" r:id="rId4"/>
    <p:sldId id="262" r:id="rId5"/>
    <p:sldId id="258" r:id="rId6"/>
    <p:sldId id="261" r:id="rId7"/>
    <p:sldId id="260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A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0844"/>
  </p:normalViewPr>
  <p:slideViewPr>
    <p:cSldViewPr snapToGrid="0" snapToObjects="1">
      <p:cViewPr varScale="1">
        <p:scale>
          <a:sx n="134" d="100"/>
          <a:sy n="134" d="100"/>
        </p:scale>
        <p:origin x="1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430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425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DanWahlin/learn-github-stacked-prs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/DanWahlin/learn-github-stacked-pr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2501" y="1850827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121819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9" name="Image 0" descr="GitHub logo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10" name="Repository Link">
            <a:hlinkClick r:id="rId5"/>
          </p:cNvPr>
          <p:cNvSpPr txBox="1"/>
          <p:nvPr/>
        </p:nvSpPr>
        <p:spPr>
          <a:xfrm>
            <a:off x="484787" y="3911799"/>
            <a:ext cx="7379208" cy="25603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github.com/DanWahlin/learn-github-stacked-prs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API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34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API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API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Validation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48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4632" y="347472"/>
            <a:ext cx="658368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8A6FF"/>
                </a:solidFill>
                <a:latin typeface="Arial"/>
              </a:rPr>
              <a:t>BEFORE THE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4632" y="585216"/>
            <a:ext cx="80010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0F6FC"/>
                </a:solidFill>
                <a:latin typeface="Arial"/>
              </a:rPr>
              <a:t>Install and verify the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005840"/>
            <a:ext cx="8092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49E"/>
                </a:solidFill>
                <a:latin typeface="Arial"/>
              </a:rPr>
              <a:t>GitHub shows the stack; the gh stack extension manages it from the terminal.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8000"/>
            </a:avLst>
          </a:prstGeom>
          <a:solidFill>
            <a:srgbClr val="1F6F37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050" b="1" dirty="0" err="1">
                <a:solidFill>
                  <a:srgbClr val="FFFFFF"/>
                </a:solidFill>
                <a:latin typeface="Arial"/>
              </a:rPr>
              <a:t>gh.io</a:t>
            </a:r>
            <a:r>
              <a:rPr sz="1050" b="1" dirty="0">
                <a:solidFill>
                  <a:srgbClr val="FFFFFF"/>
                </a:solidFill>
                <a:latin typeface="Arial"/>
              </a:rPr>
              <a:t>/stacks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0D7D89-330F-2CAC-1836-FA2EE16A50B2}"/>
              </a:ext>
            </a:extLst>
          </p:cNvPr>
          <p:cNvGrpSpPr/>
          <p:nvPr/>
        </p:nvGrpSpPr>
        <p:grpSpPr>
          <a:xfrm>
            <a:off x="484632" y="1444752"/>
            <a:ext cx="2532888" cy="2176272"/>
            <a:chOff x="484632" y="1444752"/>
            <a:chExt cx="2532888" cy="2176272"/>
          </a:xfrm>
        </p:grpSpPr>
        <p:sp>
          <p:nvSpPr>
            <p:cNvPr id="7" name="Rounded Rectangle 6"/>
            <p:cNvSpPr/>
            <p:nvPr/>
          </p:nvSpPr>
          <p:spPr>
            <a:xfrm>
              <a:off x="484632" y="1444752"/>
              <a:ext cx="2532888" cy="2176272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Oval 7"/>
            <p:cNvSpPr/>
            <p:nvPr/>
          </p:nvSpPr>
          <p:spPr>
            <a:xfrm>
              <a:off x="649224" y="1508760"/>
              <a:ext cx="310896" cy="310896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60704" y="1572768"/>
              <a:ext cx="1755648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dirty="0">
                  <a:solidFill>
                    <a:srgbClr val="F0F6FC"/>
                  </a:solidFill>
                  <a:latin typeface="Arial"/>
                </a:rPr>
                <a:t>Prerequisites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58368" y="1984248"/>
              <a:ext cx="2176272" cy="1645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3FB950"/>
                  </a:solidFill>
                  <a:latin typeface="Arial"/>
                </a:rPr>
                <a:t>REQUIRED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94944" y="2267712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8B949E"/>
                  </a:solidFill>
                  <a:latin typeface="Arial"/>
                </a:rPr>
                <a:t>•  Git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4944" y="2560320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8B949E"/>
                  </a:solidFill>
                  <a:latin typeface="Arial"/>
                </a:rPr>
                <a:t>•  GitHub CLI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94944" y="2852928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8B949E"/>
                  </a:solidFill>
                  <a:latin typeface="Arial"/>
                </a:rPr>
                <a:t>•  Node.js </a:t>
              </a:r>
              <a:r>
                <a:rPr lang="en-US" sz="960" b="0" dirty="0">
                  <a:solidFill>
                    <a:srgbClr val="8B949E"/>
                  </a:solidFill>
                  <a:latin typeface="Arial"/>
                </a:rPr>
                <a:t>LTS</a:t>
              </a:r>
              <a:endParaRPr sz="960" b="0" dirty="0">
                <a:solidFill>
                  <a:srgbClr val="8B949E"/>
                </a:solidFill>
                <a:latin typeface="Arial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4944" y="3145536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8B949E"/>
                  </a:solidFill>
                  <a:latin typeface="Arial"/>
                </a:rPr>
                <a:t>•  Git identity + GitHub push access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294C115-0509-182E-C630-3A8A9DC1812D}"/>
              </a:ext>
            </a:extLst>
          </p:cNvPr>
          <p:cNvGrpSpPr/>
          <p:nvPr/>
        </p:nvGrpSpPr>
        <p:grpSpPr>
          <a:xfrm>
            <a:off x="3218688" y="1444752"/>
            <a:ext cx="2532888" cy="2176272"/>
            <a:chOff x="3218688" y="1444752"/>
            <a:chExt cx="2532888" cy="2176272"/>
          </a:xfrm>
        </p:grpSpPr>
        <p:sp>
          <p:nvSpPr>
            <p:cNvPr id="10" name="Rounded Rectangle 9"/>
            <p:cNvSpPr/>
            <p:nvPr/>
          </p:nvSpPr>
          <p:spPr>
            <a:xfrm>
              <a:off x="3218688" y="1444752"/>
              <a:ext cx="2532888" cy="2176272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3383280" y="1508760"/>
              <a:ext cx="310896" cy="310896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794760" y="1572768"/>
              <a:ext cx="1755648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F0F6FC"/>
                  </a:solidFill>
                  <a:latin typeface="Arial"/>
                </a:rPr>
                <a:t>Authenticate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392424" y="1984248"/>
              <a:ext cx="2176272" cy="1645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3FB950"/>
                  </a:solidFill>
                  <a:latin typeface="Arial"/>
                </a:rPr>
                <a:t>SIGN IN ONCE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383280" y="2240280"/>
              <a:ext cx="2194560" cy="713232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100584" rIns="128016" bIns="73152" rtlCol="0" anchor="t">
              <a:no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00" b="0" dirty="0">
                  <a:solidFill>
                    <a:schemeClr val="bg1"/>
                  </a:solidFill>
                  <a:latin typeface="Courier New"/>
                </a:rPr>
                <a:t> auth login</a:t>
              </a:r>
              <a:br>
                <a:rPr lang="en-US" sz="1000" b="0" dirty="0">
                  <a:solidFill>
                    <a:schemeClr val="bg1"/>
                  </a:solidFill>
                  <a:latin typeface="Courier New"/>
                </a:rPr>
              </a:br>
              <a:endParaRPr sz="1000" b="0" dirty="0">
                <a:solidFill>
                  <a:schemeClr val="bg1"/>
                </a:solidFill>
                <a:latin typeface="Courier New"/>
              </a:endParaRPr>
            </a:p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00" b="0" dirty="0">
                  <a:solidFill>
                    <a:schemeClr val="bg1"/>
                  </a:solidFill>
                  <a:latin typeface="Courier New"/>
                </a:rPr>
                <a:t> auth status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10712" y="3136392"/>
              <a:ext cx="2121408" cy="3108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0" b="0">
                  <a:solidFill>
                    <a:srgbClr val="8B949E"/>
                  </a:solidFill>
                  <a:latin typeface="Arial"/>
                </a:rPr>
                <a:t>Confirm the active account and the repository host.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4BCD2E1-6C46-0BFE-5A4A-D275E2B10767}"/>
              </a:ext>
            </a:extLst>
          </p:cNvPr>
          <p:cNvGrpSpPr/>
          <p:nvPr/>
        </p:nvGrpSpPr>
        <p:grpSpPr>
          <a:xfrm>
            <a:off x="5952744" y="1444752"/>
            <a:ext cx="2532888" cy="2176272"/>
            <a:chOff x="5952744" y="1444752"/>
            <a:chExt cx="2532888" cy="2176272"/>
          </a:xfrm>
        </p:grpSpPr>
        <p:sp>
          <p:nvSpPr>
            <p:cNvPr id="13" name="Rounded Rectangle 12"/>
            <p:cNvSpPr/>
            <p:nvPr/>
          </p:nvSpPr>
          <p:spPr>
            <a:xfrm>
              <a:off x="5952744" y="1444752"/>
              <a:ext cx="2532888" cy="2176272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Oval 13"/>
            <p:cNvSpPr/>
            <p:nvPr/>
          </p:nvSpPr>
          <p:spPr>
            <a:xfrm>
              <a:off x="6117336" y="1508760"/>
              <a:ext cx="310896" cy="310896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3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28816" y="1572768"/>
              <a:ext cx="1755648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F0F6FC"/>
                  </a:solidFill>
                  <a:latin typeface="Arial"/>
                </a:rPr>
                <a:t>Install + verify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126480" y="1984248"/>
              <a:ext cx="2176272" cy="1645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3FB950"/>
                  </a:solidFill>
                  <a:latin typeface="Arial"/>
                </a:rPr>
                <a:t>INSTALL ONCE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117336" y="2221992"/>
              <a:ext cx="2194560" cy="877824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18872" tIns="146304" rIns="118872" bIns="73152" rtlCol="0" anchor="t">
              <a:no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</a:t>
              </a:r>
              <a:r>
                <a:rPr sz="1000" b="0" dirty="0">
                  <a:solidFill>
                    <a:schemeClr val="bg1"/>
                  </a:solidFill>
                  <a:latin typeface="Courier New"/>
                </a:rPr>
                <a:t>extension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install</a:t>
              </a:r>
              <a:r>
                <a:rPr lang="en-US" sz="900" b="0" dirty="0">
                  <a:solidFill>
                    <a:schemeClr val="bg1"/>
                  </a:solidFill>
                  <a:latin typeface="Courier New"/>
                </a:rPr>
                <a:t> \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</a:t>
              </a:r>
              <a:r>
                <a:rPr lang="en-US" sz="900" b="0" dirty="0">
                  <a:solidFill>
                    <a:schemeClr val="bg1"/>
                  </a:solidFill>
                  <a:latin typeface="Courier New"/>
                </a:rPr>
                <a:t>  </a:t>
              </a:r>
              <a:br>
                <a:rPr lang="en-US" sz="900" b="0" dirty="0">
                  <a:solidFill>
                    <a:schemeClr val="bg1"/>
                  </a:solidFill>
                  <a:latin typeface="Courier New"/>
                </a:rPr>
              </a:br>
              <a:r>
                <a:rPr lang="en-US" sz="900" b="0" dirty="0">
                  <a:solidFill>
                    <a:schemeClr val="bg1"/>
                  </a:solidFill>
                  <a:latin typeface="Courier New"/>
                </a:rPr>
                <a:t>  </a:t>
              </a: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github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/</a:t>
              </a: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-stack</a:t>
              </a:r>
              <a:br>
                <a:rPr lang="en-US" sz="900" b="0" dirty="0">
                  <a:solidFill>
                    <a:schemeClr val="bg1"/>
                  </a:solidFill>
                  <a:latin typeface="Courier New"/>
                </a:rPr>
              </a:br>
              <a:endParaRPr sz="900" b="0" dirty="0">
                <a:solidFill>
                  <a:schemeClr val="bg1"/>
                </a:solidFill>
                <a:latin typeface="Courier New"/>
              </a:endParaRPr>
            </a:p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stack --version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44768" y="3209544"/>
              <a:ext cx="2112264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0" b="0">
                  <a:solidFill>
                    <a:srgbClr val="8B949E"/>
                  </a:solidFill>
                  <a:latin typeface="Arial"/>
                </a:rPr>
                <a:t>Verify the command before starting.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48996CE-F3C4-7737-20B6-AA09F92C849C}"/>
              </a:ext>
            </a:extLst>
          </p:cNvPr>
          <p:cNvGrpSpPr/>
          <p:nvPr/>
        </p:nvGrpSpPr>
        <p:grpSpPr>
          <a:xfrm>
            <a:off x="484632" y="3840480"/>
            <a:ext cx="8001000" cy="950976"/>
            <a:chOff x="484632" y="3840480"/>
            <a:chExt cx="8001000" cy="950976"/>
          </a:xfrm>
        </p:grpSpPr>
        <p:sp>
          <p:nvSpPr>
            <p:cNvPr id="27" name="Rounded Rectangle 26"/>
            <p:cNvSpPr/>
            <p:nvPr/>
          </p:nvSpPr>
          <p:spPr>
            <a:xfrm>
              <a:off x="484632" y="3840480"/>
              <a:ext cx="8001000" cy="950976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67512" y="3995928"/>
              <a:ext cx="1298448" cy="17373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1">
                  <a:solidFill>
                    <a:srgbClr val="79C0FF"/>
                  </a:solidFill>
                  <a:latin typeface="Arial"/>
                </a:rPr>
                <a:t>USING AN AGENT?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67512" y="4261104"/>
              <a:ext cx="1417320" cy="29260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F0F6FC"/>
                  </a:solidFill>
                  <a:latin typeface="Arial"/>
                </a:rPr>
                <a:t>Install the gh-stack skill too.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2176272" y="4041648"/>
              <a:ext cx="3703320" cy="548640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18872" tIns="82296" rIns="118872" bIns="73152" rtlCol="0" anchor="ctr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 skill install </a:t>
              </a: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github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/</a:t>
              </a: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-stack </a:t>
              </a: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-stac</a:t>
              </a:r>
              <a:r>
                <a:rPr lang="en-US" sz="1050" b="0" dirty="0">
                  <a:solidFill>
                    <a:schemeClr val="bg1"/>
                  </a:solidFill>
                  <a:latin typeface="Courier New"/>
                </a:rPr>
                <a:t>k</a:t>
              </a:r>
              <a:endParaRPr sz="1050" b="0" dirty="0">
                <a:solidFill>
                  <a:schemeClr val="bg1"/>
                </a:solidFill>
                <a:latin typeface="Courier New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071616" y="4096512"/>
              <a:ext cx="2194560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0" dirty="0">
                  <a:solidFill>
                    <a:srgbClr val="F0F6FC"/>
                  </a:solidFill>
                  <a:latin typeface="Arial"/>
                </a:rPr>
                <a:t>The skill adds command knowledge. It does not replace the extension.</a:t>
              </a:r>
            </a:p>
          </p:txBody>
        </p:sp>
      </p:grpSp>
      <p:pic>
        <p:nvPicPr>
          <p:cNvPr id="32" name="Image 0" descr="GitHub logo">
            <a:hlinkClick r:id="rId4"/>
            <a:extLst>
              <a:ext uri="{FF2B5EF4-FFF2-40B4-BE49-F238E27FC236}">
                <a16:creationId xmlns:a16="http://schemas.microsoft.com/office/drawing/2014/main" id="{6A6F26D5-53C0-9133-28C6-518363E5A7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HUMAN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58A6FF"/>
            </a:solidFill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chemeClr val="bg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>
                <a:solidFill>
                  <a:schemeClr val="bg1"/>
                </a:solidFill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>
                <a:solidFill>
                  <a:schemeClr val="bg1"/>
                </a:solidFill>
              </a:endParaRPr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58A6FF"/>
            </a:solidFill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chemeClr val="bg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>
                <a:solidFill>
                  <a:schemeClr val="bg1"/>
                </a:solidFill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>
                <a:solidFill>
                  <a:schemeClr val="bg1"/>
                </a:solidFill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58A6F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chemeClr val="bg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>
                <a:solidFill>
                  <a:schemeClr val="bg1"/>
                </a:solidFill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focused diffs, get approval, then update or land the stack.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sync</a:t>
              </a:r>
              <a:endParaRPr lang="en-US" sz="1050" dirty="0">
                <a:solidFill>
                  <a:schemeClr val="bg1"/>
                </a:solidFill>
              </a:endParaRPr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33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4632" y="347472"/>
            <a:ext cx="658368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8A6FF"/>
                </a:solidFill>
                <a:latin typeface="Arial"/>
              </a:rPr>
              <a:t>AGENTIC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4632" y="585216"/>
            <a:ext cx="80010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0F6FC"/>
                </a:solidFill>
                <a:latin typeface="Arial"/>
              </a:rPr>
              <a:t>From prompt to published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005840"/>
            <a:ext cx="8092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dirty="0">
                <a:solidFill>
                  <a:srgbClr val="8B949E"/>
                </a:solidFill>
                <a:latin typeface="Arial"/>
              </a:rPr>
              <a:t>Follow four </a:t>
            </a:r>
            <a:r>
              <a:rPr lang="en-US" sz="1150" b="0" dirty="0">
                <a:solidFill>
                  <a:srgbClr val="8B949E"/>
                </a:solidFill>
                <a:latin typeface="Arial"/>
              </a:rPr>
              <a:t>steps and</a:t>
            </a:r>
            <a:r>
              <a:rPr sz="1150" b="0" dirty="0">
                <a:solidFill>
                  <a:srgbClr val="8B949E"/>
                </a:solidFill>
                <a:latin typeface="Arial"/>
              </a:rPr>
              <a:t> stop for human approval before coding or publishing.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8000"/>
            </a:avLst>
          </a:prstGeom>
          <a:solidFill>
            <a:srgbClr val="1F6F37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050" b="1" dirty="0" err="1">
                <a:solidFill>
                  <a:srgbClr val="FFFFFF"/>
                </a:solidFill>
                <a:latin typeface="Arial"/>
              </a:rPr>
              <a:t>gh.io</a:t>
            </a:r>
            <a:r>
              <a:rPr sz="1050" b="1" dirty="0">
                <a:solidFill>
                  <a:srgbClr val="FFFFFF"/>
                </a:solidFill>
                <a:latin typeface="Arial"/>
              </a:rPr>
              <a:t>/stacks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586CE5-A58D-19E4-0325-F653D6B61F68}"/>
              </a:ext>
            </a:extLst>
          </p:cNvPr>
          <p:cNvGrpSpPr/>
          <p:nvPr/>
        </p:nvGrpSpPr>
        <p:grpSpPr>
          <a:xfrm>
            <a:off x="484632" y="1716786"/>
            <a:ext cx="1975104" cy="2841498"/>
            <a:chOff x="484632" y="1716786"/>
            <a:chExt cx="1975104" cy="2841498"/>
          </a:xfrm>
        </p:grpSpPr>
        <p:sp>
          <p:nvSpPr>
            <p:cNvPr id="7" name="Rounded Rectangle 6"/>
            <p:cNvSpPr/>
            <p:nvPr/>
          </p:nvSpPr>
          <p:spPr>
            <a:xfrm>
              <a:off x="484632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Oval 7"/>
            <p:cNvSpPr/>
            <p:nvPr/>
          </p:nvSpPr>
          <p:spPr>
            <a:xfrm>
              <a:off x="630936" y="1760601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chemeClr val="bg1"/>
                  </a:solidFill>
                  <a:latin typeface="Arial"/>
                </a:rPr>
                <a:t>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33271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Start with context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0080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Launch from the repository root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0080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Confirm AGENTS.md is loaded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40080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Confirm the gh-stack skill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3225546"/>
              <a:ext cx="1682496" cy="566928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0584" tIns="73152" rIns="100584" rtlCol="0" anchor="t">
              <a:noAutofit/>
            </a:bodyPr>
            <a:lstStyle/>
            <a:p>
              <a:pPr algn="l">
                <a:lnSpc>
                  <a:spcPct val="9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chemeClr val="bg1"/>
                  </a:solidFill>
                  <a:latin typeface="Courier New"/>
                </a:rPr>
                <a:t>copilot skill list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40080" y="4011930"/>
              <a:ext cx="1682496" cy="274320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800" b="1" dirty="0">
                  <a:solidFill>
                    <a:srgbClr val="79C0FF"/>
                  </a:solidFill>
                  <a:latin typeface="Arial"/>
                </a:rPr>
                <a:t>Ask: </a:t>
              </a:r>
              <a:r>
                <a:rPr sz="800" b="1" dirty="0">
                  <a:solidFill>
                    <a:srgbClr val="F0F6FC"/>
                  </a:solidFill>
                  <a:latin typeface="Arial"/>
                </a:rPr>
                <a:t>"Summarize </a:t>
              </a:r>
              <a:r>
                <a:rPr sz="800" b="1" dirty="0" err="1">
                  <a:solidFill>
                    <a:srgbClr val="F0F6FC"/>
                  </a:solidFill>
                  <a:latin typeface="Arial"/>
                </a:rPr>
                <a:t>AGENTS.md</a:t>
              </a:r>
              <a:r>
                <a:rPr sz="800" b="1" dirty="0">
                  <a:solidFill>
                    <a:srgbClr val="F0F6FC"/>
                  </a:solidFill>
                  <a:latin typeface="Arial"/>
                </a:rPr>
                <a:t>."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A61C669-1EB7-1596-2D22-4DC3B6538706}"/>
              </a:ext>
            </a:extLst>
          </p:cNvPr>
          <p:cNvGrpSpPr/>
          <p:nvPr/>
        </p:nvGrpSpPr>
        <p:grpSpPr>
          <a:xfrm>
            <a:off x="2551176" y="1716786"/>
            <a:ext cx="1975104" cy="2841498"/>
            <a:chOff x="2551176" y="1716786"/>
            <a:chExt cx="1975104" cy="2841498"/>
          </a:xfrm>
        </p:grpSpPr>
        <p:sp>
          <p:nvSpPr>
            <p:cNvPr id="10" name="Rounded Rectangle 9"/>
            <p:cNvSpPr/>
            <p:nvPr/>
          </p:nvSpPr>
          <p:spPr>
            <a:xfrm>
              <a:off x="2551176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2697480" y="1756029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rgbClr val="F0F6FC"/>
                  </a:solidFill>
                  <a:latin typeface="Arial"/>
                </a:rPr>
                <a:t>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099816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Plan only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706624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 dirty="0">
                  <a:solidFill>
                    <a:srgbClr val="8B949E"/>
                  </a:solidFill>
                  <a:latin typeface="Arial"/>
                </a:rPr>
                <a:t>•  Ask for trunk + branch order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706624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Define responsibility + tests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706624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Do not modify files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688336" y="4011930"/>
              <a:ext cx="1682496" cy="384048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73152" rtlCol="0" anchor="t">
              <a:noAutofit/>
            </a:bodyPr>
            <a:lstStyle/>
            <a:p>
              <a:pPr algn="ctr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F0F6FC"/>
                  </a:solidFill>
                  <a:latin typeface="Arial"/>
                </a:rPr>
                <a:t>"Plan the stack. Wait for approval before coding."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D2B9A6B-C0EA-FA7B-0067-84C2FD57A738}"/>
              </a:ext>
            </a:extLst>
          </p:cNvPr>
          <p:cNvGrpSpPr/>
          <p:nvPr/>
        </p:nvGrpSpPr>
        <p:grpSpPr>
          <a:xfrm>
            <a:off x="4617720" y="1716786"/>
            <a:ext cx="1975104" cy="2841498"/>
            <a:chOff x="4617720" y="1716786"/>
            <a:chExt cx="1975104" cy="2841498"/>
          </a:xfrm>
        </p:grpSpPr>
        <p:sp>
          <p:nvSpPr>
            <p:cNvPr id="13" name="Rounded Rectangle 12"/>
            <p:cNvSpPr/>
            <p:nvPr/>
          </p:nvSpPr>
          <p:spPr>
            <a:xfrm>
              <a:off x="4617720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Oval 13"/>
            <p:cNvSpPr/>
            <p:nvPr/>
          </p:nvSpPr>
          <p:spPr>
            <a:xfrm>
              <a:off x="4764024" y="1760601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3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166359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Build each layer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773168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Create the approved branch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73168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Implement behavior + tests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773168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Run tests + inspect parent diff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73168" y="3170682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Commit locally, then stop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4764024" y="4016502"/>
              <a:ext cx="1682496" cy="356616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chemeClr val="bg1"/>
                  </a:solidFill>
                  <a:latin typeface="Arial"/>
                </a:rPr>
                <a:t>Repeat bottom-to-top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25FA173-CCDF-9044-67E0-2AFF220A080C}"/>
              </a:ext>
            </a:extLst>
          </p:cNvPr>
          <p:cNvGrpSpPr/>
          <p:nvPr/>
        </p:nvGrpSpPr>
        <p:grpSpPr>
          <a:xfrm>
            <a:off x="6684264" y="1716786"/>
            <a:ext cx="1975104" cy="2841498"/>
            <a:chOff x="6684264" y="1716786"/>
            <a:chExt cx="1975104" cy="2841498"/>
          </a:xfrm>
        </p:grpSpPr>
        <p:sp>
          <p:nvSpPr>
            <p:cNvPr id="16" name="Rounded Rectangle 15"/>
            <p:cNvSpPr/>
            <p:nvPr/>
          </p:nvSpPr>
          <p:spPr>
            <a:xfrm>
              <a:off x="6684264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6830568" y="1760601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232903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Verify + publish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839712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Return stack state + ancestry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839712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Return per-layer diffs + tests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839712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Get approval for remote actions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839712" y="3170682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Submit, then inspect live PRs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6830568" y="4016502"/>
              <a:ext cx="1682496" cy="356616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chemeClr val="bg1"/>
                  </a:solidFill>
                  <a:latin typeface="Arial"/>
                </a:rPr>
                <a:t>Verify the live GitHub state</a:t>
              </a:r>
            </a:p>
          </p:txBody>
        </p:sp>
      </p:grpSp>
      <p:pic>
        <p:nvPicPr>
          <p:cNvPr id="38" name="Image 0" descr="GitHub logo">
            <a:hlinkClick r:id="rId3"/>
            <a:extLst>
              <a:ext uri="{FF2B5EF4-FFF2-40B4-BE49-F238E27FC236}">
                <a16:creationId xmlns:a16="http://schemas.microsoft.com/office/drawing/2014/main" id="{89C230BB-A409-0505-3DE6-CCFB689F4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STACK, START TO FINISH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three stacked pull requests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82501" y="1033611"/>
            <a:ext cx="8342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spcAft>
                <a:spcPts val="1500"/>
              </a:spcAft>
              <a:buNone/>
            </a:pPr>
            <a:r>
              <a:rPr lang="en-US" sz="14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CLI sequence. Add and test each layer before committing.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551" y="1433661"/>
            <a:ext cx="8996898" cy="3074938"/>
          </a:xfrm>
          <a:prstGeom prst="roundRect">
            <a:avLst>
              <a:gd name="adj" fmla="val 4130"/>
            </a:avLst>
          </a:prstGeom>
          <a:solidFill>
            <a:srgbClr val="010409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506" y="1452711"/>
            <a:ext cx="8954988" cy="35555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1551" y="1803499"/>
            <a:ext cx="8140898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72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FF7B7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234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73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9268" y="1947863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once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219268" y="213151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extension install github/gh-stack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19268" y="231517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1: model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219268" y="249882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init --base main tasks/model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19268" y="268247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model + test; run npm test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219268" y="286613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9268" y="304978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model"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219268" y="323344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2: validation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19268" y="341709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tasks/validation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219268" y="360074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validation + test; run npm test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219268" y="378440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219268" y="3968055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validation"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66196" y="1947863"/>
            <a:ext cx="11757" cy="240208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681717" y="1947863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3: API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4681717" y="213151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tasks/api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4681717" y="231517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API + tests; run npm test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4681717" y="249882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package.json src test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4681717" y="268247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API"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4681717" y="286613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Inspect, then create all three PRs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4681717" y="304978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view --json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4681717" y="323344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submit --auto --open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4681717" y="341709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submit pushes, opens PRs, and links the stack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4681717" y="360074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Separate step: after review + approval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4681717" y="378440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sync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4681717" y="3968055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merge --yes --squash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7" name="Text 35"/>
          <p:cNvSpPr/>
          <p:nvPr/>
        </p:nvSpPr>
        <p:spPr>
          <a:xfrm>
            <a:off x="219268" y="4743942"/>
            <a:ext cx="4752782" cy="173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idea:</a:t>
            </a:r>
            <a:r>
              <a:rPr lang="en-US" sz="10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and commit each focused change before adding the next layer.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41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43" name="TextBox 42">
            <a:hlinkClick r:id="rId4"/>
            <a:extLst>
              <a:ext uri="{FF2B5EF4-FFF2-40B4-BE49-F238E27FC236}">
                <a16:creationId xmlns:a16="http://schemas.microsoft.com/office/drawing/2014/main" id="{849F82F5-1A90-4E9E-7917-95A0558D5451}"/>
              </a:ext>
            </a:extLst>
          </p:cNvPr>
          <p:cNvSpPr txBox="1"/>
          <p:nvPr/>
        </p:nvSpPr>
        <p:spPr>
          <a:xfrm>
            <a:off x="4477494" y="4699099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solidFill>
                  <a:schemeClr val="bg1"/>
                </a:solidFill>
              </a:rPr>
              <a:t>https://</a:t>
            </a:r>
            <a:r>
              <a:rPr lang="en-US" sz="1100" dirty="0" err="1">
                <a:solidFill>
                  <a:schemeClr val="bg1"/>
                </a:solidFill>
              </a:rPr>
              <a:t>github.com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DanWahlin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learn-github</a:t>
            </a:r>
            <a:r>
              <a:rPr lang="en-US" sz="1100" dirty="0">
                <a:solidFill>
                  <a:schemeClr val="bg1"/>
                </a:solidFill>
              </a:rPr>
              <a:t>-stacked-prs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802</Words>
  <Application>Microsoft Macintosh PowerPoint</Application>
  <PresentationFormat>On-screen Show (16:9)</PresentationFormat>
  <Paragraphs>146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32</cp:revision>
  <dcterms:created xsi:type="dcterms:W3CDTF">2026-07-30T16:46:04Z</dcterms:created>
  <dcterms:modified xsi:type="dcterms:W3CDTF">2026-08-03T23:25:05Z</dcterms:modified>
</cp:coreProperties>
</file>